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Set the boundary explicitly. This keeps the module developer-relevant and avoids drifting</a:t>
            </a:r>
            <a:r>
              <a:t> into admin territory that belongs in the ops course.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the single most important reliability setting developers get wrong. acks=all is</a:t>
            </a:r>
            <a:r>
              <a:t> half the contract; min.insync.replicas is the other half.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the SSA-stated concern. Lag is the heartbeat of a streaming app — everything else</a:t>
            </a:r>
            <a:r>
              <a:t> is secondary diagnosis once lag tells you something is wrong.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the practical runbook. "Producer lag" (their phrase) usually means producer-side</a:t>
            </a:r>
            <a:r>
              <a:t> latency/backpressure — buffer full, linger, acks — diagnosed on the producer, not the group.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The max.poll.interval rebalance trap is one of the most common real-world Kafka bugs —</a:t>
            </a:r>
            <a:r>
              <a:t> call it out explicitly. It ties their "issues" and "lag" concerns together.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slide directly answers "issues, performance, configurations." It's a mini-runbook —</a:t>
            </a:r>
            <a:r>
              <a:t> consider printing it as a takeaway card.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Intermediate 7 — Reliability, Scaling &amp; Operations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Replication factor,</a:t>
            </a:r>
            <a:r>
              <a:rPr>
                <a:latin typeface="Courier New"/>
              </a:rPr>
              <a:t> min.insync.replicas</a:t>
            </a:r>
            <a:r>
              <a:t> , and HA configuration</a:t>
            </a:r>
          </a:p>
          <a:p>
            <a:r>
              <a:t> Consumer lag as the primary health metric; monitoring basics</a:t>
            </a:r>
          </a:p>
          <a:p>
            <a:r>
              <a:t> Producer/consumer performance tuning</a:t>
            </a:r>
          </a:p>
          <a:p>
            <a:r>
              <a:t> Partition-count strategy and its effect on scaling and ordering</a:t>
            </a:r>
          </a:p>
          <a:p>
            <a:r>
              <a:t> Hands-on / capstone: an end-to-end pipeline — ingest → process → sink — with reliability and</a:t>
            </a:r>
            <a:r>
              <a:t>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What You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won't administer the cluster — but as a developer you own the reliability and performance of</a:t>
            </a:r>
            <a:r>
              <a:rPr b="1"/>
              <a:t> your</a:t>
            </a:r>
            <a:r>
              <a:t> producers, consumers, and topics. This module is the developer's slice of operations.</a:t>
            </a:r>
          </a:p>
          <a:p>
            <a:r>
              <a:t> How to make</a:t>
            </a:r>
            <a:r>
              <a:rPr b="1"/>
              <a:t> your</a:t>
            </a:r>
            <a:r>
              <a:t> data durable and highly available</a:t>
            </a:r>
          </a:p>
          <a:p>
            <a:r>
              <a:t> How to tell whether</a:t>
            </a:r>
            <a:r>
              <a:rPr b="1"/>
              <a:t> your</a:t>
            </a:r>
            <a:r>
              <a:t> pipeline is healthy (and it's almost always</a:t>
            </a:r>
            <a:r>
              <a:rPr b="1"/>
              <a:t> lag</a:t>
            </a:r>
            <a:r>
              <a:t> )</a:t>
            </a:r>
          </a:p>
          <a:p>
            <a:r>
              <a:t> How to</a:t>
            </a:r>
            <a:r>
              <a:rPr b="1"/>
              <a:t> tune</a:t>
            </a:r>
            <a:r>
              <a:t> producers and consumers for throughput and latency</a:t>
            </a:r>
          </a:p>
          <a:p>
            <a:r>
              <a:t> How</a:t>
            </a:r>
            <a:r>
              <a:rPr b="1"/>
              <a:t> partition count</a:t>
            </a:r>
            <a:r>
              <a:t> shapes both scaling and ordering</a:t>
            </a:r>
          </a:p>
          <a:p>
            <a:r>
              <a:rPr i="1"/>
              <a:t> (Deep cluster administration — provisioning, security, upgrades, capacity — is a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Durability, Recapped as a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Three settings together define "acknowledged means safe." You met each earlier; here they are as</a:t>
            </a:r>
            <a:r>
              <a:t> one contract.</a:t>
            </a:r>
          </a:p>
          <a:p>
            <a:r>
              <a:rPr b="1"/>
              <a:t> Replication factor (RF)</a:t>
            </a:r>
            <a:r>
              <a:t> — number of copies of each partition (topic-level; RF 3 in our lab)</a:t>
            </a:r>
          </a:p>
          <a:p>
            <a:r>
              <a:rPr i="1" b="1"/>
              <a:t> acks=all</a:t>
            </a:r>
          </a:p>
          <a:p>
            <a:r>
              <a:t> — the producer waits for all</a:t>
            </a:r>
            <a:r>
              <a:rPr b="1"/>
              <a:t> in-sync</a:t>
            </a:r>
            <a:r>
              <a:t> replicas before considering a write done</a:t>
            </a:r>
          </a:p>
          <a:p>
            <a:r>
              <a:rPr i="1" b="1"/>
              <a:t> min.insync.replicas</a:t>
            </a:r>
          </a:p>
          <a:p>
            <a:r>
              <a:t> — the minimum in-sync replicas that must acknowledge, or the write</a:t>
            </a:r>
            <a:r>
              <a:rPr b="1"/>
              <a:t> fails</a:t>
            </a:r>
          </a:p>
          <a:p/>
          <a:p/>
          <a:p>
            <a:r>
              <a:rPr b="1"/>
              <a:t> This is the durability contract for data you can't lose.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608"/>
            <a:ext cx="112268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urier New"/>
              </a:rPr>
              <a:t> acks=all</a:t>
            </a:r>
            <a:r>
              <a:t> alone isn't enough — "all in-sync replicas" can shrink to just the leader.</a:t>
            </a:r>
          </a:p>
          <a:p/>
          <a:p>
            <a:r>
              <a:t> Without a floor, a shrunken ISR silently weakens your durability to a single copy</a:t>
            </a:r>
          </a:p>
          <a:p>
            <a:r>
              <a:rPr>
                <a:latin typeface="Courier New"/>
              </a:rPr>
              <a:t> min.insync.replicas=2</a:t>
            </a:r>
            <a:r>
              <a:t> makes the producer</a:t>
            </a:r>
            <a:r>
              <a:rPr b="1"/>
              <a:t> fail fast</a:t>
            </a:r>
            <a:r>
              <a:t> instead of writing unsafely</a:t>
            </a:r>
          </a:p>
          <a:p>
            <a:r>
              <a:t> The trade-off: with RF 3 and min-ISR 2, you can lose</a:t>
            </a:r>
            <a:r>
              <a:rPr b="1"/>
              <a:t> one</a:t>
            </a:r>
            <a:r>
              <a:t> broker and keep writing; lose two</a:t>
            </a:r>
            <a:r>
              <a:t> and writes stop (correctly — you'd rather stop than lose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684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Availability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What actually happens when a broker fails, with RF 3:</a:t>
            </a:r>
          </a:p>
          <a:p/>
          <a:p/>
          <a:p>
            <a:r>
              <a:t> An</a:t>
            </a:r>
            <a:r>
              <a:rPr b="1"/>
              <a:t> in-sync follower</a:t>
            </a:r>
            <a:r>
              <a:t> is promoted — no acknowledged data is lost</a:t>
            </a:r>
          </a:p>
          <a:p>
            <a:r>
              <a:t> Clients follow metadata to the new leader; a brief retry, then business as usual</a:t>
            </a:r>
          </a:p>
          <a:p>
            <a:r>
              <a:t> This is why RF ≥ 3 +</a:t>
            </a:r>
            <a:r>
              <a:rPr>
                <a:latin typeface="Courier New"/>
              </a:rPr>
              <a:t> min.insync.replicas=2</a:t>
            </a:r>
            <a:r>
              <a:t> is the standard production baseline</a:t>
            </a:r>
          </a:p>
          <a:p>
            <a:r>
              <a:rPr b="1"/>
              <a:t> Your job as a developer:</a:t>
            </a:r>
            <a:r>
              <a:t> enable retries/idempotence so the client rides through the failover</a:t>
            </a:r>
            <a:r>
              <a:t> transparently (which the idempotent producer already does).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9398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Lag: The One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If you watch a single number for pipeline health, watch</a:t>
            </a:r>
            <a:r>
              <a:rPr b="1"/>
              <a:t> consumer lag</a:t>
            </a:r>
            <a:r>
              <a:t> .</a:t>
            </a:r>
          </a:p>
          <a:p/>
          <a:p>
            <a:r>
              <a:t> Lag ≈ 0 and steady → the consumer keeps up</a:t>
            </a:r>
          </a:p>
          <a:p>
            <a:r>
              <a:t> Lag</a:t>
            </a:r>
            <a:r>
              <a:rPr b="1"/>
              <a:t> rising</a:t>
            </a:r>
            <a:r>
              <a:t> → the consumer can't keep up (or has stalled) → data is getting staler</a:t>
            </a:r>
          </a:p>
          <a:p>
            <a:r>
              <a:t> Lag is</a:t>
            </a:r>
            <a:r>
              <a:rPr b="1"/>
              <a:t> per partition, per group</a:t>
            </a:r>
            <a:r>
              <a:t> — one hot partition can lag while others are fine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359775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7872"/>
            <a:ext cx="11684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detect problems from a few signals, via a few tools.</a:t>
            </a:r>
          </a:p>
          <a:p>
            <a:r>
              <a:rPr b="1"/>
              <a:t> What to watch:</a:t>
            </a:r>
            <a:r>
              <a:t> consumer lag, under-replicated partitions, request latency, ISR shrink,</a:t>
            </a:r>
            <a:r>
              <a:t> broker disk/network</a:t>
            </a:r>
          </a:p>
          <a:p>
            <a:r>
              <a:rPr b="1"/>
              <a:t> Tools:</a:t>
            </a:r>
          </a:p>
          <a:p>
            <a:pPr lvl="1"/>
            <a:r>
              <a:rPr>
                <a:latin typeface="Courier New"/>
              </a:rPr>
              <a:t> kafka-consumer-groups.sh --describe</a:t>
            </a:r>
            <a:r>
              <a:t> — lag on demand from the CLI</a:t>
            </a:r>
          </a:p>
          <a:p>
            <a:pPr lvl="1"/>
            <a:r>
              <a:rPr b="1"/>
              <a:t> Kafka UI</a:t>
            </a:r>
            <a:r>
              <a:t> (</a:t>
            </a:r>
            <a:r>
              <a:rPr>
                <a:latin typeface="Courier New"/>
              </a:rPr>
              <a:t> :8080</a:t>
            </a:r>
            <a:r>
              <a:t> ) — topics, groups, lag at a glance</a:t>
            </a:r>
          </a:p>
          <a:p>
            <a:pPr lvl="1"/>
            <a:r>
              <a:rPr b="1"/>
              <a:t> Prometheus + Grafana</a:t>
            </a:r>
            <a:r>
              <a:t> (</a:t>
            </a:r>
            <a:r>
              <a:rPr>
                <a:latin typeface="Courier New"/>
              </a:rPr>
              <a:t> monitoring</a:t>
            </a:r>
            <a:r>
              <a:t> profile) — dashboards, history, alerts</a:t>
            </a:r>
          </a:p>
          <a:p>
            <a:pPr lvl="1"/>
            <a:r>
              <a:rPr b="1"/>
              <a:t> kafka-exporter</a:t>
            </a:r>
            <a:r>
              <a:t> — exposes lag and cluster metrics to Prometheus</a:t>
            </a:r>
          </a:p>
          <a:p/>
          <a:p>
            <a:r>
              <a:t> For anything ongoing, wire lag into a dashboard with an</a:t>
            </a:r>
            <a:r>
              <a:rPr b="1"/>
              <a:t> alert threshold</a:t>
            </a:r>
            <a:r>
              <a:t> — don't eyeball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608"/>
            <a:ext cx="8915400" cy="544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It the Consumer or the Producer?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Rising lag has two shapes — diagnose which:</a:t>
            </a:r>
          </a:p>
          <a:p>
            <a:r>
              <a:rPr b="1"/>
              <a:t> Producer surged</a:t>
            </a:r>
            <a:r>
              <a:t> — input rate jumped; consumer is fine but behind temporarily → scale</a:t>
            </a:r>
            <a:r>
              <a:t> consumers or let it drain</a:t>
            </a:r>
          </a:p>
          <a:p>
            <a:r>
              <a:rPr b="1"/>
              <a:t> Consumer slowed/stalled</a:t>
            </a:r>
            <a:r>
              <a:t> — processing got slower or a consumer died → fix processing, check</a:t>
            </a:r>
            <a:r>
              <a:t> for rebalance loops</a:t>
            </a:r>
          </a:p>
          <a:p>
            <a:r>
              <a:rPr b="1"/>
              <a:t> First lever for a slow consumer group:</a:t>
            </a:r>
            <a:r>
              <a:t> add consumers,</a:t>
            </a:r>
            <a:r>
              <a:rPr b="1"/>
              <a:t> up to the partition count</a:t>
            </a:r>
            <a:r>
              <a:t> .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8915400" cy="728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 Performance Tuning (Recap + Levers)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From Module 5, as tuning levers for throughput vs. latency vs. durability:</a:t>
            </a:r>
          </a:p>
          <a:p>
            <a:r>
              <a:rPr b="1"/>
              <a:t> Throughput:</a:t>
            </a:r>
            <a:r>
              <a:t> raise</a:t>
            </a:r>
            <a:r>
              <a:rPr>
                <a:latin typeface="Courier New"/>
              </a:rPr>
              <a:t> linger.ms</a:t>
            </a:r>
            <a:r>
              <a:t> and</a:t>
            </a:r>
            <a:r>
              <a:rPr>
                <a:latin typeface="Courier New"/>
              </a:rPr>
              <a:t> batch.size</a:t>
            </a:r>
            <a:r>
              <a:t> ; enable</a:t>
            </a:r>
            <a:r>
              <a:rPr>
                <a:latin typeface="Courier New"/>
              </a:rPr>
              <a:t> compression.type=zstd/lz4</a:t>
            </a:r>
          </a:p>
          <a:p>
            <a:r>
              <a:rPr b="1"/>
              <a:t> Durability:</a:t>
            </a:r>
            <a:r>
              <a:t> </a:t>
            </a:r>
            <a:r>
              <a:rPr>
                <a:latin typeface="Courier New"/>
              </a:rPr>
              <a:t> acks=all</a:t>
            </a:r>
            <a:r>
              <a:t> +</a:t>
            </a:r>
            <a:r>
              <a:rPr>
                <a:latin typeface="Courier New"/>
              </a:rPr>
              <a:t> enable.idempotence=true</a:t>
            </a:r>
            <a:r>
              <a:t> (+</a:t>
            </a:r>
            <a:r>
              <a:rPr>
                <a:latin typeface="Courier New"/>
              </a:rPr>
              <a:t> min.insync.replicas=2</a:t>
            </a:r>
            <a:r>
              <a:t> on the topic)</a:t>
            </a:r>
          </a:p>
          <a:p>
            <a:r>
              <a:rPr b="1"/>
              <a:t> Latency:</a:t>
            </a:r>
            <a:r>
              <a:t> lower</a:t>
            </a:r>
            <a:r>
              <a:rPr>
                <a:latin typeface="Courier New"/>
              </a:rPr>
              <a:t> linger.ms</a:t>
            </a:r>
            <a:r>
              <a:t> ; smaller batches</a:t>
            </a:r>
          </a:p>
          <a:p>
            <a:r>
              <a:rPr b="1"/>
              <a:t> Backpressure:</a:t>
            </a:r>
            <a:r>
              <a:t> </a:t>
            </a:r>
            <a:r>
              <a:rPr>
                <a:latin typeface="Courier New"/>
              </a:rPr>
              <a:t> buffer.memory</a:t>
            </a:r>
            <a:r>
              <a:t> and</a:t>
            </a:r>
            <a:r>
              <a:rPr>
                <a:latin typeface="Courier New"/>
              </a:rPr>
              <a:t> max.block.ms</a:t>
            </a:r>
            <a:r>
              <a:t> govern what happens when the broker can't</a:t>
            </a:r>
            <a:r>
              <a:t> keep up — the producer blocks or throws rather than losing data</a:t>
            </a:r>
          </a:p>
          <a:p>
            <a:r>
              <a:rPr b="1"/>
              <a:t> There's no single "fast" config — you trade among the three. Decide which matters for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Performance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Levers on the read side:</a:t>
            </a:r>
          </a:p>
          <a:p>
            <a:r>
              <a:rPr b="1"/>
              <a:t> Parallelism</a:t>
            </a:r>
            <a:r>
              <a:t> — more consumers up to partition count (the big one)</a:t>
            </a:r>
          </a:p>
          <a:p>
            <a:r>
              <a:rPr i="1" b="1"/>
              <a:t> max.poll.records</a:t>
            </a:r>
          </a:p>
          <a:p>
            <a:r>
              <a:t> — how many records per poll; smaller batches = more frequent commits and</a:t>
            </a:r>
            <a:r>
              <a:t> polls</a:t>
            </a:r>
          </a:p>
          <a:p>
            <a:r>
              <a:rPr i="1" b="1"/>
              <a:t> max.poll.interval.ms</a:t>
            </a:r>
          </a:p>
          <a:p>
            <a:r>
              <a:t> — the deadline to call</a:t>
            </a:r>
            <a:r>
              <a:rPr>
                <a:latin typeface="Courier New"/>
              </a:rPr>
              <a:t> poll()</a:t>
            </a:r>
            <a:r>
              <a:t> again; if processing a batch exceeds</a:t>
            </a:r>
            <a:r>
              <a:t> it, the consumer is considered dead and the group rebalances (a classic lag/rebalance-loop cause)</a:t>
            </a:r>
          </a:p>
          <a:p>
            <a:r>
              <a:rPr i="1" b="1"/>
              <a:t> fetch.min.bytes</a:t>
            </a:r>
          </a:p>
          <a:p>
            <a:r>
              <a:t> — batch fetches for efficiency vs. latency</a:t>
            </a:r>
          </a:p>
          <a:p>
            <a:r>
              <a:rPr b="1"/>
              <a:t> Common failure:</a:t>
            </a:r>
            <a:r>
              <a:t> slow per-record processing blows past</a:t>
            </a:r>
            <a:r>
              <a:rPr>
                <a:latin typeface="Courier New"/>
              </a:rPr>
              <a:t> max.poll.interval.ms</a:t>
            </a:r>
            <a:r>
              <a:t> → rebalance</a:t>
            </a:r>
            <a:r>
              <a:t> storm → lag spikes. Fix by processing smaller batches or moving work off the poll thread.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Partition-Count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Partition count is the one topic decision that's hard to change later — it sets</a:t>
            </a:r>
            <a:r>
              <a:rPr b="1"/>
              <a:t> both</a:t>
            </a:r>
            <a:r>
              <a:t> scaling</a:t>
            </a:r>
            <a:r>
              <a:t> and ordering.</a:t>
            </a:r>
          </a:p>
          <a:p>
            <a:r>
              <a:rPr b="1"/>
              <a:t> More partitions</a:t>
            </a:r>
            <a:r>
              <a:t> → more consumer parallelism, more throughput</a:t>
            </a:r>
          </a:p>
          <a:p>
            <a:r>
              <a:rPr b="1"/>
              <a:t> But:</a:t>
            </a:r>
            <a:r>
              <a:t> ordering is only guaranteed</a:t>
            </a:r>
            <a:r>
              <a:rPr b="1"/>
              <a:t> within</a:t>
            </a:r>
            <a:r>
              <a:t> a partition — more partitions = less global order</a:t>
            </a:r>
          </a:p>
          <a:p>
            <a:r>
              <a:t> You can</a:t>
            </a:r>
            <a:r>
              <a:rPr b="1"/>
              <a:t> add</a:t>
            </a:r>
            <a:r>
              <a:t> partitions, but it</a:t>
            </a:r>
            <a:r>
              <a:rPr b="1"/>
              <a:t> breaks key→partition mapping</a:t>
            </a:r>
            <a:r>
              <a:t> for existing keys (and you</a:t>
            </a:r>
            <a:r>
              <a:t> can't remove them)</a:t>
            </a:r>
          </a:p>
          <a:p/>
          <a:p/>
          <a:p>
            <a:r>
              <a:rPr b="1"/>
              <a:t> Rule of thumb:</a:t>
            </a:r>
            <a:r>
              <a:t> size partitions to your target peak throughput / per-consumer capacity, with</a:t>
            </a:r>
            <a:r>
              <a:t> headroom — and set it deliberately up front.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8915400" cy="755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Issues &amp; How to Debug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developer's quick triage list (their "issues" concern):</a:t>
            </a:r>
          </a:p>
          <a:p>
            <a:r>
              <a:rPr b="1"/>
              <a:t> Rising consumer lag</a:t>
            </a:r>
            <a:r>
              <a:t> → check group</a:t>
            </a:r>
            <a:r>
              <a:rPr>
                <a:latin typeface="Courier New"/>
              </a:rPr>
              <a:t> --describe</a:t>
            </a:r>
            <a:r>
              <a:t> ; add consumers to partition count; look for a</a:t>
            </a:r>
            <a:r>
              <a:t> stalled/rebalancing consumer</a:t>
            </a:r>
          </a:p>
          <a:p>
            <a:r>
              <a:rPr b="1"/>
              <a:t> Rebalance loops</a:t>
            </a:r>
            <a:r>
              <a:t> → processing exceeds</a:t>
            </a:r>
            <a:r>
              <a:rPr>
                <a:latin typeface="Courier New"/>
              </a:rPr>
              <a:t> max.poll.interval.ms</a:t>
            </a:r>
            <a:r>
              <a:t> ; shrink batches / offload work</a:t>
            </a:r>
          </a:p>
          <a:p>
            <a:r>
              <a:rPr b="1"/>
              <a:t> Under-replicated partitions</a:t>
            </a:r>
            <a:r>
              <a:t> → a broker is down or a follower is behind; durability at risk</a:t>
            </a:r>
          </a:p>
          <a:p>
            <a:r>
              <a:rPr b="1"/>
              <a:t> Producer</a:t>
            </a:r>
            <a:r>
              <a:t> → broker can't keep up or</a:t>
            </a:r>
            <a:r>
              <a:rPr>
                <a:latin typeface="Courier New"/>
              </a:rPr>
              <a:t> acks</a:t>
            </a:r>
            <a:r>
              <a:t> /network issue;</a:t>
            </a:r>
            <a:r>
              <a:t> check</a:t>
            </a:r>
            <a:r>
              <a:rPr>
                <a:latin typeface="Courier New"/>
              </a:rPr>
              <a:t> buffer.memory</a:t>
            </a:r>
            <a:r>
              <a:t> ,</a:t>
            </a:r>
            <a:r>
              <a:rPr>
                <a:latin typeface="Courier New"/>
              </a:rPr>
              <a:t> max.block.ms</a:t>
            </a:r>
          </a:p>
          <a:p>
            <a:r>
              <a:rPr b="1"/>
              <a:t> Duplicates downstream</a:t>
            </a:r>
            <a:r>
              <a:t> → at-least-once without idempotent processing (or missing</a:t>
            </a:r>
            <a:r>
              <a:rPr>
                <a:latin typeface="Courier New"/>
              </a:rPr>
              <a:t> read_committed</a:t>
            </a:r>
            <a:r>
              <a:t> )</a:t>
            </a:r>
          </a:p>
          <a:p>
            <a:r>
              <a:rPr b="1"/>
              <a:t> Uneven partition load</a:t>
            </a:r>
            <a:r>
              <a:t> → poor key choice (a hot key); rethink the partition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(Lab 08): Bring It All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end-to-end pipeline using everything from the course:</a:t>
            </a:r>
          </a:p>
          <a:p/>
          <a:p/>
          <a:p/>
          <a:p>
            <a:r>
              <a:rPr b="1"/>
              <a:t> Ingest</a:t>
            </a:r>
            <a:r>
              <a:t> durably,</a:t>
            </a:r>
            <a:r>
              <a:rPr b="1"/>
              <a:t> process</a:t>
            </a:r>
            <a:r>
              <a:t> in real time,</a:t>
            </a:r>
            <a:r>
              <a:rPr b="1"/>
              <a:t> sink</a:t>
            </a:r>
            <a:r>
              <a:t> the results,</a:t>
            </a:r>
            <a:r>
              <a:rPr b="1"/>
              <a:t> monitor</a:t>
            </a:r>
            <a:r>
              <a:t> lag</a:t>
            </a:r>
          </a:p>
          <a:p>
            <a:r>
              <a:t> Prove reliability: kill a broker mid-run and confirm no data loss</a:t>
            </a:r>
          </a:p>
          <a:p>
            <a:r>
              <a:rPr i="1"/>
              <a:t>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13121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Durability is a</a:t>
            </a:r>
            <a:r>
              <a:rPr b="1"/>
              <a:t> contract</a:t>
            </a:r>
            <a:r>
              <a:t> : RF +</a:t>
            </a:r>
            <a:r>
              <a:rPr>
                <a:latin typeface="Courier New"/>
              </a:rPr>
              <a:t> acks=all</a:t>
            </a:r>
            <a:r>
              <a:t> +</a:t>
            </a:r>
            <a:r>
              <a:rPr>
                <a:latin typeface="Courier New"/>
              </a:rPr>
              <a:t> min.insync.replicas</a:t>
            </a:r>
            <a:r>
              <a:t> — the last one is the</a:t>
            </a:r>
            <a:r>
              <a:t> half developers forget</a:t>
            </a:r>
          </a:p>
          <a:p>
            <a:r>
              <a:t> RF ≥ 3 + min-ISR 2 survives one broker loss with no data loss; clients ride failover via</a:t>
            </a:r>
            <a:r>
              <a:t> retries/idempotence</a:t>
            </a:r>
          </a:p>
          <a:p>
            <a:r>
              <a:rPr b="1"/>
              <a:t> Consumer lag</a:t>
            </a:r>
            <a:r>
              <a:t> is the primary health metric; watch it via CLI, Kafka UI, or Prometheus/Grafana</a:t>
            </a:r>
          </a:p>
          <a:p>
            <a:r>
              <a:t> Tune producers and consumers by</a:t>
            </a:r>
            <a:r>
              <a:rPr b="1"/>
              <a:t> trading</a:t>
            </a:r>
            <a:r>
              <a:t> throughput/latency/durability; mind the</a:t>
            </a:r>
            <a:r>
              <a:rPr>
                <a:latin typeface="Courier New"/>
              </a:rPr>
              <a:t> max.poll.interval.ms</a:t>
            </a:r>
            <a:r>
              <a:t> rebalance trap</a:t>
            </a:r>
          </a:p>
          <a:p>
            <a:r>
              <a:rPr b="1"/>
              <a:t> Partition count</a:t>
            </a:r>
            <a:r>
              <a:t> sets scaling</a:t>
            </a:r>
            <a:r>
              <a:rPr i="1"/>
              <a:t> and</a:t>
            </a:r>
            <a:r>
              <a:t> ordering — choose it deliberately up front</a:t>
            </a:r>
          </a:p>
          <a:p>
            <a:r>
              <a:t> The</a:t>
            </a:r>
            <a:r>
              <a:rPr b="1"/>
              <a:t> capstone</a:t>
            </a:r>
            <a:r>
              <a:t> integrates ingest → process → sink with reliability and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