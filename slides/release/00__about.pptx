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Four days end to end, deliverable as one track or as two standalone courses. The intro day makes it accessible to newcomers; the intermediate days give working developers real depth.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a developer course — the emphasis is on writing code against Kafka, not administering a cluster. For the intermediate days we assume Kafka fundamentals (the intro day, or equivalent experience).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Every concept is reinforced with a lab. All slides, labs, and code are yours to keep in a Git repository — re-run the exercises after the course.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Apache Kafka 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Introduction (1 day)</a:t>
            </a:r>
            <a:r>
              <a:t> — fundamentals + first hands-on</a:t>
            </a:r>
          </a:p>
          <a:p>
            <a:r>
              <a:rPr b="1"/>
              <a:t> 1.</a:t>
            </a:r>
            <a:r>
              <a:t> What Is Kafka and Why</a:t>
            </a:r>
          </a:p>
          <a:p>
            <a:r>
              <a:rPr b="1"/>
              <a:t> 2.</a:t>
            </a:r>
            <a:r>
              <a:t> Core Concepts</a:t>
            </a:r>
          </a:p>
          <a:p>
            <a:r>
              <a:rPr b="1"/>
              <a:t> 3.</a:t>
            </a:r>
            <a:r>
              <a:t> Kafka 4 Architecture</a:t>
            </a:r>
          </a:p>
          <a:p>
            <a:r>
              <a:rPr b="1"/>
              <a:t> 4.</a:t>
            </a:r>
            <a:r>
              <a:t> Hands-On Fundamentals</a:t>
            </a:r>
          </a:p>
          <a:p>
            <a:r>
              <a:rPr b="1"/>
              <a:t> Intermediate (3 days)</a:t>
            </a:r>
            <a:r>
              <a:t> — building production streaming applications</a:t>
            </a:r>
          </a:p>
          <a:p>
            <a:r>
              <a:rPr b="1"/>
              <a:t> 5.</a:t>
            </a:r>
            <a:r>
              <a:t> Producer Internals</a:t>
            </a:r>
          </a:p>
          <a:p>
            <a:r>
              <a:rPr b="1"/>
              <a:t> 6.</a:t>
            </a:r>
            <a:r>
              <a:t> Consumer Internals</a:t>
            </a:r>
          </a:p>
          <a:p>
            <a:r>
              <a:rPr b="1"/>
              <a:t> 7.</a:t>
            </a:r>
            <a:r>
              <a:t> Delivery Semantics &amp; Transactions</a:t>
            </a:r>
          </a:p>
          <a:p>
            <a:r>
              <a:rPr b="1"/>
              <a:t> 8.</a:t>
            </a:r>
            <a:r>
              <a:t> Serialization &amp; the Schema Registry</a:t>
            </a:r>
          </a:p>
          <a:p>
            <a:r>
              <a:rPr b="1"/>
              <a:t> 9.</a:t>
            </a:r>
            <a:r>
              <a:t> Kafka Connect</a:t>
            </a:r>
          </a:p>
          <a:p>
            <a:r>
              <a:rPr b="1"/>
              <a:t> 10.</a:t>
            </a:r>
            <a:r>
              <a:t> Stream Processing (Kafka Streams &amp; Flink SQL)</a:t>
            </a:r>
          </a:p>
          <a:p>
            <a:r>
              <a:rPr b="1"/>
              <a:t> 11.</a:t>
            </a:r>
            <a:r>
              <a:t> Reliability, Scaling &amp; Operations for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Pre-requisites and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Practical programming experience</a:t>
            </a:r>
          </a:p>
          <a:p>
            <a:pPr lvl="1"/>
            <a:r>
              <a:t> Java examples throughout — the Kafka Java client, built with Maven</a:t>
            </a:r>
          </a:p>
          <a:p>
            <a:r>
              <a:t> Comfort with the</a:t>
            </a:r>
            <a:r>
              <a:rPr b="1"/>
              <a:t> Linux command line</a:t>
            </a:r>
            <a:r>
              <a:t> and a text editor</a:t>
            </a:r>
          </a:p>
          <a:p>
            <a:r>
              <a:rPr b="1"/>
              <a:t> Docker</a:t>
            </a:r>
            <a:r>
              <a:t> on your machine — that's the whole lab environment (no Kubernetes, no cluster admin)</a:t>
            </a:r>
          </a:p>
          <a:p>
            <a:r>
              <a:t> Basic familiarity with messaging or data-processing concepts is helpful, not required</a:t>
            </a:r>
          </a:p>
          <a:p>
            <a:r>
              <a:t> Curiosity!</a:t>
            </a:r>
          </a:p>
          <a:p>
            <a:pPr lvl="1"/>
            <a:r>
              <a:t> Ask a lot of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Teaching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Emphasis on concepts &amp; fundamentals</a:t>
            </a:r>
          </a:p>
          <a:p>
            <a:r>
              <a:t> Highly interactive (questions and discussions are welcome)</a:t>
            </a:r>
          </a:p>
          <a:p>
            <a:r>
              <a:t> Hands-on (learn by doing)</a:t>
            </a:r>
          </a:p>
          <a:p>
            <a:r>
              <a:t> Real production patterns — not toy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Lots of Labs: Learn By Doing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any-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253331"/>
            <a:ext cx="8173212" cy="6149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Learning To Fly...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learn-to-f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149321"/>
            <a:ext cx="8265956" cy="45299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lassroom-i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60165"/>
            <a:ext cx="7987866" cy="4377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+ Flight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99" y="1710531"/>
            <a:ext cx="8620812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Will Take A Lot Of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329531"/>
            <a:ext cx="8650919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By the end of the track you will be able to:</a:t>
            </a:r>
          </a:p>
          <a:p>
            <a:r>
              <a:t> Explain Kafka's architecture and core abstractions — and how</a:t>
            </a:r>
            <a:r>
              <a:rPr b="1"/>
              <a:t> KRaft</a:t>
            </a:r>
            <a:r>
              <a:t> replaces ZooKeeper</a:t>
            </a:r>
          </a:p>
          <a:p>
            <a:r>
              <a:t> Write</a:t>
            </a:r>
            <a:r>
              <a:rPr b="1"/>
              <a:t> producers and consumers</a:t>
            </a:r>
            <a:r>
              <a:t> , and reason about partitioning, ordering, and parallelism</a:t>
            </a:r>
          </a:p>
          <a:p>
            <a:r>
              <a:t> Choose and configure</a:t>
            </a:r>
            <a:r>
              <a:rPr b="1"/>
              <a:t> delivery guarantees</a:t>
            </a:r>
            <a:r>
              <a:t> — at-least-once, at-most-once, exactly-once</a:t>
            </a:r>
          </a:p>
          <a:p>
            <a:r>
              <a:t> Manage schemas and evolution with the</a:t>
            </a:r>
            <a:r>
              <a:rPr b="1"/>
              <a:t> Schema Registry</a:t>
            </a:r>
            <a:r>
              <a:t> (Avro, Protobuf, JSON Schema)</a:t>
            </a:r>
          </a:p>
          <a:p>
            <a:r>
              <a:t> Build data pipelines with</a:t>
            </a:r>
            <a:r>
              <a:rPr b="1"/>
              <a:t> Kafka Connect</a:t>
            </a:r>
            <a:r>
              <a:t> , and process streams with</a:t>
            </a:r>
            <a:r>
              <a:rPr b="1"/>
              <a:t> Kafka Streams &amp; Flink SQL</a:t>
            </a:r>
          </a:p>
          <a:p>
            <a:r>
              <a:t> Apply reliability basics: replication, ISR, consumer lag, and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You And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About Instructor</a:t>
            </a:r>
          </a:p>
          <a:p>
            <a:r>
              <a:t> About you</a:t>
            </a:r>
          </a:p>
          <a:p>
            <a:pPr lvl="1"/>
            <a:r>
              <a:t> Your Name</a:t>
            </a:r>
          </a:p>
          <a:p>
            <a:pPr lvl="1"/>
            <a:r>
              <a:t> Your background (developer, data engineer, architect, ...)</a:t>
            </a:r>
          </a:p>
          <a:p>
            <a:pPr lvl="1"/>
            <a:r>
              <a:t> Languages and technologies you work with</a:t>
            </a:r>
          </a:p>
          <a:p>
            <a:pPr lvl="1"/>
            <a:r>
              <a:t> Kafka experience (scale of 1 - 4 ;  1 - new,   4 - expert)</a:t>
            </a:r>
          </a:p>
          <a:p>
            <a:pPr lvl="1"/>
            <a:r>
              <a:t> Something non-technical about you! (favorite ice cream flavor / hobby...)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hiking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7" y="5303520"/>
            <a:ext cx="2646239" cy="2331651"/>
          </a:xfrm>
          <a:prstGeom prst="rect">
            <a:avLst/>
          </a:prstGeom>
        </p:spPr>
      </p:pic>
      <p:pic>
        <p:nvPicPr>
          <p:cNvPr id="6" name="Picture 5" descr="ice-cream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898" y="5844901"/>
            <a:ext cx="2296804" cy="1248887"/>
          </a:xfrm>
          <a:prstGeom prst="rect">
            <a:avLst/>
          </a:prstGeom>
        </p:spPr>
      </p:pic>
      <p:pic>
        <p:nvPicPr>
          <p:cNvPr id="7" name="Picture 6" descr="biking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529" y="5266213"/>
            <a:ext cx="2605853" cy="23689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378294</TotalTime>
  <Words>619</Words>
  <Application>Microsoft Macintosh PowerPoint</Application>
  <PresentationFormat>Custom</PresentationFormat>
  <Paragraphs>117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Apache Kafka for Developers</vt:lpstr>
      <vt:lpstr>Agenda</vt:lpstr>
      <vt:lpstr>Pre-requisites and Expectations</vt:lpstr>
      <vt:lpstr>Our Teaching Philosophy</vt:lpstr>
      <vt:lpstr>Lots of Labs: Learn By Doing</vt:lpstr>
      <vt:lpstr>Analogy: Learning To Fly...</vt:lpstr>
      <vt:lpstr>Introductions</vt:lpstr>
      <vt:lpstr>+ Flight Time</vt:lpstr>
      <vt:lpstr>This Will Take A Lot Of Practice</vt:lpstr>
      <vt:lpstr>What You'll Be Able to Do</vt:lpstr>
      <vt:lpstr>About You And Me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4137</cp:revision>
  <cp:lastPrinted>2010-01-03T02:41:41Z</cp:lastPrinted>
  <dcterms:created xsi:type="dcterms:W3CDTF">2010-07-13T15:22:01Z</dcterms:created>
  <dcterms:modified xsi:type="dcterms:W3CDTF">2026-08-03T03:42:54Z</dcterms:modified>
</cp:coreProperties>
</file>