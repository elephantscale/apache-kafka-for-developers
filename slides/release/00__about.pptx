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51" r:id="rId1"/>
  </p:sldMasterIdLst>
  <p:notesMasterIdLst>
    <p:notesMasterId r:id="rId13"/>
  </p:notesMasterIdLst>
  <p:handoutMasterIdLst>
    <p:handoutMasterId r:id="rId14"/>
  </p:handout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9372600" cy="8297863"/>
  <p:notesSz cx="7315200" cy="9601200"/>
  <p:defaultTextStyle>
    <a:defPPr>
      <a:defRPr lang="en-US"/>
    </a:defPPr>
    <a:lvl1pPr algn="l" rtl="0" fontAlgn="base">
      <a:spcBef>
        <a:spcPct val="0"/>
      </a:spcBef>
      <a:spcAft>
        <a:spcPct val="0"/>
      </a:spcAft>
      <a:defRPr sz="1000" kern="1200">
        <a:solidFill>
          <a:schemeClr val="tx1"/>
        </a:solidFill>
        <a:latin typeface="Garamond" pitchFamily="18" charset="0"/>
        <a:ea typeface="ＭＳ Ｐゴシック"/>
        <a:cs typeface="ＭＳ Ｐゴシック"/>
      </a:defRPr>
    </a:lvl1pPr>
    <a:lvl2pPr marL="457200" algn="l" rtl="0" fontAlgn="base">
      <a:spcBef>
        <a:spcPct val="0"/>
      </a:spcBef>
      <a:spcAft>
        <a:spcPct val="0"/>
      </a:spcAft>
      <a:defRPr sz="1000" kern="1200">
        <a:solidFill>
          <a:schemeClr val="tx1"/>
        </a:solidFill>
        <a:latin typeface="Garamond" pitchFamily="18" charset="0"/>
        <a:ea typeface="ＭＳ Ｐゴシック"/>
        <a:cs typeface="ＭＳ Ｐゴシック"/>
      </a:defRPr>
    </a:lvl2pPr>
    <a:lvl3pPr marL="914400" algn="l" rtl="0" fontAlgn="base">
      <a:spcBef>
        <a:spcPct val="0"/>
      </a:spcBef>
      <a:spcAft>
        <a:spcPct val="0"/>
      </a:spcAft>
      <a:defRPr sz="1000" kern="1200">
        <a:solidFill>
          <a:schemeClr val="tx1"/>
        </a:solidFill>
        <a:latin typeface="Garamond" pitchFamily="18" charset="0"/>
        <a:ea typeface="ＭＳ Ｐゴシック"/>
        <a:cs typeface="ＭＳ Ｐゴシック"/>
      </a:defRPr>
    </a:lvl3pPr>
    <a:lvl4pPr marL="1371600" algn="l" rtl="0" fontAlgn="base">
      <a:spcBef>
        <a:spcPct val="0"/>
      </a:spcBef>
      <a:spcAft>
        <a:spcPct val="0"/>
      </a:spcAft>
      <a:defRPr sz="1000" kern="1200">
        <a:solidFill>
          <a:schemeClr val="tx1"/>
        </a:solidFill>
        <a:latin typeface="Garamond" pitchFamily="18" charset="0"/>
        <a:ea typeface="ＭＳ Ｐゴシック"/>
        <a:cs typeface="ＭＳ Ｐゴシック"/>
      </a:defRPr>
    </a:lvl4pPr>
    <a:lvl5pPr marL="1828800" algn="l" rtl="0" fontAlgn="base">
      <a:spcBef>
        <a:spcPct val="0"/>
      </a:spcBef>
      <a:spcAft>
        <a:spcPct val="0"/>
      </a:spcAft>
      <a:defRPr sz="1000" kern="1200">
        <a:solidFill>
          <a:schemeClr val="tx1"/>
        </a:solidFill>
        <a:latin typeface="Garamond" pitchFamily="18" charset="0"/>
        <a:ea typeface="ＭＳ Ｐゴシック"/>
        <a:cs typeface="ＭＳ Ｐゴシック"/>
      </a:defRPr>
    </a:lvl5pPr>
    <a:lvl6pPr marL="2286000" algn="l" defTabSz="914400" rtl="0" eaLnBrk="1" latinLnBrk="0" hangingPunct="1">
      <a:defRPr sz="1000" kern="1200">
        <a:solidFill>
          <a:schemeClr val="tx1"/>
        </a:solidFill>
        <a:latin typeface="Garamond" pitchFamily="18" charset="0"/>
        <a:ea typeface="ＭＳ Ｐゴシック"/>
        <a:cs typeface="ＭＳ Ｐゴシック"/>
      </a:defRPr>
    </a:lvl6pPr>
    <a:lvl7pPr marL="2743200" algn="l" defTabSz="914400" rtl="0" eaLnBrk="1" latinLnBrk="0" hangingPunct="1">
      <a:defRPr sz="1000" kern="1200">
        <a:solidFill>
          <a:schemeClr val="tx1"/>
        </a:solidFill>
        <a:latin typeface="Garamond" pitchFamily="18" charset="0"/>
        <a:ea typeface="ＭＳ Ｐゴシック"/>
        <a:cs typeface="ＭＳ Ｐゴシック"/>
      </a:defRPr>
    </a:lvl7pPr>
    <a:lvl8pPr marL="3200400" algn="l" defTabSz="914400" rtl="0" eaLnBrk="1" latinLnBrk="0" hangingPunct="1">
      <a:defRPr sz="1000" kern="1200">
        <a:solidFill>
          <a:schemeClr val="tx1"/>
        </a:solidFill>
        <a:latin typeface="Garamond" pitchFamily="18" charset="0"/>
        <a:ea typeface="ＭＳ Ｐゴシック"/>
        <a:cs typeface="ＭＳ Ｐゴシック"/>
      </a:defRPr>
    </a:lvl8pPr>
    <a:lvl9pPr marL="3657600" algn="l" defTabSz="914400" rtl="0" eaLnBrk="1" latinLnBrk="0" hangingPunct="1">
      <a:defRPr sz="1000" kern="1200">
        <a:solidFill>
          <a:schemeClr val="tx1"/>
        </a:solidFill>
        <a:latin typeface="Garamond" pitchFamily="18" charset="0"/>
        <a:ea typeface="ＭＳ Ｐゴシック"/>
        <a:cs typeface="ＭＳ Ｐゴシック"/>
      </a:defRPr>
    </a:lvl9pPr>
  </p:defaultTextStyle>
  <p:extLst>
    <p:ext uri="{EFAFB233-063F-42B5-8137-9DF3F51BA10A}">
      <p15:sldGuideLst xmlns:p15="http://schemas.microsoft.com/office/powerpoint/2012/main">
        <p15:guide id="1" orient="horz" pos="2614" userDrawn="1">
          <p15:clr>
            <a:srgbClr val="A4A3A4"/>
          </p15:clr>
        </p15:guide>
        <p15:guide id="2" pos="2952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024">
          <p15:clr>
            <a:srgbClr val="A4A3A4"/>
          </p15:clr>
        </p15:guide>
        <p15:guide id="2" pos="2308">
          <p15:clr>
            <a:srgbClr val="A4A3A4"/>
          </p15:clr>
        </p15:guide>
      </p15:notes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Mary Conlee" initials="MC" lastIdx="1" clrIdx="0"/>
  <p:cmAuthor id="2" name="Mark Kerzner" initials="MK" lastIdx="6" clrIdx="1"/>
  <p:cmAuthor id="3" name="Mary Beth Conlee" initials="MBC" lastIdx="7" clrIdx="2"/>
  <p:cmAuthor id="4" name="Michelle" initials="M" lastIdx="5" clrIdx="3"/>
  <p:cmAuthor id="5" name="Tricia Murphy" initials="TM" lastIdx="4" clrIdx="4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prnPr/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A1A1A"/>
    <a:srgbClr val="D6B8EB"/>
    <a:srgbClr val="A77EC7"/>
    <a:srgbClr val="B59BC7"/>
    <a:srgbClr val="C7AAD9"/>
    <a:srgbClr val="C89EDF"/>
    <a:srgbClr val="BD83DF"/>
    <a:srgbClr val="CB89DF"/>
    <a:srgbClr val="CA87D1"/>
    <a:srgbClr val="CF86D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6959" autoAdjust="0"/>
    <p:restoredTop sz="86027" autoAdjust="0"/>
  </p:normalViewPr>
  <p:slideViewPr>
    <p:cSldViewPr>
      <p:cViewPr varScale="1">
        <p:scale>
          <a:sx n="90" d="100"/>
          <a:sy n="90" d="100"/>
        </p:scale>
        <p:origin x="3312" y="192"/>
      </p:cViewPr>
      <p:guideLst>
        <p:guide orient="horz" pos="2614"/>
        <p:guide pos="2952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85" d="100"/>
        <a:sy n="85" d="100"/>
      </p:scale>
      <p:origin x="0" y="0"/>
    </p:cViewPr>
  </p:sorterViewPr>
  <p:notesViewPr>
    <p:cSldViewPr>
      <p:cViewPr>
        <p:scale>
          <a:sx n="80" d="100"/>
          <a:sy n="80" d="100"/>
        </p:scale>
        <p:origin x="3296" y="-56"/>
      </p:cViewPr>
      <p:guideLst>
        <p:guide orient="horz" pos="3024"/>
        <p:guide pos="2308"/>
      </p:guideLst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commentAuthors" Target="commentAuthors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handoutMaster" Target="handoutMasters/handout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8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9123363"/>
            <a:ext cx="3170238" cy="47783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6603" tIns="48303" rIns="96603" bIns="48303" numCol="1" anchor="b" anchorCtr="0" compatLnSpc="1">
            <a:prstTxWarp prst="textNoShape">
              <a:avLst/>
            </a:prstTxWarp>
          </a:bodyPr>
          <a:lstStyle>
            <a:lvl1pPr defTabSz="965200">
              <a:defRPr sz="1200">
                <a:latin typeface="Times New Roman" pitchFamily="18" charset="0"/>
              </a:defRPr>
            </a:lvl1pPr>
          </a:lstStyle>
          <a:p>
            <a:pPr>
              <a:defRPr/>
            </a:pPr>
            <a:r>
              <a:rPr lang="en-US" dirty="0"/>
              <a:t>Copyright © 2017 Elephant Scale. All rights reserved.</a:t>
            </a:r>
          </a:p>
        </p:txBody>
      </p:sp>
      <p:sp>
        <p:nvSpPr>
          <p:cNvPr id="1029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4144963" y="9123363"/>
            <a:ext cx="3170237" cy="47783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6603" tIns="48303" rIns="96603" bIns="48303" numCol="1" anchor="b" anchorCtr="0" compatLnSpc="1">
            <a:prstTxWarp prst="textNoShape">
              <a:avLst/>
            </a:prstTxWarp>
          </a:bodyPr>
          <a:lstStyle>
            <a:lvl1pPr algn="r" defTabSz="965200">
              <a:defRPr sz="1200">
                <a:latin typeface="Times New Roman" pitchFamily="18" charset="0"/>
              </a:defRPr>
            </a:lvl1pPr>
          </a:lstStyle>
          <a:p>
            <a:pPr>
              <a:defRPr/>
            </a:pPr>
            <a:fld id="{97E62689-8C7D-4291-A094-4E689FEC4C3B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39291525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968375" y="473075"/>
            <a:ext cx="5365750" cy="4751388"/>
          </a:xfrm>
          <a:prstGeom prst="rect">
            <a:avLst/>
          </a:prstGeom>
          <a:noFill/>
          <a:ln w="12700"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438280" name="Rectangle 8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1365250" y="9388475"/>
            <a:ext cx="4578350" cy="1730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0" tIns="0" rIns="0" bIns="0" numCol="1" anchor="b" anchorCtr="1" compatLnSpc="1">
            <a:prstTxWarp prst="textNoShape">
              <a:avLst/>
            </a:prstTxWarp>
          </a:bodyPr>
          <a:lstStyle>
            <a:lvl1pPr algn="ctr" defTabSz="965200" eaLnBrk="0" hangingPunct="0">
              <a:defRPr sz="900">
                <a:latin typeface="Arial" charset="0"/>
              </a:defRPr>
            </a:lvl1pPr>
          </a:lstStyle>
          <a:p>
            <a:pPr>
              <a:defRPr/>
            </a:pPr>
            <a:r>
              <a:rPr lang="en-US" dirty="0"/>
              <a:t>Copyright © 2017 Elephant Scale. All rights reserved.</a:t>
            </a:r>
          </a:p>
        </p:txBody>
      </p:sp>
      <p:sp>
        <p:nvSpPr>
          <p:cNvPr id="438281" name="Rectangle 9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6400800" y="9388475"/>
            <a:ext cx="554038" cy="1730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r" defTabSz="965200" eaLnBrk="0" hangingPunct="0">
              <a:defRPr b="1">
                <a:latin typeface="Arial" charset="0"/>
              </a:defRPr>
            </a:lvl1pPr>
          </a:lstStyle>
          <a:p>
            <a:pPr>
              <a:defRPr/>
            </a:pPr>
            <a:fld id="{EFAADD5D-AF76-45EE-AA5F-6DAC73BF167A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  <p:sp>
        <p:nvSpPr>
          <p:cNvPr id="438306" name="Text Box 34"/>
          <p:cNvSpPr txBox="1">
            <a:spLocks noChangeArrowheads="1"/>
          </p:cNvSpPr>
          <p:nvPr/>
        </p:nvSpPr>
        <p:spPr bwMode="auto">
          <a:xfrm>
            <a:off x="271463" y="5176838"/>
            <a:ext cx="617537" cy="254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lIns="96386" tIns="48194" rIns="96386" bIns="48194"/>
          <a:lstStyle/>
          <a:p>
            <a:pPr defTabSz="960438">
              <a:defRPr/>
            </a:pPr>
            <a:r>
              <a:rPr lang="en-US" sz="1200" b="1" u="sng" dirty="0">
                <a:latin typeface="Times New Roman" pitchFamily="18" charset="0"/>
                <a:cs typeface="Times New Roman" pitchFamily="18" charset="0"/>
              </a:rPr>
              <a:t>Notes:</a:t>
            </a:r>
          </a:p>
        </p:txBody>
      </p:sp>
      <p:sp>
        <p:nvSpPr>
          <p:cNvPr id="438309" name="Rectangle 37"/>
          <p:cNvSpPr>
            <a:spLocks noGrp="1" noChangeArrowheads="1"/>
          </p:cNvSpPr>
          <p:nvPr>
            <p:ph type="body" sz="quarter" idx="3"/>
          </p:nvPr>
        </p:nvSpPr>
        <p:spPr bwMode="gray">
          <a:xfrm>
            <a:off x="322263" y="5462588"/>
            <a:ext cx="6607175" cy="375126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537" tIns="45768" rIns="91537" bIns="45768" numCol="1" anchor="t" anchorCtr="0" compatLnSpc="1">
            <a:prstTxWarp prst="textNoShape">
              <a:avLst/>
            </a:prstTxWarp>
          </a:bodyPr>
          <a:lstStyle/>
          <a:p>
            <a:pPr lvl="0"/>
            <a:endParaRPr lang="en-US" noProof="0" dirty="0"/>
          </a:p>
        </p:txBody>
      </p:sp>
      <p:sp>
        <p:nvSpPr>
          <p:cNvPr id="438317" name="Line 45"/>
          <p:cNvSpPr>
            <a:spLocks noChangeShapeType="1"/>
          </p:cNvSpPr>
          <p:nvPr/>
        </p:nvSpPr>
        <p:spPr bwMode="auto">
          <a:xfrm>
            <a:off x="322263" y="9324975"/>
            <a:ext cx="6653212" cy="0"/>
          </a:xfrm>
          <a:prstGeom prst="line">
            <a:avLst/>
          </a:prstGeom>
          <a:noFill/>
          <a:ln w="12700">
            <a:solidFill>
              <a:srgbClr val="000000"/>
            </a:solidFill>
            <a:round/>
            <a:headEnd/>
            <a:tailEnd/>
          </a:ln>
          <a:effectLst/>
        </p:spPr>
        <p:txBody>
          <a:bodyPr/>
          <a:lstStyle/>
          <a:p>
            <a:pPr algn="ctr">
              <a:spcBef>
                <a:spcPct val="30000"/>
              </a:spcBef>
              <a:defRPr/>
            </a:pPr>
            <a:endParaRPr lang="en-US" dirty="0">
              <a:latin typeface="Garamond" pitchFamily="-110" charset="0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953744030"/>
      </p:ext>
    </p:extLst>
  </p:cSld>
  <p:clrMap bg1="lt1" tx1="dk1" bg2="lt2" tx2="dk2" accent1="accent1" accent2="accent2" accent3="accent3" accent4="accent4" accent5="accent5" accent6="accent6" hlink="hlink" folHlink="folHlink"/>
  <p:hf dt="0"/>
  <p:notesStyle>
    <a:lvl1pPr marL="0" indent="0" algn="l" rtl="0" eaLnBrk="0" fontAlgn="base" hangingPunct="0">
      <a:spcBef>
        <a:spcPct val="30000"/>
      </a:spcBef>
      <a:spcAft>
        <a:spcPct val="0"/>
      </a:spcAft>
      <a:buSzPct val="65000"/>
      <a:buFont typeface="Wingdings" pitchFamily="2" charset="2"/>
      <a:buNone/>
      <a:defRPr sz="1200" kern="1200">
        <a:solidFill>
          <a:schemeClr val="tx1"/>
        </a:solidFill>
        <a:latin typeface="Times New Roman" pitchFamily="-110" charset="0"/>
        <a:ea typeface="ＭＳ Ｐゴシック" pitchFamily="-110" charset="-128"/>
        <a:cs typeface="ＭＳ Ｐゴシック" pitchFamily="-110" charset="-128"/>
      </a:defRPr>
    </a:lvl1pPr>
    <a:lvl2pPr marL="282575" indent="0" algn="l" rtl="0" eaLnBrk="0" fontAlgn="base" hangingPunct="0">
      <a:spcBef>
        <a:spcPct val="30000"/>
      </a:spcBef>
      <a:spcAft>
        <a:spcPct val="0"/>
      </a:spcAft>
      <a:buNone/>
      <a:defRPr sz="1200" kern="1200">
        <a:solidFill>
          <a:schemeClr val="tx1"/>
        </a:solidFill>
        <a:latin typeface="Times New Roman" pitchFamily="-110" charset="0"/>
        <a:ea typeface="ＭＳ Ｐゴシック" pitchFamily="-110" charset="-128"/>
        <a:cs typeface="ＭＳ Ｐゴシック"/>
      </a:defRPr>
    </a:lvl2pPr>
    <a:lvl3pPr marL="744538" indent="-173038" algn="l" rtl="0" eaLnBrk="0" fontAlgn="base" hangingPunct="0">
      <a:spcBef>
        <a:spcPct val="30000"/>
      </a:spcBef>
      <a:spcAft>
        <a:spcPct val="0"/>
      </a:spcAft>
      <a:buChar char="•"/>
      <a:defRPr sz="1200" kern="1200">
        <a:solidFill>
          <a:schemeClr val="tx1"/>
        </a:solidFill>
        <a:latin typeface="Times New Roman" pitchFamily="-110" charset="0"/>
        <a:ea typeface="ＭＳ Ｐゴシック" pitchFamily="-110" charset="-128"/>
        <a:cs typeface="ＭＳ Ｐゴシック"/>
      </a:defRPr>
    </a:lvl3pPr>
    <a:lvl4pPr marL="1600200" indent="-228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-110" charset="0"/>
        <a:ea typeface="ＭＳ Ｐゴシック" pitchFamily="-110" charset="-128"/>
        <a:cs typeface="ＭＳ Ｐゴシック"/>
      </a:defRPr>
    </a:lvl4pPr>
    <a:lvl5pPr marL="2057400" indent="-228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-110" charset="0"/>
        <a:ea typeface="ＭＳ Ｐゴシック" pitchFamily="-110" charset="-128"/>
        <a:cs typeface="ＭＳ Ｐゴシック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Slide Number Placeholder 2"/>
          <p:cNvSpPr>
            <a:spLocks noGrp="1"/>
          </p:cNvSpPr>
          <p:nvPr>
            <p:ph type="sldNum" sz="quarter" idx="5"/>
          </p:nvPr>
        </p:nvSpPr>
        <p:spPr/>
      </p:sp>
      <p:sp>
        <p:nvSpPr>
          <p:cNvPr id="4" name="Notes Placeholder 3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 Four days end to end, deliverable as one track or as two standalone courses. The intro day makes it accessible to newcomers; the intermediate days give working developers real depth.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Slide Number Placeholder 2"/>
          <p:cNvSpPr>
            <a:spLocks noGrp="1"/>
          </p:cNvSpPr>
          <p:nvPr>
            <p:ph type="sldNum" sz="quarter" idx="5"/>
          </p:nvPr>
        </p:nvSpPr>
        <p:spPr/>
      </p:sp>
      <p:sp>
        <p:nvSpPr>
          <p:cNvPr id="4" name="Notes Placeholder 3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 This is a developer course — the emphasis is on writing code against Kafka, not administering a cluster. For the intermediate days we assume Kafka fundamentals (the intro day, or equivalent experience).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Slide Number Placeholder 2"/>
          <p:cNvSpPr>
            <a:spLocks noGrp="1"/>
          </p:cNvSpPr>
          <p:nvPr>
            <p:ph type="sldNum" sz="quarter" idx="5"/>
          </p:nvPr>
        </p:nvSpPr>
        <p:spPr/>
      </p:sp>
      <p:sp>
        <p:nvSpPr>
          <p:cNvPr id="4" name="Notes Placeholder 3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 Every concept is reinforced with a lab. All slides, labs, and code are yours to keep in a Git repository — re-run the exercises after the course.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7"/>
          <p:cNvPicPr preferRelativeResize="0">
            <a:picLocks noChangeArrowheads="1"/>
          </p:cNvPicPr>
          <p:nvPr/>
        </p:nvPicPr>
        <p:blipFill rotWithShape="1">
          <a:blip r:embed="rId2"/>
          <a:srcRect t="19473"/>
          <a:stretch/>
        </p:blipFill>
        <p:spPr bwMode="auto">
          <a:xfrm>
            <a:off x="1" y="-1801"/>
            <a:ext cx="2498725" cy="830892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1104898" name="Rectangle 2"/>
          <p:cNvSpPr>
            <a:spLocks noGrp="1" noChangeArrowheads="1"/>
          </p:cNvSpPr>
          <p:nvPr>
            <p:ph type="subTitle" sz="quarter" idx="1"/>
          </p:nvPr>
        </p:nvSpPr>
        <p:spPr>
          <a:xfrm>
            <a:off x="2498726" y="4984481"/>
            <a:ext cx="6335713" cy="400685"/>
          </a:xfrm>
        </p:spPr>
        <p:txBody>
          <a:bodyPr>
            <a:spAutoFit/>
          </a:bodyPr>
          <a:lstStyle>
            <a:lvl1pPr marL="0" indent="0" algn="r">
              <a:buFont typeface="Monotype Sorts" pitchFamily="-110" charset="2"/>
              <a:buNone/>
              <a:defRPr sz="2000"/>
            </a:lvl1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1104900" name="Rectangle 4"/>
          <p:cNvSpPr>
            <a:spLocks noGrp="1" noChangeArrowheads="1"/>
          </p:cNvSpPr>
          <p:nvPr>
            <p:ph type="ctrTitle" sz="quarter"/>
          </p:nvPr>
        </p:nvSpPr>
        <p:spPr>
          <a:xfrm>
            <a:off x="704850" y="3226947"/>
            <a:ext cx="8121650" cy="1469414"/>
          </a:xfrm>
        </p:spPr>
        <p:txBody>
          <a:bodyPr lIns="91440" anchor="ctr"/>
          <a:lstStyle>
            <a:lvl1pPr algn="ctr" defTabSz="1825625">
              <a:defRPr/>
            </a:lvl1pPr>
          </a:lstStyle>
          <a:p>
            <a:r>
              <a:rPr lang="en-US"/>
              <a:t>Click to edit Master title style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>
              <a:defRPr/>
            </a:pPr>
            <a:r>
              <a:rPr lang="en-US" dirty="0"/>
              <a:t>Copyright © 2017 Elephant Scale. All rights reserved.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77EF9825-4C23-4085-A4E3-B5565466BD91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xAndTwoObj" preserve="1">
  <p:cSld name="Title, Text,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04850" y="1"/>
            <a:ext cx="8667750" cy="83554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half" idx="1"/>
          </p:nvPr>
        </p:nvSpPr>
        <p:spPr>
          <a:xfrm>
            <a:off x="234950" y="994976"/>
            <a:ext cx="4375150" cy="682845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quarter" idx="2"/>
          </p:nvPr>
        </p:nvSpPr>
        <p:spPr>
          <a:xfrm>
            <a:off x="4762500" y="994975"/>
            <a:ext cx="4375150" cy="332106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quarter" idx="3"/>
          </p:nvPr>
        </p:nvSpPr>
        <p:spPr>
          <a:xfrm>
            <a:off x="4762500" y="4500439"/>
            <a:ext cx="4375150" cy="332298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Rectangle 4"/>
          <p:cNvSpPr>
            <a:spLocks noGrp="1" noChangeArrowheads="1"/>
          </p:cNvSpPr>
          <p:nvPr>
            <p:ph type="sldNum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040E4B02-67B9-4228-B08B-2561CEE6B946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  <p:sp>
        <p:nvSpPr>
          <p:cNvPr id="8" name="Rectangle 5"/>
          <p:cNvSpPr>
            <a:spLocks noGrp="1" noChangeArrowheads="1"/>
          </p:cNvSpPr>
          <p:nvPr>
            <p:ph type="ftr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 algn="l">
              <a:defRPr/>
            </a:pPr>
            <a:r>
              <a:rPr lang="en-US" dirty="0"/>
              <a:t>Copyright © 2017 Elephant Scale. All rights reserved.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xAndObj" preserve="1">
  <p:cSld name="Title, Text,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04850" y="1"/>
            <a:ext cx="8667750" cy="83554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half" idx="1"/>
          </p:nvPr>
        </p:nvSpPr>
        <p:spPr>
          <a:xfrm>
            <a:off x="234950" y="994976"/>
            <a:ext cx="4375150" cy="682845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62500" y="994976"/>
            <a:ext cx="4375150" cy="682845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Rectangle 4"/>
          <p:cNvSpPr>
            <a:spLocks noGrp="1" noChangeArrowheads="1"/>
          </p:cNvSpPr>
          <p:nvPr>
            <p:ph type="sldNum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A86CC632-9864-46F1-8EAB-FCD3BB9CEC9A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  <p:sp>
        <p:nvSpPr>
          <p:cNvPr id="7" name="Rectangle 5"/>
          <p:cNvSpPr>
            <a:spLocks noGrp="1" noChangeArrowheads="1"/>
          </p:cNvSpPr>
          <p:nvPr>
            <p:ph type="ftr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 algn="l">
              <a:defRPr/>
            </a:pPr>
            <a:r>
              <a:rPr lang="en-US" dirty="0"/>
              <a:t>Copyright © 2017 Elephant Scale. All rights reserved.</a:t>
            </a: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.png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 bwMode="gray"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Grp="1" noChangeArrowheads="1"/>
          </p:cNvSpPr>
          <p:nvPr>
            <p:ph type="body" idx="1"/>
          </p:nvPr>
        </p:nvSpPr>
        <p:spPr bwMode="auto">
          <a:xfrm>
            <a:off x="234950" y="994976"/>
            <a:ext cx="8902700" cy="68284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2007" tIns="46005" rIns="92007" bIns="46005" numCol="1" anchor="t" anchorCtr="0" compatLnSpc="1">
            <a:prstTxWarp prst="textNoShape">
              <a:avLst/>
            </a:prstTxWarp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103876" name="Rectangle 4"/>
          <p:cNvSpPr>
            <a:spLocks noGrp="1" noChangeArrowheads="1"/>
          </p:cNvSpPr>
          <p:nvPr>
            <p:ph type="sldNum" sz="quarter" idx="4"/>
          </p:nvPr>
        </p:nvSpPr>
        <p:spPr bwMode="hidden">
          <a:xfrm>
            <a:off x="8777288" y="7961724"/>
            <a:ext cx="546100" cy="27275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r" eaLnBrk="0" hangingPunct="0">
              <a:defRPr b="1">
                <a:solidFill>
                  <a:srgbClr val="000000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</a:lstStyle>
          <a:p>
            <a:pPr>
              <a:defRPr/>
            </a:pPr>
            <a:fld id="{77EF9825-4C23-4085-A4E3-B5565466BD91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  <p:sp>
        <p:nvSpPr>
          <p:cNvPr id="1103877" name="Rectangle 5"/>
          <p:cNvSpPr>
            <a:spLocks noGrp="1" noChangeArrowheads="1"/>
          </p:cNvSpPr>
          <p:nvPr>
            <p:ph type="ftr" sz="quarter" idx="3"/>
          </p:nvPr>
        </p:nvSpPr>
        <p:spPr bwMode="hidden">
          <a:xfrm>
            <a:off x="234950" y="8032785"/>
            <a:ext cx="5441950" cy="1384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algn="ctr" eaLnBrk="0" hangingPunct="0">
              <a:spcBef>
                <a:spcPct val="0"/>
              </a:spcBef>
              <a:defRPr sz="900">
                <a:solidFill>
                  <a:srgbClr val="000000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>
              <a:defRPr/>
            </a:pPr>
            <a:r>
              <a:rPr lang="en-US" dirty="0"/>
              <a:t>Copyright © 2017 Elephant Scale. All rights reserved.</a:t>
            </a:r>
          </a:p>
        </p:txBody>
      </p:sp>
      <p:pic>
        <p:nvPicPr>
          <p:cNvPr id="1030" name="Picture 6"/>
          <p:cNvPicPr preferRelativeResize="0">
            <a:picLocks noChangeArrowheads="1"/>
          </p:cNvPicPr>
          <p:nvPr/>
        </p:nvPicPr>
        <p:blipFill>
          <a:blip r:embed="rId6"/>
          <a:srcRect/>
          <a:stretch>
            <a:fillRect/>
          </a:stretch>
        </p:blipFill>
        <p:spPr bwMode="ltGray">
          <a:xfrm>
            <a:off x="0" y="1"/>
            <a:ext cx="704850" cy="83554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1031" name="Rectangle 7"/>
          <p:cNvSpPr>
            <a:spLocks noGrp="1" noChangeArrowheads="1"/>
          </p:cNvSpPr>
          <p:nvPr>
            <p:ph type="title"/>
          </p:nvPr>
        </p:nvSpPr>
        <p:spPr bwMode="invGray">
          <a:xfrm>
            <a:off x="704850" y="1"/>
            <a:ext cx="8667750" cy="835549"/>
          </a:xfrm>
          <a:prstGeom prst="rect">
            <a:avLst/>
          </a:prstGeom>
          <a:solidFill>
            <a:schemeClr val="tx2"/>
          </a:solidFill>
          <a:ln w="9525">
            <a:noFill/>
            <a:miter lim="800000"/>
            <a:headEnd/>
            <a:tailEnd/>
          </a:ln>
        </p:spPr>
        <p:txBody>
          <a:bodyPr vert="horz" wrap="square" lIns="92007" tIns="46005" rIns="92007" bIns="46005" numCol="1" anchor="b" anchorCtr="0" compatLnSpc="1">
            <a:prstTxWarp prst="textNoShape">
              <a:avLst/>
            </a:prstTxWarp>
          </a:bodyPr>
          <a:lstStyle/>
          <a:p>
            <a:pPr lvl="0"/>
            <a:r>
              <a:rPr lang="en-US" dirty="0"/>
              <a:t>Click to edit Master title style</a:t>
            </a:r>
          </a:p>
        </p:txBody>
      </p:sp>
    </p:spTree>
  </p:cSld>
  <p:clrMap bg1="dk2" tx1="lt1" bg2="dk1" tx2="lt2" accent1="accent1" accent2="accent2" accent3="accent3" accent4="accent4" accent5="accent5" accent6="accent6" hlink="hlink" folHlink="folHlink"/>
  <p:sldLayoutIdLst>
    <p:sldLayoutId id="2147483656" r:id="rId1"/>
    <p:sldLayoutId id="2147483655" r:id="rId2"/>
    <p:sldLayoutId id="2147483654" r:id="rId3"/>
    <p:sldLayoutId id="2147483653" r:id="rId4"/>
  </p:sldLayoutIdLst>
  <p:hf hd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2600" b="1">
          <a:solidFill>
            <a:schemeClr val="tx1"/>
          </a:solidFill>
          <a:latin typeface="+mj-lt"/>
          <a:ea typeface="ＭＳ Ｐゴシック" pitchFamily="-110" charset="-128"/>
          <a:cs typeface="ＭＳ Ｐゴシック" pitchFamily="-110" charset="-128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2600" b="1">
          <a:solidFill>
            <a:schemeClr val="tx1"/>
          </a:solidFill>
          <a:latin typeface="Verdana" pitchFamily="-110" charset="0"/>
          <a:ea typeface="ＭＳ Ｐゴシック" pitchFamily="-110" charset="-128"/>
          <a:cs typeface="ＭＳ Ｐゴシック" pitchFamily="-110" charset="-128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2600" b="1">
          <a:solidFill>
            <a:schemeClr val="tx1"/>
          </a:solidFill>
          <a:latin typeface="Verdana" pitchFamily="-110" charset="0"/>
          <a:ea typeface="ＭＳ Ｐゴシック" pitchFamily="-110" charset="-128"/>
          <a:cs typeface="ＭＳ Ｐゴシック" pitchFamily="-110" charset="-128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2600" b="1">
          <a:solidFill>
            <a:schemeClr val="tx1"/>
          </a:solidFill>
          <a:latin typeface="Verdana" pitchFamily="-110" charset="0"/>
          <a:ea typeface="ＭＳ Ｐゴシック" pitchFamily="-110" charset="-128"/>
          <a:cs typeface="ＭＳ Ｐゴシック" pitchFamily="-110" charset="-128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2600" b="1">
          <a:solidFill>
            <a:schemeClr val="tx1"/>
          </a:solidFill>
          <a:latin typeface="Verdana" pitchFamily="-110" charset="0"/>
          <a:ea typeface="ＭＳ Ｐゴシック" pitchFamily="-110" charset="-128"/>
          <a:cs typeface="ＭＳ Ｐゴシック" pitchFamily="-110" charset="-128"/>
        </a:defRPr>
      </a:lvl5pPr>
      <a:lvl6pPr marL="457200" algn="l" rtl="0" eaLnBrk="0" fontAlgn="base" hangingPunct="0">
        <a:spcBef>
          <a:spcPct val="0"/>
        </a:spcBef>
        <a:spcAft>
          <a:spcPct val="0"/>
        </a:spcAft>
        <a:defRPr sz="2600" b="1">
          <a:solidFill>
            <a:schemeClr val="tx1"/>
          </a:solidFill>
          <a:latin typeface="Verdana" pitchFamily="-110" charset="0"/>
        </a:defRPr>
      </a:lvl6pPr>
      <a:lvl7pPr marL="914400" algn="l" rtl="0" eaLnBrk="0" fontAlgn="base" hangingPunct="0">
        <a:spcBef>
          <a:spcPct val="0"/>
        </a:spcBef>
        <a:spcAft>
          <a:spcPct val="0"/>
        </a:spcAft>
        <a:defRPr sz="2600" b="1">
          <a:solidFill>
            <a:schemeClr val="tx1"/>
          </a:solidFill>
          <a:latin typeface="Verdana" pitchFamily="-110" charset="0"/>
        </a:defRPr>
      </a:lvl7pPr>
      <a:lvl8pPr marL="1371600" algn="l" rtl="0" eaLnBrk="0" fontAlgn="base" hangingPunct="0">
        <a:spcBef>
          <a:spcPct val="0"/>
        </a:spcBef>
        <a:spcAft>
          <a:spcPct val="0"/>
        </a:spcAft>
        <a:defRPr sz="2600" b="1">
          <a:solidFill>
            <a:schemeClr val="tx1"/>
          </a:solidFill>
          <a:latin typeface="Verdana" pitchFamily="-110" charset="0"/>
        </a:defRPr>
      </a:lvl8pPr>
      <a:lvl9pPr marL="1828800" algn="l" rtl="0" eaLnBrk="0" fontAlgn="base" hangingPunct="0">
        <a:spcBef>
          <a:spcPct val="0"/>
        </a:spcBef>
        <a:spcAft>
          <a:spcPct val="0"/>
        </a:spcAft>
        <a:defRPr sz="2600" b="1">
          <a:solidFill>
            <a:schemeClr val="tx1"/>
          </a:solidFill>
          <a:latin typeface="Verdana" pitchFamily="-110" charset="0"/>
        </a:defRPr>
      </a:lvl9pPr>
    </p:titleStyle>
    <p:bodyStyle>
      <a:lvl1pPr marL="290513" indent="-290513" algn="l" rtl="0" eaLnBrk="0" fontAlgn="base" hangingPunct="0">
        <a:spcBef>
          <a:spcPct val="20000"/>
        </a:spcBef>
        <a:spcAft>
          <a:spcPct val="0"/>
        </a:spcAft>
        <a:buClr>
          <a:schemeClr val="tx2"/>
        </a:buClr>
        <a:buSzPct val="65000"/>
        <a:buFont typeface="Wingdings" pitchFamily="2" charset="2"/>
        <a:buChar char=""/>
        <a:defRPr sz="2400">
          <a:solidFill>
            <a:srgbClr val="000000"/>
          </a:solidFill>
          <a:latin typeface="+mn-lt"/>
          <a:ea typeface="ＭＳ Ｐゴシック" pitchFamily="-110" charset="-128"/>
          <a:cs typeface="ＭＳ Ｐゴシック" pitchFamily="-110" charset="-128"/>
        </a:defRPr>
      </a:lvl1pPr>
      <a:lvl2pPr marL="633413" indent="-228600" algn="l" rtl="0" eaLnBrk="0" fontAlgn="base" hangingPunct="0">
        <a:spcBef>
          <a:spcPct val="20000"/>
        </a:spcBef>
        <a:spcAft>
          <a:spcPct val="0"/>
        </a:spcAft>
        <a:buClr>
          <a:srgbClr val="000000"/>
        </a:buClr>
        <a:buChar char="–"/>
        <a:defRPr sz="2200">
          <a:solidFill>
            <a:srgbClr val="000000"/>
          </a:solidFill>
          <a:latin typeface="+mn-lt"/>
          <a:ea typeface="ＭＳ Ｐゴシック" pitchFamily="-110" charset="-128"/>
          <a:cs typeface="ＭＳ Ｐゴシック"/>
        </a:defRPr>
      </a:lvl2pPr>
      <a:lvl3pPr marL="969963" indent="-222250" algn="l" rtl="0" eaLnBrk="0" fontAlgn="base" hangingPunct="0">
        <a:spcBef>
          <a:spcPct val="20000"/>
        </a:spcBef>
        <a:spcAft>
          <a:spcPct val="0"/>
        </a:spcAft>
        <a:buChar char="•"/>
        <a:defRPr sz="2000">
          <a:solidFill>
            <a:srgbClr val="000000"/>
          </a:solidFill>
          <a:latin typeface="+mn-lt"/>
          <a:ea typeface="ＭＳ Ｐゴシック" pitchFamily="-110" charset="-128"/>
          <a:cs typeface="ＭＳ Ｐゴシック"/>
        </a:defRPr>
      </a:lvl3pPr>
      <a:lvl4pPr marL="1258888" indent="-228600" algn="l" rtl="0" eaLnBrk="0" fontAlgn="base" hangingPunct="0">
        <a:spcBef>
          <a:spcPct val="0"/>
        </a:spcBef>
        <a:spcAft>
          <a:spcPct val="0"/>
        </a:spcAft>
        <a:buClr>
          <a:srgbClr val="5F5F5F"/>
        </a:buClr>
        <a:buSzPct val="65000"/>
        <a:buFont typeface="Arial Bold" pitchFamily="34" charset="0"/>
        <a:buChar char="‒"/>
        <a:defRPr lang="en-US" dirty="0">
          <a:solidFill>
            <a:srgbClr val="000000"/>
          </a:solidFill>
          <a:latin typeface="+mn-lt"/>
          <a:ea typeface="ＭＳ Ｐゴシック" pitchFamily="-110" charset="-128"/>
          <a:cs typeface="ＭＳ Ｐゴシック"/>
        </a:defRPr>
      </a:lvl4pPr>
      <a:lvl5pPr marL="2055813" indent="-230188" algn="l" rtl="0" eaLnBrk="0" fontAlgn="base" hangingPunct="0">
        <a:spcBef>
          <a:spcPct val="20000"/>
        </a:spcBef>
        <a:spcAft>
          <a:spcPct val="0"/>
        </a:spcAft>
        <a:buClr>
          <a:schemeClr val="tx1"/>
        </a:buClr>
        <a:defRPr sz="800">
          <a:solidFill>
            <a:schemeClr val="tx1"/>
          </a:solidFill>
          <a:latin typeface="Times New Roman" pitchFamily="-110" charset="0"/>
          <a:ea typeface="ＭＳ Ｐゴシック" pitchFamily="-110" charset="-128"/>
          <a:cs typeface="ＭＳ Ｐゴシック"/>
        </a:defRPr>
      </a:lvl5pPr>
      <a:lvl6pPr marL="2513013" indent="-230188" algn="l" rtl="0" eaLnBrk="0" fontAlgn="base" hangingPunct="0">
        <a:spcBef>
          <a:spcPct val="20000"/>
        </a:spcBef>
        <a:spcAft>
          <a:spcPct val="0"/>
        </a:spcAft>
        <a:buClr>
          <a:schemeClr val="tx1"/>
        </a:buClr>
        <a:defRPr sz="800">
          <a:solidFill>
            <a:schemeClr val="tx1"/>
          </a:solidFill>
          <a:latin typeface="Times New Roman" pitchFamily="-110" charset="0"/>
          <a:ea typeface="ＭＳ Ｐゴシック" pitchFamily="-110" charset="-128"/>
        </a:defRPr>
      </a:lvl6pPr>
      <a:lvl7pPr marL="2970213" indent="-230188" algn="l" rtl="0" eaLnBrk="0" fontAlgn="base" hangingPunct="0">
        <a:spcBef>
          <a:spcPct val="20000"/>
        </a:spcBef>
        <a:spcAft>
          <a:spcPct val="0"/>
        </a:spcAft>
        <a:buClr>
          <a:schemeClr val="tx1"/>
        </a:buClr>
        <a:defRPr sz="800">
          <a:solidFill>
            <a:schemeClr val="tx1"/>
          </a:solidFill>
          <a:latin typeface="Times New Roman" pitchFamily="-110" charset="0"/>
          <a:ea typeface="ＭＳ Ｐゴシック" pitchFamily="-110" charset="-128"/>
        </a:defRPr>
      </a:lvl7pPr>
      <a:lvl8pPr marL="3427413" indent="-230188" algn="l" rtl="0" eaLnBrk="0" fontAlgn="base" hangingPunct="0">
        <a:spcBef>
          <a:spcPct val="20000"/>
        </a:spcBef>
        <a:spcAft>
          <a:spcPct val="0"/>
        </a:spcAft>
        <a:buClr>
          <a:schemeClr val="tx1"/>
        </a:buClr>
        <a:defRPr sz="800">
          <a:solidFill>
            <a:schemeClr val="tx1"/>
          </a:solidFill>
          <a:latin typeface="Times New Roman" pitchFamily="-110" charset="0"/>
          <a:ea typeface="ＭＳ Ｐゴシック" pitchFamily="-110" charset="-128"/>
        </a:defRPr>
      </a:lvl8pPr>
      <a:lvl9pPr marL="3884613" indent="-230188" algn="l" rtl="0" eaLnBrk="0" fontAlgn="base" hangingPunct="0">
        <a:spcBef>
          <a:spcPct val="20000"/>
        </a:spcBef>
        <a:spcAft>
          <a:spcPct val="0"/>
        </a:spcAft>
        <a:buClr>
          <a:schemeClr val="tx1"/>
        </a:buClr>
        <a:defRPr sz="800">
          <a:solidFill>
            <a:schemeClr val="tx1"/>
          </a:solidFill>
          <a:latin typeface="Times New Roman" pitchFamily="-110" charset="0"/>
          <a:ea typeface="ＭＳ Ｐゴシック" pitchFamily="-110" charset="-128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jp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1"/>
          <p:cNvSpPr>
            <a:spLocks noGrp="1"/>
          </p:cNvSpPr>
          <p:nvPr>
            <p:ph type="subTitle" sz="quarter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itle 2"/>
          <p:cNvSpPr>
            <a:spLocks noGrp="1"/>
          </p:cNvSpPr>
          <p:nvPr>
            <p:ph type="ctrTitle" sz="quarter"/>
          </p:nvPr>
        </p:nvSpPr>
        <p:spPr/>
        <p:txBody>
          <a:bodyPr wrap="square">
            <a:noAutofit/>
          </a:bodyPr>
          <a:lstStyle/>
          <a:p>
            <a:r>
              <a:rPr sz="4200" b="1" i="0">
                <a:latin typeface="Times New Roman"/>
              </a:rPr>
              <a:t>Apache Kafka for Developers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Agenda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b="1"/>
              <a:t> Introduction (1 day)</a:t>
            </a:r>
            <a:r>
              <a:t> — fundamentals + first hands-on</a:t>
            </a:r>
          </a:p>
          <a:p>
            <a:r>
              <a:rPr b="1"/>
              <a:t> 1.</a:t>
            </a:r>
            <a:r>
              <a:t> What Is Kafka and Why</a:t>
            </a:r>
          </a:p>
          <a:p>
            <a:r>
              <a:rPr b="1"/>
              <a:t> 2.</a:t>
            </a:r>
            <a:r>
              <a:t> Core Concepts</a:t>
            </a:r>
          </a:p>
          <a:p>
            <a:r>
              <a:rPr b="1"/>
              <a:t> 3.</a:t>
            </a:r>
            <a:r>
              <a:t> Kafka 4 Architecture</a:t>
            </a:r>
          </a:p>
          <a:p>
            <a:r>
              <a:rPr b="1"/>
              <a:t> 4.</a:t>
            </a:r>
            <a:r>
              <a:t> Hands-On Fundamentals</a:t>
            </a:r>
          </a:p>
          <a:p>
            <a:r>
              <a:rPr b="1"/>
              <a:t> Intermediate (3 days)</a:t>
            </a:r>
            <a:r>
              <a:t> — building production streaming applications</a:t>
            </a:r>
          </a:p>
          <a:p>
            <a:r>
              <a:rPr b="1"/>
              <a:t> 5.</a:t>
            </a:r>
            <a:r>
              <a:t> Producer Internals</a:t>
            </a:r>
          </a:p>
          <a:p>
            <a:r>
              <a:rPr b="1"/>
              <a:t> 6.</a:t>
            </a:r>
            <a:r>
              <a:t> Consumer Internals</a:t>
            </a:r>
          </a:p>
          <a:p>
            <a:r>
              <a:rPr b="1"/>
              <a:t> 7.</a:t>
            </a:r>
            <a:r>
              <a:t> Delivery Semantics &amp; Transactions</a:t>
            </a:r>
          </a:p>
          <a:p>
            <a:r>
              <a:rPr b="1"/>
              <a:t> 8.</a:t>
            </a:r>
            <a:r>
              <a:t> Serialization &amp; the Schema Registry</a:t>
            </a:r>
          </a:p>
          <a:p>
            <a:r>
              <a:rPr b="1"/>
              <a:t> 9.</a:t>
            </a:r>
            <a:r>
              <a:t> Kafka Connect</a:t>
            </a:r>
          </a:p>
          <a:p>
            <a:r>
              <a:rPr b="1"/>
              <a:t> 10.</a:t>
            </a:r>
            <a:r>
              <a:t> Stream Processing (Kafka Streams &amp; Flink SQL)</a:t>
            </a:r>
          </a:p>
          <a:p>
            <a:r>
              <a:rPr b="1"/>
              <a:t> 11.</a:t>
            </a:r>
            <a:r>
              <a:t> Reliability, Scaling &amp; Operations for Developers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Pre-requisites and Expectations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 Practical programming experience</a:t>
            </a:r>
          </a:p>
          <a:p>
            <a:pPr lvl="1"/>
            <a:r>
              <a:t> Java examples throughout — the Kafka Java client, built with Maven</a:t>
            </a:r>
          </a:p>
          <a:p>
            <a:r>
              <a:t> Comfort with the</a:t>
            </a:r>
            <a:r>
              <a:rPr b="1"/>
              <a:t> Linux command line</a:t>
            </a:r>
            <a:r>
              <a:t> and a text editor</a:t>
            </a:r>
          </a:p>
          <a:p>
            <a:r>
              <a:rPr b="1"/>
              <a:t> Docker</a:t>
            </a:r>
            <a:r>
              <a:t> on your machine — that's the whole lab environment (no Kubernetes, no cluster admin)</a:t>
            </a:r>
          </a:p>
          <a:p>
            <a:r>
              <a:t> Basic familiarity with messaging or data-processing concepts is helpful, not required</a:t>
            </a:r>
          </a:p>
          <a:p>
            <a:r>
              <a:t> Curiosity!</a:t>
            </a:r>
          </a:p>
          <a:p>
            <a:pPr lvl="1"/>
            <a:r>
              <a:t> Ask a lot of questions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Our Teaching Philosophy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 Emphasis on concepts &amp; fundamentals</a:t>
            </a:r>
          </a:p>
          <a:p>
            <a:r>
              <a:t> Highly interactive (questions and discussions are welcome)</a:t>
            </a:r>
          </a:p>
          <a:p>
            <a:r>
              <a:t> Hands-on (learn by doing)</a:t>
            </a:r>
          </a:p>
          <a:p>
            <a:r>
              <a:t> Real production patterns — not toy examples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Lots of Labs: Learn By Doing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pic>
        <p:nvPicPr>
          <p:cNvPr id="5" name="Picture 4" descr="any-ke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4088" y="1253331"/>
            <a:ext cx="8173212" cy="6149095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Analogy: Learning To Fly...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pic>
        <p:nvPicPr>
          <p:cNvPr id="5" name="Picture 4" descr="learn-to-fl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088" y="1149321"/>
            <a:ext cx="8265956" cy="4529931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Introductions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pic>
        <p:nvPicPr>
          <p:cNvPr id="5" name="Picture 4" descr="classroom-instruc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" y="1960165"/>
            <a:ext cx="7987866" cy="4377531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+ Flight Time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pic>
        <p:nvPicPr>
          <p:cNvPr id="5" name="Picture 4" descr="cockp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3799" y="1710531"/>
            <a:ext cx="8620812" cy="47244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This Will Take A Lot Of Practice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pic>
        <p:nvPicPr>
          <p:cNvPr id="5" name="Picture 4" descr="practi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9100" y="1329531"/>
            <a:ext cx="8650919" cy="54864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What You'll Be Able to Do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 By the end of the track you will be able to:</a:t>
            </a:r>
          </a:p>
          <a:p>
            <a:r>
              <a:t> Explain Kafka's architecture and core abstractions — and how</a:t>
            </a:r>
            <a:r>
              <a:rPr b="1"/>
              <a:t> KRaft</a:t>
            </a:r>
            <a:r>
              <a:t> replaces ZooKeeper</a:t>
            </a:r>
          </a:p>
          <a:p>
            <a:r>
              <a:t> Write</a:t>
            </a:r>
            <a:r>
              <a:rPr b="1"/>
              <a:t> producers and consumers</a:t>
            </a:r>
            <a:r>
              <a:t> , and reason about partitioning, ordering, and parallelism</a:t>
            </a:r>
          </a:p>
          <a:p>
            <a:r>
              <a:t> Choose and configure</a:t>
            </a:r>
            <a:r>
              <a:rPr b="1"/>
              <a:t> delivery guarantees</a:t>
            </a:r>
            <a:r>
              <a:t> — at-least-once, at-most-once, exactly-once</a:t>
            </a:r>
          </a:p>
          <a:p>
            <a:r>
              <a:t> Manage schemas and evolution with the</a:t>
            </a:r>
            <a:r>
              <a:rPr b="1"/>
              <a:t> Schema Registry</a:t>
            </a:r>
            <a:r>
              <a:t> (Avro, Protobuf, JSON Schema)</a:t>
            </a:r>
          </a:p>
          <a:p>
            <a:r>
              <a:t> Build data pipelines with</a:t>
            </a:r>
            <a:r>
              <a:rPr b="1"/>
              <a:t> Kafka Connect</a:t>
            </a:r>
            <a:r>
              <a:t> , and process streams with</a:t>
            </a:r>
            <a:r>
              <a:rPr b="1"/>
              <a:t> Kafka Streams &amp; Flink SQL</a:t>
            </a:r>
          </a:p>
          <a:p>
            <a:r>
              <a:t> Apply reliability basics: replication, ISR, consumer lag, and tuning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About You And 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 About Instructor</a:t>
            </a:r>
          </a:p>
          <a:p>
            <a:r>
              <a:t> About you</a:t>
            </a:r>
          </a:p>
          <a:p>
            <a:pPr lvl="1"/>
            <a:r>
              <a:t> Your Name</a:t>
            </a:r>
          </a:p>
          <a:p>
            <a:pPr lvl="1"/>
            <a:r>
              <a:t> Your background (developer, data engineer, architect, ...)</a:t>
            </a:r>
          </a:p>
          <a:p>
            <a:pPr lvl="1"/>
            <a:r>
              <a:t> Languages and technologies you work with</a:t>
            </a:r>
          </a:p>
          <a:p>
            <a:pPr lvl="1"/>
            <a:r>
              <a:t> Kafka experience (scale of 1 - 4 ;  1 - new,   4 - expert)</a:t>
            </a:r>
          </a:p>
          <a:p>
            <a:pPr lvl="1"/>
            <a:r>
              <a:t> Something non-technical about you! (favorite ice cream flavor / hobby...)</a:t>
            </a:r>
          </a:p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pic>
        <p:nvPicPr>
          <p:cNvPr id="5" name="Picture 4" descr="hiking-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087" y="5303520"/>
            <a:ext cx="2646239" cy="2331651"/>
          </a:xfrm>
          <a:prstGeom prst="rect">
            <a:avLst/>
          </a:prstGeom>
        </p:spPr>
      </p:pic>
      <p:pic>
        <p:nvPicPr>
          <p:cNvPr id="6" name="Picture 5" descr="ice-cream-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37898" y="5337651"/>
            <a:ext cx="2296804" cy="1248887"/>
          </a:xfrm>
          <a:prstGeom prst="rect">
            <a:avLst/>
          </a:prstGeom>
        </p:spPr>
      </p:pic>
      <p:pic>
        <p:nvPicPr>
          <p:cNvPr id="7" name="Picture 6" descr="biking-1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21529" y="5266213"/>
            <a:ext cx="2605853" cy="2368958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LPc_New">
  <a:themeElements>
    <a:clrScheme name="LPc_New 7">
      <a:dk1>
        <a:srgbClr val="000000"/>
      </a:dk1>
      <a:lt1>
        <a:srgbClr val="FFFFFF"/>
      </a:lt1>
      <a:dk2>
        <a:srgbClr val="CCECFF"/>
      </a:dk2>
      <a:lt2>
        <a:srgbClr val="003399"/>
      </a:lt2>
      <a:accent1>
        <a:srgbClr val="0794FF"/>
      </a:accent1>
      <a:accent2>
        <a:srgbClr val="800080"/>
      </a:accent2>
      <a:accent3>
        <a:srgbClr val="E2F4FF"/>
      </a:accent3>
      <a:accent4>
        <a:srgbClr val="DADADA"/>
      </a:accent4>
      <a:accent5>
        <a:srgbClr val="AAC8FF"/>
      </a:accent5>
      <a:accent6>
        <a:srgbClr val="730073"/>
      </a:accent6>
      <a:hlink>
        <a:srgbClr val="FF0000"/>
      </a:hlink>
      <a:folHlink>
        <a:srgbClr val="FFFFD2"/>
      </a:folHlink>
    </a:clrScheme>
    <a:fontScheme name="LPc_New">
      <a:majorFont>
        <a:latin typeface="Verdana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12700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ctr" defTabSz="914400" rtl="0" eaLnBrk="1" fontAlgn="base" latinLnBrk="0" hangingPunct="1">
          <a:lnSpc>
            <a:spcPct val="100000"/>
          </a:lnSpc>
          <a:spcBef>
            <a:spcPct val="30000"/>
          </a:spcBef>
          <a:spcAft>
            <a:spcPct val="0"/>
          </a:spcAft>
          <a:buClrTx/>
          <a:buSzTx/>
          <a:buFontTx/>
          <a:buNone/>
          <a:tabLst/>
          <a:defRPr kumimoji="0" lang="en-US" sz="1000" b="0" i="0" u="none" strike="noStrike" cap="none" normalizeH="0" baseline="0">
            <a:ln>
              <a:noFill/>
            </a:ln>
            <a:solidFill>
              <a:schemeClr val="tx1"/>
            </a:solidFill>
            <a:effectLst/>
            <a:latin typeface="Garamond" pitchFamily="-110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12700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ctr" defTabSz="914400" rtl="0" eaLnBrk="1" fontAlgn="base" latinLnBrk="0" hangingPunct="1">
          <a:lnSpc>
            <a:spcPct val="100000"/>
          </a:lnSpc>
          <a:spcBef>
            <a:spcPct val="30000"/>
          </a:spcBef>
          <a:spcAft>
            <a:spcPct val="0"/>
          </a:spcAft>
          <a:buClrTx/>
          <a:buSzTx/>
          <a:buFontTx/>
          <a:buNone/>
          <a:tabLst/>
          <a:defRPr kumimoji="0" lang="en-US" sz="1000" b="0" i="0" u="none" strike="noStrike" cap="none" normalizeH="0" baseline="0">
            <a:ln>
              <a:noFill/>
            </a:ln>
            <a:solidFill>
              <a:schemeClr val="tx1"/>
            </a:solidFill>
            <a:effectLst/>
            <a:latin typeface="Garamond" pitchFamily="-110" charset="0"/>
          </a:defRPr>
        </a:defPPr>
      </a:lstStyle>
    </a:lnDef>
  </a:objectDefaults>
  <a:extraClrSchemeLst>
    <a:extraClrScheme>
      <a:clrScheme name="LPc_New 1">
        <a:dk1>
          <a:srgbClr val="000099"/>
        </a:dk1>
        <a:lt1>
          <a:srgbClr val="FFFFFF"/>
        </a:lt1>
        <a:dk2>
          <a:srgbClr val="0000FF"/>
        </a:dk2>
        <a:lt2>
          <a:srgbClr val="FFFF00"/>
        </a:lt2>
        <a:accent1>
          <a:srgbClr val="FF6633"/>
        </a:accent1>
        <a:accent2>
          <a:srgbClr val="FF00FF"/>
        </a:accent2>
        <a:accent3>
          <a:srgbClr val="AAAAFF"/>
        </a:accent3>
        <a:accent4>
          <a:srgbClr val="DADADA"/>
        </a:accent4>
        <a:accent5>
          <a:srgbClr val="FFB8AD"/>
        </a:accent5>
        <a:accent6>
          <a:srgbClr val="E700E7"/>
        </a:accent6>
        <a:hlink>
          <a:srgbClr val="FF0000"/>
        </a:hlink>
        <a:folHlink>
          <a:srgbClr val="80808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LPc_New 2">
        <a:dk1>
          <a:srgbClr val="000066"/>
        </a:dk1>
        <a:lt1>
          <a:srgbClr val="CCECFF"/>
        </a:lt1>
        <a:dk2>
          <a:srgbClr val="000080"/>
        </a:dk2>
        <a:lt2>
          <a:srgbClr val="000000"/>
        </a:lt2>
        <a:accent1>
          <a:srgbClr val="9999FF"/>
        </a:accent1>
        <a:accent2>
          <a:srgbClr val="CC00FF"/>
        </a:accent2>
        <a:accent3>
          <a:srgbClr val="E2F4FF"/>
        </a:accent3>
        <a:accent4>
          <a:srgbClr val="000056"/>
        </a:accent4>
        <a:accent5>
          <a:srgbClr val="CACAFF"/>
        </a:accent5>
        <a:accent6>
          <a:srgbClr val="B900E7"/>
        </a:accent6>
        <a:hlink>
          <a:srgbClr val="00CC99"/>
        </a:hlink>
        <a:folHlink>
          <a:srgbClr val="0099CC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LPc_New 3">
        <a:dk1>
          <a:srgbClr val="000000"/>
        </a:dk1>
        <a:lt1>
          <a:srgbClr val="FFFFFF"/>
        </a:lt1>
        <a:dk2>
          <a:srgbClr val="000000"/>
        </a:dk2>
        <a:lt2>
          <a:srgbClr val="393939"/>
        </a:lt2>
        <a:accent1>
          <a:srgbClr val="B2B2B2"/>
        </a:accent1>
        <a:accent2>
          <a:srgbClr val="868686"/>
        </a:accent2>
        <a:accent3>
          <a:srgbClr val="FFFFFF"/>
        </a:accent3>
        <a:accent4>
          <a:srgbClr val="000000"/>
        </a:accent4>
        <a:accent5>
          <a:srgbClr val="D5D5D5"/>
        </a:accent5>
        <a:accent6>
          <a:srgbClr val="797979"/>
        </a:accent6>
        <a:hlink>
          <a:srgbClr val="5F5F5F"/>
        </a:hlink>
        <a:folHlink>
          <a:srgbClr val="DDDDDD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LPc_New 4">
        <a:dk1>
          <a:srgbClr val="000000"/>
        </a:dk1>
        <a:lt1>
          <a:srgbClr val="FFFFFF"/>
        </a:lt1>
        <a:dk2>
          <a:srgbClr val="660033"/>
        </a:dk2>
        <a:lt2>
          <a:srgbClr val="FFFF66"/>
        </a:lt2>
        <a:accent1>
          <a:srgbClr val="FF0033"/>
        </a:accent1>
        <a:accent2>
          <a:srgbClr val="CC6600"/>
        </a:accent2>
        <a:accent3>
          <a:srgbClr val="B8AAAD"/>
        </a:accent3>
        <a:accent4>
          <a:srgbClr val="DADADA"/>
        </a:accent4>
        <a:accent5>
          <a:srgbClr val="FFAAAD"/>
        </a:accent5>
        <a:accent6>
          <a:srgbClr val="B95C00"/>
        </a:accent6>
        <a:hlink>
          <a:srgbClr val="999933"/>
        </a:hlink>
        <a:folHlink>
          <a:srgbClr val="A5002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LPc_New 5">
        <a:dk1>
          <a:srgbClr val="000000"/>
        </a:dk1>
        <a:lt1>
          <a:srgbClr val="FFFFFF"/>
        </a:lt1>
        <a:dk2>
          <a:srgbClr val="CCECFF"/>
        </a:dk2>
        <a:lt2>
          <a:srgbClr val="000080"/>
        </a:lt2>
        <a:accent1>
          <a:srgbClr val="9999FF"/>
        </a:accent1>
        <a:accent2>
          <a:srgbClr val="CC00FF"/>
        </a:accent2>
        <a:accent3>
          <a:srgbClr val="E2F4FF"/>
        </a:accent3>
        <a:accent4>
          <a:srgbClr val="DADADA"/>
        </a:accent4>
        <a:accent5>
          <a:srgbClr val="CACAFF"/>
        </a:accent5>
        <a:accent6>
          <a:srgbClr val="B900E7"/>
        </a:accent6>
        <a:hlink>
          <a:srgbClr val="00CC99"/>
        </a:hlink>
        <a:folHlink>
          <a:srgbClr val="0099CC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LPc_New 6">
        <a:dk1>
          <a:srgbClr val="000000"/>
        </a:dk1>
        <a:lt1>
          <a:srgbClr val="FFFFFF"/>
        </a:lt1>
        <a:dk2>
          <a:srgbClr val="CCECFF"/>
        </a:dk2>
        <a:lt2>
          <a:srgbClr val="003399"/>
        </a:lt2>
        <a:accent1>
          <a:srgbClr val="9999FF"/>
        </a:accent1>
        <a:accent2>
          <a:srgbClr val="800080"/>
        </a:accent2>
        <a:accent3>
          <a:srgbClr val="E2F4FF"/>
        </a:accent3>
        <a:accent4>
          <a:srgbClr val="DADADA"/>
        </a:accent4>
        <a:accent5>
          <a:srgbClr val="CACAFF"/>
        </a:accent5>
        <a:accent6>
          <a:srgbClr val="730073"/>
        </a:accent6>
        <a:hlink>
          <a:srgbClr val="FF0000"/>
        </a:hlink>
        <a:folHlink>
          <a:srgbClr val="FFFFD2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LPc_New 7">
        <a:dk1>
          <a:srgbClr val="000000"/>
        </a:dk1>
        <a:lt1>
          <a:srgbClr val="FFFFFF"/>
        </a:lt1>
        <a:dk2>
          <a:srgbClr val="CCECFF"/>
        </a:dk2>
        <a:lt2>
          <a:srgbClr val="003399"/>
        </a:lt2>
        <a:accent1>
          <a:srgbClr val="0794FF"/>
        </a:accent1>
        <a:accent2>
          <a:srgbClr val="800080"/>
        </a:accent2>
        <a:accent3>
          <a:srgbClr val="E2F4FF"/>
        </a:accent3>
        <a:accent4>
          <a:srgbClr val="DADADA"/>
        </a:accent4>
        <a:accent5>
          <a:srgbClr val="AAC8FF"/>
        </a:accent5>
        <a:accent6>
          <a:srgbClr val="730073"/>
        </a:accent6>
        <a:hlink>
          <a:srgbClr val="FF0000"/>
        </a:hlink>
        <a:folHlink>
          <a:srgbClr val="FFFFD2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378294</TotalTime>
  <Words>619</Words>
  <Application>Microsoft Macintosh PowerPoint</Application>
  <PresentationFormat>Custom</PresentationFormat>
  <Paragraphs>117</Paragraphs>
  <Slides>11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9" baseType="lpstr">
      <vt:lpstr>Arial</vt:lpstr>
      <vt:lpstr>Arial Bold</vt:lpstr>
      <vt:lpstr>Garamond</vt:lpstr>
      <vt:lpstr>Monotype Sorts</vt:lpstr>
      <vt:lpstr>Times New Roman</vt:lpstr>
      <vt:lpstr>Verdana</vt:lpstr>
      <vt:lpstr>Wingdings</vt:lpstr>
      <vt:lpstr>LPc_New</vt:lpstr>
      <vt:lpstr>Apache Kafka for Developers</vt:lpstr>
      <vt:lpstr>Agenda</vt:lpstr>
      <vt:lpstr>Pre-requisites and Expectations</vt:lpstr>
      <vt:lpstr>Our Teaching Philosophy</vt:lpstr>
      <vt:lpstr>Lots of Labs: Learn By Doing</vt:lpstr>
      <vt:lpstr>Analogy: Learning To Fly...</vt:lpstr>
      <vt:lpstr>Introductions</vt:lpstr>
      <vt:lpstr>+ Flight Time</vt:lpstr>
      <vt:lpstr>This Will Take A Lot Of Practice</vt:lpstr>
      <vt:lpstr>What You'll Be Able to Do</vt:lpstr>
      <vt:lpstr>About You And Me</vt:lpstr>
    </vt:vector>
  </TitlesOfParts>
  <Company>Elephant Scale LLC &amp; LearningPatterns Inc.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Spark</dc:title>
  <dc:subject>Spark</dc:subject>
  <dc:creator>Elephant Scale</dc:creator>
  <cp:lastModifiedBy>Warren Crawford</cp:lastModifiedBy>
  <cp:revision>4136</cp:revision>
  <cp:lastPrinted>2010-01-03T02:41:41Z</cp:lastPrinted>
  <dcterms:created xsi:type="dcterms:W3CDTF">2010-07-13T15:22:01Z</dcterms:created>
  <dcterms:modified xsi:type="dcterms:W3CDTF">2026-08-03T03:17:46Z</dcterms:modified>
</cp:coreProperties>
</file>