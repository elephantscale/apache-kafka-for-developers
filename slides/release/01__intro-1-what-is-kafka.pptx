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Anchor this in the students' own systems — ask what runs as a nightly job today and what the business wishes were real-time. Almost everyone has an example.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Worth 60 seconds — it makes the technology human and gives the N×M slide a real origin. The Metamorphosis joke lands with most rooms: the one book everyone half-remembers from school, and here it is running your payments.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Emphasize "log," not "queue." A queue forgets a message once it is consumed; Kafka keeps it, which is what enables replay and multiple independent consumers.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Both patterns coexist in real systems. The point isn't "REST is bad" — it's that fan-out, decoupling, and replay are exactly where request/response gets painful and pub/sub shines.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 numbers are headroom, not a target — the point is that nothing you build in this course will strain Kafka. Ubiquity matters more than scale: join almost any data-heavy engineering team and Kafka is somewhere in the architecture.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is the mental shift that's harder than any API. Teams that keep treating the DB as the source of truth and Kafka as "just a queue in between" never get the benefits. Ask the room where their current source of truth lives.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Don't teach these in depth here — just plant the vocabulary so the terms aren't new when they appear in design discussions. CDC is usually the most immediately relevant: it's how an organization with established databases starts an event-driven journey without a rewrite.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Intro 1 — What Is Kafka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Real-time streaming vs. batch; the problem Kafka solves</a:t>
            </a:r>
          </a:p>
          <a:p>
            <a:r>
              <a:t> Where Kafka came from</a:t>
            </a:r>
          </a:p>
          <a:p>
            <a:r>
              <a:t> Event-driven architecture: publish/subscribe vs. request/response</a:t>
            </a:r>
          </a:p>
          <a:p>
            <a:r>
              <a:t> Kafka use cases and who uses Kafka</a:t>
            </a:r>
          </a:p>
          <a:p>
            <a:r>
              <a:t> Where Kafka fits: the modern data platform</a:t>
            </a:r>
          </a:p>
          <a:p>
            <a:r>
              <a:t> Streaming-first design and common enterprise EDA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World Got Faster Than Batch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For decades, data moved in</a:t>
            </a:r>
            <a:r>
              <a:rPr b="1"/>
              <a:t> batches</a:t>
            </a:r>
            <a:r>
              <a:t> : collect all day, run a job at night, see results tomorrow.</a:t>
            </a:r>
          </a:p>
          <a:p>
            <a:r>
              <a:t> A bank posts transactions overnight</a:t>
            </a:r>
          </a:p>
          <a:p>
            <a:r>
              <a:t> A retailer recomputes inventory at 2 AM</a:t>
            </a:r>
          </a:p>
          <a:p>
            <a:r>
              <a:t> Analytics dashboards are always "yesterday's numbers"</a:t>
            </a:r>
          </a:p>
          <a:p>
            <a:r>
              <a:t> That was fine when the business ran on a daily cycle. It is not fine when:</a:t>
            </a:r>
          </a:p>
          <a:p>
            <a:r>
              <a:t> A fraud decision has to happen</a:t>
            </a:r>
            <a:r>
              <a:rPr b="1"/>
              <a:t> before</a:t>
            </a:r>
            <a:r>
              <a:t> the payment clears</a:t>
            </a:r>
          </a:p>
          <a:p>
            <a:r>
              <a:t> A rider needs a driver matched</a:t>
            </a:r>
            <a:r>
              <a:rPr b="1"/>
              <a:t> now</a:t>
            </a:r>
          </a:p>
          <a:p>
            <a:r>
              <a:t> A dashboard is expected to be live, not 24 hours stale</a:t>
            </a:r>
          </a:p>
          <a:p>
            <a:r>
              <a:t> The world moved to</a:t>
            </a:r>
            <a:r>
              <a:rPr b="1"/>
              <a:t> events that must be reacted to as they happen</a:t>
            </a:r>
            <a:r>
              <a:t> . Batch can't do that.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Batch vs. Streaming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Streaming doesn't replace batch everywhere — it adds the ability to act on data</a:t>
            </a:r>
            <a:r>
              <a:rPr b="1"/>
              <a:t> while it is still fresh</a:t>
            </a:r>
            <a:r>
              <a:t> . Kafka is the platform that makes streaming practical at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Streaming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Unit of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file / a big 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single event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When it runs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 a schedule (nightly, hourly)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Continuously, as data arrives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Milliseconds to 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Data at rest / in 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 rest (tables, files)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motion (a flowing log)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Question it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"What happened yesterday?"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"What is happening right now?"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Kafka Solves: N×M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Without a streaming platform, every system that produces data connects</a:t>
            </a:r>
            <a:r>
              <a:rPr b="1"/>
              <a:t> directly</a:t>
            </a:r>
            <a:r>
              <a:t> to every system that needs it:</a:t>
            </a:r>
          </a:p>
          <a:p>
            <a:endParaRPr/>
          </a:p>
          <a:p>
            <a:endParaRPr/>
          </a:p>
          <a:p>
            <a:endParaRPr/>
          </a:p>
          <a:p>
            <a:r>
              <a:t> Every new consumer means new point-to-point plumbing</a:t>
            </a:r>
          </a:p>
          <a:p>
            <a:r>
              <a:t> Producers must know about — and keep up with — every consumer</a:t>
            </a:r>
          </a:p>
          <a:p>
            <a:r>
              <a:t> One slow or down consumer can stall the producer</a:t>
            </a:r>
          </a:p>
          <a:p>
            <a:r>
              <a:rPr b="1"/>
              <a:t> N</a:t>
            </a:r>
            <a:r>
              <a:t> producers ×</a:t>
            </a:r>
            <a:r>
              <a:rPr b="1"/>
              <a:t> M</a:t>
            </a:r>
            <a:r>
              <a:t> consumers = an unmaintainable web of integrations</a:t>
            </a:r>
          </a:p>
          <a:p>
            <a:r>
              <a:t> This is the tangle Kafka was built at LinkedIn to untangle.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45212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Kafka Came From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Built at</a:t>
            </a:r>
            <a:r>
              <a:rPr b="1"/>
              <a:t> LinkedIn</a:t>
            </a:r>
            <a:r>
              <a:t> around</a:t>
            </a:r>
            <a:r>
              <a:rPr b="1"/>
              <a:t> 2010</a:t>
            </a:r>
            <a:r>
              <a:t> to untangle exactly the mess on the previous slide — every system wired to every other. They needed</a:t>
            </a:r>
            <a:r>
              <a:rPr b="1"/>
              <a:t> one</a:t>
            </a:r>
            <a:r>
              <a:t> high-throughput pipeline for activity and operational data.</a:t>
            </a:r>
          </a:p>
          <a:p>
            <a:r>
              <a:t> Created by</a:t>
            </a:r>
            <a:r>
              <a:rPr b="1"/>
              <a:t> Jay Kreps, Neha Narkhede, and Jun Rao</a:t>
            </a:r>
            <a:r>
              <a:t> ; open-sourced in</a:t>
            </a:r>
            <a:r>
              <a:rPr b="1"/>
              <a:t> 2011</a:t>
            </a:r>
            <a:r>
              <a:t> , a top-level</a:t>
            </a:r>
            <a:r>
              <a:rPr b="1"/>
              <a:t> Apache</a:t>
            </a:r>
            <a:r>
              <a:t> project by</a:t>
            </a:r>
            <a:r>
              <a:rPr b="1"/>
              <a:t> 2012</a:t>
            </a:r>
            <a:r>
              <a:t> .</a:t>
            </a:r>
          </a:p>
          <a:p>
            <a:r>
              <a:rPr b="1"/>
              <a:t> The name:</a:t>
            </a:r>
            <a:r>
              <a:t> Kreps named it after the writer</a:t>
            </a:r>
            <a:r>
              <a:rPr b="1"/>
              <a:t> Franz Kafka</a:t>
            </a:r>
            <a:r>
              <a:t> — a system "optimized for writing" deserved an author's name.</a:t>
            </a:r>
          </a:p>
          <a:p>
            <a:r>
              <a:t> The three creators left LinkedIn in</a:t>
            </a:r>
            <a:r>
              <a:rPr b="1"/>
              <a:t> 2014</a:t>
            </a:r>
            <a:r>
              <a:t> to found</a:t>
            </a:r>
            <a:r>
              <a:rPr b="1"/>
              <a:t> Confluent</a:t>
            </a:r>
            <a:r>
              <a:t> , still the main commercial steward of Kafka.</a:t>
            </a:r>
          </a:p>
          <a:p>
            <a:r>
              <a:t> Full circle: LinkedIn today runs Kafka at roughly</a:t>
            </a:r>
            <a:r>
              <a:rPr b="1"/>
              <a:t> 7 trillion messages a day</a:t>
            </a:r>
            <a:r>
              <a:t> 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Franz_Kafka,_19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900" y="5672468"/>
            <a:ext cx="1732788" cy="2310384"/>
          </a:xfrm>
          <a:prstGeom prst="rect">
            <a:avLst/>
          </a:prstGeom>
        </p:spPr>
      </p:pic>
      <p:pic>
        <p:nvPicPr>
          <p:cNvPr id="6" name="Picture 5" descr="kafka-metamorphosis-b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958681"/>
            <a:ext cx="2712178" cy="18464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Decouples Producers From Consumers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Put a durable</a:t>
            </a:r>
            <a:r>
              <a:rPr b="1" dirty="0"/>
              <a:t> log</a:t>
            </a:r>
            <a:r>
              <a:rPr dirty="0"/>
              <a:t> in the middle. Producers write to it once; consumers read independently, at their own pace.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Producers don't know or care who reads the data</a:t>
            </a:r>
          </a:p>
          <a:p>
            <a:r>
              <a:rPr dirty="0"/>
              <a:t> Consumers read at their own speed, and can</a:t>
            </a:r>
            <a:r>
              <a:rPr b="1" dirty="0"/>
              <a:t> replay</a:t>
            </a:r>
            <a:r>
              <a:rPr dirty="0"/>
              <a:t> history</a:t>
            </a:r>
          </a:p>
          <a:p>
            <a:r>
              <a:rPr dirty="0"/>
              <a:t> Add a new consumer without touching any producer</a:t>
            </a:r>
          </a:p>
          <a:p>
            <a:r>
              <a:rPr dirty="0"/>
              <a:t> A slow consumer can't back-pressure the producer — the log absorbs it</a:t>
            </a:r>
          </a:p>
          <a:p>
            <a:r>
              <a:rPr b="1" dirty="0"/>
              <a:t> Decoupling</a:t>
            </a:r>
            <a:r>
              <a:rPr dirty="0"/>
              <a:t> is the core idea. Everything else is detail.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9" y="2069029"/>
            <a:ext cx="8589649" cy="16989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Kafka Actually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Apache Kafka is a</a:t>
            </a:r>
            <a:r>
              <a:rPr b="1"/>
              <a:t> distributed, fault-tolerant, horizontally scalable streaming</a:t>
            </a:r>
            <a:r>
              <a:t> — an append-only, replayable</a:t>
            </a:r>
            <a:r>
              <a:rPr b="1"/>
              <a:t> log</a:t>
            </a:r>
            <a:r>
              <a:t> that many producers and consumers share.</a:t>
            </a:r>
          </a:p>
          <a:p>
            <a:r>
              <a:t> Three things at once:</a:t>
            </a:r>
          </a:p>
          <a:p>
            <a:r>
              <a:rPr b="1"/>
              <a:t> Publish/subscribe</a:t>
            </a:r>
            <a:r>
              <a:t> — write events, read events (like a messaging system)</a:t>
            </a:r>
          </a:p>
          <a:p>
            <a:r>
              <a:rPr b="1"/>
              <a:t> Storage</a:t>
            </a:r>
            <a:r>
              <a:t> — events are persisted durably and can be re-read for days, weeks, or forever</a:t>
            </a:r>
          </a:p>
          <a:p>
            <a:r>
              <a:rPr b="1"/>
              <a:t> Processing</a:t>
            </a:r>
            <a:r>
              <a:t> — a stream of events can be transformed, joined, and aggregated in motion</a:t>
            </a:r>
          </a:p>
          <a:p>
            <a:r>
              <a:t> Because it is durable and replayable, Kafka is not just a message bus that forgets — it is the</a:t>
            </a:r>
            <a:r>
              <a:rPr b="1"/>
              <a:t> system of record for events in motion</a:t>
            </a:r>
            <a:r>
              <a:t> 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Event-Driven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</a:t>
            </a:r>
            <a:r>
              <a:rPr b="1"/>
              <a:t> event</a:t>
            </a:r>
            <a:r>
              <a:t> is a fact that already happened:</a:t>
            </a:r>
            <a:r>
              <a:rPr i="1"/>
              <a:t> "Order 1234 was placed at 10:02."</a:t>
            </a:r>
          </a:p>
          <a:p>
            <a:r>
              <a:t> Immutable — you don't edit the past, you append a new event</a:t>
            </a:r>
          </a:p>
          <a:p>
            <a:r>
              <a:t> Named in the</a:t>
            </a:r>
            <a:r>
              <a:rPr b="1"/>
              <a:t> past tense</a:t>
            </a:r>
            <a:r>
              <a:t> —</a:t>
            </a:r>
            <a:r>
              <a:rPr>
                <a:latin typeface="Courier New"/>
              </a:rPr>
              <a:t> OrderPlaced</a:t>
            </a:r>
            <a:r>
              <a:t> ,</a:t>
            </a:r>
            <a:r>
              <a:rPr>
                <a:latin typeface="Courier New"/>
              </a:rPr>
              <a:t> PaymentCaptured</a:t>
            </a:r>
            <a:r>
              <a:t> ,</a:t>
            </a:r>
            <a:r>
              <a:rPr>
                <a:latin typeface="Courier New"/>
              </a:rPr>
              <a:t> ItemShipped</a:t>
            </a:r>
          </a:p>
          <a:p>
            <a:r>
              <a:t> Carries just enough data for consumers to react</a:t>
            </a:r>
          </a:p>
          <a:p>
            <a:r>
              <a:t> Event-driven systems are built by</a:t>
            </a:r>
            <a:r>
              <a:rPr b="1"/>
              <a:t> producing</a:t>
            </a:r>
            <a:r>
              <a:t> these facts and letting any number of interested parties</a:t>
            </a:r>
            <a:r>
              <a:rPr b="1"/>
              <a:t> react</a:t>
            </a:r>
            <a:r>
              <a:t> — without the producer orchestrating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Publish/Subscribe vs. Request/Response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Request/Response</a:t>
            </a:r>
            <a:r>
              <a:t> (the familiar REST call):</a:t>
            </a:r>
          </a:p>
          <a:p>
            <a:r>
              <a:t> Caller asks a specific service and waits for an answer</a:t>
            </a:r>
          </a:p>
          <a:p>
            <a:r>
              <a:t> Tight coupling: the caller must know the callee and it must be up</a:t>
            </a:r>
            <a:r>
              <a:rPr i="1"/>
              <a:t> right now</a:t>
            </a:r>
          </a:p>
          <a:p>
            <a:r>
              <a:t> Adding a new interested party means changing the caller</a:t>
            </a:r>
          </a:p>
          <a:p>
            <a:r>
              <a:rPr b="1"/>
              <a:t> Publish/Subscribe</a:t>
            </a:r>
            <a:r>
              <a:t> (the Kafka way):</a:t>
            </a:r>
          </a:p>
          <a:p>
            <a:r>
              <a:t> Producer publishes an event and moves on — no waiting, no knowledge of subscribers</a:t>
            </a:r>
          </a:p>
          <a:p>
            <a:r>
              <a:t> Any number of consumers subscribe independently</a:t>
            </a:r>
          </a:p>
          <a:p>
            <a:r>
              <a:t> Add a new subscriber with</a:t>
            </a:r>
            <a:r>
              <a:rPr b="1"/>
              <a:t> zero changes</a:t>
            </a:r>
            <a:r>
              <a:t> to the producer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" y="5825331"/>
            <a:ext cx="8915400" cy="9346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Event-driven microservices</a:t>
            </a:r>
            <a:r>
              <a:t> — services communicate through events instead of brittle direct calls</a:t>
            </a:r>
          </a:p>
          <a:p>
            <a:r>
              <a:rPr b="1"/>
              <a:t> Log &amp; metrics aggregation</a:t>
            </a:r>
            <a:r>
              <a:t> — funnel logs, metrics, and traces from many services into one pipeline</a:t>
            </a:r>
          </a:p>
          <a:p>
            <a:r>
              <a:rPr b="1"/>
              <a:t> Website / app activity tracking</a:t>
            </a:r>
            <a:r>
              <a:t> — clicks, page views, and user actions as a live stream (Kafka's original use at LinkedIn)</a:t>
            </a:r>
          </a:p>
          <a:p>
            <a:r>
              <a:rPr b="1"/>
              <a:t> Real-time analytics &amp; dashboards</a:t>
            </a:r>
            <a:r>
              <a:t> — compute metrics continuously instead of nightly</a:t>
            </a:r>
          </a:p>
          <a:p>
            <a:r>
              <a:rPr b="1"/>
              <a:t> Data integration / pipelines</a:t>
            </a:r>
            <a:r>
              <a:t> — move data between databases, warehouses, search, and object storage (via Kafka Connect)</a:t>
            </a:r>
          </a:p>
          <a:p>
            <a:r>
              <a:rPr b="1"/>
              <a:t> Stream processing</a:t>
            </a:r>
            <a:r>
              <a:t> — fraud detection, alerting, enrichment, feature computation on data in motion</a:t>
            </a:r>
          </a:p>
          <a:p>
            <a:r>
              <a:rPr b="1"/>
              <a:t> ML feature stores</a:t>
            </a:r>
            <a:r>
              <a:t> — feed models with fresh, real-time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Uses Kafka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runs the real-time backbone at companies operating at enormous scale: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Plus</a:t>
            </a:r>
            <a:r>
              <a:rPr b="1"/>
              <a:t> thousands of enterprises</a:t>
            </a:r>
            <a:r>
              <a:t> across banking, government, retail, telecom, logistics, and IoT.</a:t>
            </a:r>
          </a:p>
          <a:p>
            <a:r>
              <a:t> It has become the</a:t>
            </a:r>
            <a:r>
              <a:rPr b="1"/>
              <a:t> de facto standard</a:t>
            </a:r>
            <a:r>
              <a:t> for event streaming — which is why fluency with Kafka is now a core skill for developers, not a specialty.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510754"/>
              </p:ext>
            </p:extLst>
          </p:nvPr>
        </p:nvGraphicFramePr>
        <p:xfrm>
          <a:off x="273050" y="1939131"/>
          <a:ext cx="8915400" cy="2813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LinkedIn</a:t>
                      </a:r>
                      <a:r>
                        <a:t> — where Kafka was created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~7 trillion messages/day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907">
                <a:tc>
                  <a:txBody>
                    <a:bodyPr/>
                    <a:lstStyle/>
                    <a:p>
                      <a:r>
                        <a:rPr b="1"/>
                        <a:t>Uber</a:t>
                      </a:r>
                      <a:r>
                        <a:t> — matching, pricing, fraud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 trillion messages/day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Netflix</a:t>
                      </a:r>
                      <a:r>
                        <a:t> — telemetry and data pipelines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trillions of events/day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Cloudflare</a:t>
                      </a:r>
                      <a:r>
                        <a:t> — edge logs and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petabytes/day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Walmart</a:t>
                      </a:r>
                      <a:r>
                        <a:t> — peak retail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billions/day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Kafka Fits: The Modern Data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Kafka usually sits in the</a:t>
            </a:r>
            <a:r>
              <a:rPr b="1" dirty="0"/>
              <a:t> center</a:t>
            </a:r>
            <a:r>
              <a:rPr dirty="0"/>
              <a:t> , as the pipe that everything flows through: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b="1" dirty="0"/>
              <a:t> Kafka Connect</a:t>
            </a:r>
            <a:r>
              <a:rPr dirty="0"/>
              <a:t> moves data in and out without custom code</a:t>
            </a:r>
          </a:p>
          <a:p>
            <a:r>
              <a:rPr b="1" dirty="0"/>
              <a:t> Kafka Streams / Flink</a:t>
            </a:r>
            <a:r>
              <a:rPr dirty="0"/>
              <a:t> process the stream as it flows</a:t>
            </a:r>
          </a:p>
          <a:p>
            <a:r>
              <a:rPr b="1" dirty="0"/>
              <a:t> Schema Registry</a:t>
            </a:r>
            <a:r>
              <a:rPr dirty="0"/>
              <a:t> keeps producers and consumers agreeing on data shape</a:t>
            </a:r>
          </a:p>
          <a:p>
            <a:r>
              <a:rPr dirty="0"/>
              <a:t> We'll meet each of these in this course.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" y="2138537"/>
            <a:ext cx="8915400" cy="23117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Streaming-First Application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The architectural shift Kafka enables — where the</a:t>
            </a:r>
            <a:r>
              <a:rPr b="1" dirty="0"/>
              <a:t> event</a:t>
            </a:r>
            <a:r>
              <a:rPr dirty="0"/>
              <a:t> , not the database row, is the source of truth.</a:t>
            </a:r>
          </a:p>
          <a:p>
            <a:r>
              <a:rPr b="1" dirty="0"/>
              <a:t> Traditional:</a:t>
            </a:r>
          </a:p>
          <a:p>
            <a:endParaRPr lang="en-US" b="1" dirty="0"/>
          </a:p>
          <a:p>
            <a:endParaRPr lang="en-US" b="1" dirty="0"/>
          </a:p>
          <a:p>
            <a:endParaRPr b="1" dirty="0"/>
          </a:p>
          <a:p>
            <a:r>
              <a:rPr b="1" dirty="0"/>
              <a:t> Streaming-first:</a:t>
            </a:r>
          </a:p>
          <a:p>
            <a:endParaRPr lang="en-US" b="1" dirty="0"/>
          </a:p>
          <a:p>
            <a:endParaRPr b="1" dirty="0"/>
          </a:p>
          <a:p>
            <a:endParaRPr b="1" dirty="0"/>
          </a:p>
          <a:p>
            <a:r>
              <a:rPr dirty="0"/>
              <a:t> One write, many independent readers — each added without touching the producer</a:t>
            </a:r>
          </a:p>
          <a:p>
            <a:r>
              <a:rPr dirty="0"/>
              <a:t> The database becomes</a:t>
            </a:r>
            <a:r>
              <a:rPr i="1" dirty="0"/>
              <a:t> a</a:t>
            </a:r>
            <a:r>
              <a:rPr dirty="0"/>
              <a:t> consumer of the log, not the single gatekeeper of truth</a:t>
            </a:r>
          </a:p>
          <a:p>
            <a:r>
              <a:rPr dirty="0"/>
              <a:t> History is retained, so a new consumer can be added later and</a:t>
            </a:r>
            <a:r>
              <a:rPr b="1" dirty="0"/>
              <a:t> replay from the beginning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50" y="2528528"/>
            <a:ext cx="8331200" cy="5207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" y="4148931"/>
            <a:ext cx="9220595" cy="10997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Streaming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Names you'll hear once Kafka is in the architecture — worth recognizing early:</a:t>
            </a:r>
          </a:p>
          <a:p>
            <a:r>
              <a:rPr b="1"/>
              <a:t> Event Sourcing</a:t>
            </a:r>
            <a:r>
              <a:t> — store every state change as an event; derive current state by replaying the log rather than overwriting a row</a:t>
            </a:r>
          </a:p>
          <a:p>
            <a:r>
              <a:rPr b="1"/>
              <a:t> CQRS</a:t>
            </a:r>
            <a:r>
              <a:t> — separate the</a:t>
            </a:r>
            <a:r>
              <a:rPr b="1"/>
              <a:t> write</a:t>
            </a:r>
            <a:r>
              <a:t> model (commands) from the</a:t>
            </a:r>
            <a:r>
              <a:rPr b="1"/>
              <a:t> read</a:t>
            </a:r>
            <a:r>
              <a:t> model (queries), connected by events</a:t>
            </a:r>
          </a:p>
          <a:p>
            <a:r>
              <a:rPr b="1"/>
              <a:t> Saga</a:t>
            </a:r>
            <a:r>
              <a:t> — coordinate a long-running transaction across services as a chain of events with compensating actions, instead of a distributed lock</a:t>
            </a:r>
          </a:p>
          <a:p>
            <a:r>
              <a:rPr b="1"/>
              <a:t> CDC (Change Data Capture)</a:t>
            </a:r>
            <a:r>
              <a:t> — stream a database's changes into Kafka, so existing systems become event sources without being rewritten</a:t>
            </a:r>
          </a:p>
          <a:p>
            <a:r>
              <a:rPr b="1"/>
              <a:t> Fan-out</a:t>
            </a:r>
            <a:r>
              <a:t> — one event, many independent consumers reacting on their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Developer's Mental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For the rest of this course, hold onto this:</a:t>
            </a:r>
          </a:p>
          <a:p>
            <a:r>
              <a:t> Kafka is a</a:t>
            </a:r>
            <a:r>
              <a:rPr b="1"/>
              <a:t> durable, ordered, replayable log</a:t>
            </a:r>
            <a:r>
              <a:t> you publish events to and subscribe from</a:t>
            </a:r>
          </a:p>
          <a:p>
            <a:r>
              <a:t> Producers and consumers are</a:t>
            </a:r>
            <a:r>
              <a:rPr b="1"/>
              <a:t> decoupled</a:t>
            </a:r>
            <a:r>
              <a:t> — that decoupling is the whole point</a:t>
            </a:r>
          </a:p>
          <a:p>
            <a:r>
              <a:t> Events are</a:t>
            </a:r>
            <a:r>
              <a:rPr b="1"/>
              <a:t> immutable facts</a:t>
            </a:r>
            <a:r>
              <a:t> ; you append, you don't overwrite</a:t>
            </a:r>
          </a:p>
          <a:p>
            <a:r>
              <a:t> Everything else — partitions, offsets, consumer groups, delivery guarantees — exists to make that log</a:t>
            </a:r>
            <a:r>
              <a:rPr b="1"/>
              <a:t> fast, scalable, and reliable</a:t>
            </a:r>
          </a:p>
          <a:p>
            <a:r>
              <a:t> Next module: the</a:t>
            </a:r>
            <a:r>
              <a:rPr b="1"/>
              <a:t> core concepts</a:t>
            </a:r>
            <a:r>
              <a:t> that make this log work — topics, partitions, offsets, and consumer groups.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Batch answers "what happened yesterday";</a:t>
            </a:r>
            <a:r>
              <a:rPr b="1"/>
              <a:t> streaming</a:t>
            </a:r>
            <a:r>
              <a:t> answers "what's happening now"</a:t>
            </a:r>
          </a:p>
          <a:p>
            <a:r>
              <a:t> Kafka replaces the</a:t>
            </a:r>
            <a:r>
              <a:rPr b="1"/>
              <a:t> N×M</a:t>
            </a:r>
            <a:r>
              <a:t> integration tangle with one durable log in the middle</a:t>
            </a:r>
          </a:p>
          <a:p>
            <a:r>
              <a:t> It</a:t>
            </a:r>
            <a:r>
              <a:rPr b="1"/>
              <a:t> decouples</a:t>
            </a:r>
            <a:r>
              <a:t> producers from consumers and lets consumers</a:t>
            </a:r>
            <a:r>
              <a:rPr b="1"/>
              <a:t> replay</a:t>
            </a:r>
            <a:r>
              <a:t> history</a:t>
            </a:r>
          </a:p>
          <a:p>
            <a:r>
              <a:t> Publish/subscribe adds new consumers with</a:t>
            </a:r>
            <a:r>
              <a:rPr b="1"/>
              <a:t> zero producer changes</a:t>
            </a:r>
          </a:p>
          <a:p>
            <a:r>
              <a:rPr b="1"/>
              <a:t> Streaming-first</a:t>
            </a:r>
            <a:r>
              <a:t> design treats events, not database rows, as the source of truth</a:t>
            </a:r>
          </a:p>
          <a:p>
            <a:r>
              <a:t> Patterns to recognize:</a:t>
            </a:r>
            <a:r>
              <a:rPr b="1"/>
              <a:t> Event Sourcing, CQRS, Saga, CDC, fan-out</a:t>
            </a:r>
          </a:p>
          <a:p>
            <a:r>
              <a:t> Kafka is the</a:t>
            </a:r>
            <a:r>
              <a:rPr b="1"/>
              <a:t> de facto standard</a:t>
            </a:r>
            <a:r>
              <a:t> for event streaming and the hub of the modern data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378294</TotalTime>
  <Words>2056</Words>
  <Application>Microsoft Macintosh PowerPoint</Application>
  <PresentationFormat>Custom</PresentationFormat>
  <Paragraphs>198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Intro 1 — What Is Kafka and Why</vt:lpstr>
      <vt:lpstr>Agenda</vt:lpstr>
      <vt:lpstr>The World Got Faster Than Batch</vt:lpstr>
      <vt:lpstr>Batch vs. Streaming</vt:lpstr>
      <vt:lpstr>The Problem Kafka Solves: N×M Integration</vt:lpstr>
      <vt:lpstr>Where Kafka Came From</vt:lpstr>
      <vt:lpstr>Kafka Decouples Producers From Consumers</vt:lpstr>
      <vt:lpstr>What Kafka Actually Is</vt:lpstr>
      <vt:lpstr>Event-Driven Thinking</vt:lpstr>
      <vt:lpstr>Publish/Subscribe vs. Request/Response</vt:lpstr>
      <vt:lpstr>Common Use Cases</vt:lpstr>
      <vt:lpstr>Who Uses Kafka</vt:lpstr>
      <vt:lpstr>Where Kafka Fits: The Modern Data Platform</vt:lpstr>
      <vt:lpstr>Streaming-First Application Design</vt:lpstr>
      <vt:lpstr>Enterprise Streaming Patterns</vt:lpstr>
      <vt:lpstr>A Developer's Mental Model</vt:lpstr>
      <vt:lpstr>Summary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Warren Crawford</cp:lastModifiedBy>
  <cp:revision>4136</cp:revision>
  <cp:lastPrinted>2010-01-03T02:41:41Z</cp:lastPrinted>
  <dcterms:created xsi:type="dcterms:W3CDTF">2010-07-13T15:22:01Z</dcterms:created>
  <dcterms:modified xsi:type="dcterms:W3CDTF">2026-08-03T03:49:59Z</dcterms:modified>
</cp:coreProperties>
</file>