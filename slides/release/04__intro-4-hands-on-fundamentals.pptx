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Keep laptops open. This module is meant to be run along with, not watched. Every command here reappears in Lab 01. RUNNING THE SPLIT SCHEDULE (Lab 01 Ex 1-2 already done after Core Concepts)? Say so out loud: 'you've already got a cluster and a topic — this module is the rest of it, then you finish the lab.' Running the lab in one block instead? Then this is genuinely their first keyboard contact, so lean on 'now we make it real.' The slide is worded to be true either way.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rPr>
                <a:latin typeface="Courier New"/>
              </a:rPr>
              <a:t> docker exec -i</a:t>
            </a:r>
            <a:r>
              <a:t> (interactive) is needed for the console producer so it can read your keystrokes. The consumer is fine without</a:t>
            </a:r>
            <a:r>
              <a:rPr>
                <a:latin typeface="Courier New"/>
              </a:rPr>
              <a:t> -i</a:t>
            </a:r>
            <a: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one decision students most often get wrong later — partitions for parallelism, replication for durability. They are independent knobs.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concept from Module 2 you can now prove: consume with</a:t>
            </a:r>
            <a:r>
              <a:rPr>
                <a:latin typeface="Courier New"/>
              </a:rPr>
              <a:t> print.partition=true</a:t>
            </a:r>
            <a:r>
              <a:t> and show that both</a:t>
            </a:r>
            <a:r>
              <a:rPr>
                <a:latin typeface="Courier New"/>
              </a:rPr>
              <a:t> user-1</a:t>
            </a:r>
            <a:r>
              <a:t> events share a partition.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payoff slide — the whole consumer-group scaling story from Module 2, demonstrated live in 30 seconds.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Circulate rather than presenting. The two places people get stuck are Docker not being up and a consumer that looks "broken" when it is simply idle at the end of the log.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don't tell — let students answer. This is the checkpoint that reveals who is genuinely following before the pace increases tomorrow. If the room is quiet on the 4th-consumer question, re-draw the partition-ceiling diagram.</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endParaRPr/>
          </a:p>
        </p:txBody>
      </p:sp>
      <p:sp>
        <p:nvSpPr>
          <p:cNvPr id="3" name="Title 2"/>
          <p:cNvSpPr>
            <a:spLocks noGrp="1"/>
          </p:cNvSpPr>
          <p:nvPr>
            <p:ph type="ctrTitle" sz="quarter"/>
          </p:nvPr>
        </p:nvSpPr>
        <p:spPr/>
        <p:txBody>
          <a:bodyPr wrap="square">
            <a:noAutofit/>
          </a:bodyPr>
          <a:lstStyle/>
          <a:p>
            <a:r>
              <a:rPr sz="4200" b="1" i="0">
                <a:latin typeface="Times New Roman"/>
              </a:rPr>
              <a:t>Intro 4 — Hands-On Fundamentals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 Start a Kafka cluster and inspect it</a:t>
            </a:r>
          </a:p>
          <a:p>
            <a:r>
              <a:t> Create topics with partitions and replication</a:t>
            </a:r>
          </a:p>
          <a:p>
            <a:r>
              <a:t> Produce and consume events from the command line</a:t>
            </a:r>
          </a:p>
          <a:p>
            <a:r>
              <a:t> Observe consumer-group partition assignment and lag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Concepts to Keyboard</a:t>
            </a:r>
          </a:p>
        </p:txBody>
      </p:sp>
      <p:sp>
        <p:nvSpPr>
          <p:cNvPr id="3" name="Content Placeholder 2"/>
          <p:cNvSpPr>
            <a:spLocks noGrp="1"/>
          </p:cNvSpPr>
          <p:nvPr>
            <p:ph idx="1"/>
          </p:nvPr>
        </p:nvSpPr>
        <p:spPr/>
        <p:txBody>
          <a:bodyPr/>
          <a:lstStyle/>
          <a:p>
            <a:r>
              <a:t> The last three modules built the mental model. This one is the keyboard.</a:t>
            </a:r>
          </a:p>
          <a:p>
            <a:r>
              <a:t> Everything you learned — topics, partitions, offsets, groups, replication — you</a:t>
            </a:r>
            <a:r>
              <a:rPr b="1"/>
              <a:t> see and touch</a:t>
            </a:r>
            <a:r>
              <a:t> from the command line</a:t>
            </a:r>
          </a:p>
          <a:p>
            <a:r>
              <a:t> The CLI tools are the same ones operators use; they're the fastest way to</a:t>
            </a:r>
            <a:r>
              <a:rPr i="1"/>
              <a:t> understand</a:t>
            </a:r>
            <a:r>
              <a:t> Kafka before writing a line of client code</a:t>
            </a:r>
          </a:p>
          <a:p>
            <a:r>
              <a:t> This module pairs with</a:t>
            </a:r>
            <a:r>
              <a:rPr b="1"/>
              <a:t> Lab 01</a:t>
            </a:r>
            <a:r>
              <a:t> — the slides give the map, the lab is the territory</a:t>
            </a:r>
          </a:p>
          <a:p>
            <a:r>
              <a:rPr b="1"/>
              <a:t> Goal:</a:t>
            </a:r>
            <a:r>
              <a:t> by the end you can start a cluster, create a topic, move events through it, and read consumer lag — confidently.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Lab Cluster</a:t>
            </a:r>
          </a:p>
        </p:txBody>
      </p:sp>
      <p:sp>
        <p:nvSpPr>
          <p:cNvPr id="3" name="Content Placeholder 2"/>
          <p:cNvSpPr>
            <a:spLocks noGrp="1"/>
          </p:cNvSpPr>
          <p:nvPr>
            <p:ph idx="1"/>
          </p:nvPr>
        </p:nvSpPr>
        <p:spPr/>
        <p:txBody>
          <a:bodyPr/>
          <a:lstStyle/>
          <a:p>
            <a:r>
              <a:rPr dirty="0"/>
              <a:t> Our environment is the three-broker </a:t>
            </a:r>
            <a:r>
              <a:rPr dirty="0" err="1"/>
              <a:t>KRaft</a:t>
            </a:r>
            <a:r>
              <a:rPr dirty="0"/>
              <a:t> cluster from Module 3, as Docker containers.</a:t>
            </a:r>
          </a:p>
          <a:p>
            <a:endParaRPr dirty="0"/>
          </a:p>
          <a:p>
            <a:endParaRPr lang="en-US" dirty="0"/>
          </a:p>
          <a:p>
            <a:endParaRPr lang="en-US" dirty="0"/>
          </a:p>
          <a:p>
            <a:endParaRPr lang="en-US" dirty="0"/>
          </a:p>
          <a:p>
            <a:endParaRPr lang="en-US" dirty="0"/>
          </a:p>
          <a:p>
            <a:endParaRPr lang="en-US" dirty="0"/>
          </a:p>
          <a:p>
            <a:endParaRPr dirty="0"/>
          </a:p>
          <a:p>
            <a:endParaRPr dirty="0"/>
          </a:p>
          <a:p>
            <a:r>
              <a:rPr dirty="0"/>
              <a:t> Bring it up:</a:t>
            </a:r>
            <a:r>
              <a:rPr dirty="0">
                <a:latin typeface="Courier New"/>
              </a:rPr>
              <a:t> docker compose up -d</a:t>
            </a:r>
          </a:p>
          <a:p>
            <a:r>
              <a:rPr dirty="0"/>
              <a:t> The Kafka CLI tools live</a:t>
            </a:r>
            <a:r>
              <a:rPr b="1" dirty="0"/>
              <a:t> inside</a:t>
            </a:r>
            <a:r>
              <a:rPr dirty="0"/>
              <a:t> the broker containers — no JDK on your host</a:t>
            </a:r>
          </a:p>
          <a:p>
            <a:r>
              <a:rPr dirty="0"/>
              <a:t> Run them with</a:t>
            </a:r>
            <a:r>
              <a:rPr dirty="0">
                <a:latin typeface="Courier New"/>
              </a:rPr>
              <a:t> docker exec kafka-1 &lt;tool&gt;.</a:t>
            </a:r>
            <a:r>
              <a:rPr dirty="0" err="1">
                <a:latin typeface="Courier New"/>
              </a:rPr>
              <a:t>sh</a:t>
            </a:r>
            <a:r>
              <a:rPr dirty="0">
                <a:latin typeface="Courier New"/>
              </a:rPr>
              <a:t> …</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2"/>
          <a:stretch>
            <a:fillRect/>
          </a:stretch>
        </p:blipFill>
        <p:spPr>
          <a:xfrm>
            <a:off x="225425" y="2320131"/>
            <a:ext cx="8331200" cy="238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CLI Tools You'll Use</a:t>
            </a:r>
          </a:p>
        </p:txBody>
      </p:sp>
      <p:sp>
        <p:nvSpPr>
          <p:cNvPr id="3" name="Content Placeholder 2"/>
          <p:cNvSpPr>
            <a:spLocks noGrp="1"/>
          </p:cNvSpPr>
          <p:nvPr>
            <p:ph idx="1"/>
          </p:nvPr>
        </p:nvSpPr>
        <p:spPr/>
        <p:txBody>
          <a:bodyPr/>
          <a:lstStyle/>
          <a:p>
            <a:r>
              <a:rPr lang="en-US" dirty="0"/>
              <a:t> All ship inside the broker image, all take</a:t>
            </a:r>
            <a:r>
              <a:rPr lang="en-US" dirty="0">
                <a:latin typeface="Courier New"/>
              </a:rPr>
              <a:t> --bootstrap-server localhost:9092</a:t>
            </a:r>
            <a:r>
              <a:rPr lang="en-US" dirty="0"/>
              <a:t> .</a:t>
            </a:r>
          </a:p>
          <a:p>
            <a:endParaRPr lang="en-US" dirty="0"/>
          </a:p>
          <a:p>
            <a:endParaRPr lang="en-US" dirty="0"/>
          </a:p>
          <a:p>
            <a:endParaRPr lang="en-US" dirty="0"/>
          </a:p>
          <a:p>
            <a:endParaRPr lang="en-US" dirty="0"/>
          </a:p>
          <a:p>
            <a:endParaRPr lang="en-US" dirty="0"/>
          </a:p>
          <a:p>
            <a:endParaRPr lang="en-US" dirty="0"/>
          </a:p>
          <a:p>
            <a:endParaRPr dirty="0"/>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2510272158"/>
              </p:ext>
            </p:extLst>
          </p:nvPr>
        </p:nvGraphicFramePr>
        <p:xfrm>
          <a:off x="237744" y="2597912"/>
          <a:ext cx="8915400" cy="228600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457200">
                <a:tc>
                  <a:txBody>
                    <a:bodyPr/>
                    <a:lstStyle/>
                    <a:p>
                      <a:r>
                        <a:t>Tool</a:t>
                      </a:r>
                    </a:p>
                  </a:txBody>
                  <a:tcPr/>
                </a:tc>
                <a:tc>
                  <a:txBody>
                    <a:bodyPr/>
                    <a:lstStyle/>
                    <a:p>
                      <a:r>
                        <a:t>What it does</a:t>
                      </a:r>
                    </a:p>
                  </a:txBody>
                  <a:tcPr/>
                </a:tc>
                <a:extLst>
                  <a:ext uri="{0D108BD9-81ED-4DB2-BD59-A6C34878D82A}">
                    <a16:rowId xmlns:a16="http://schemas.microsoft.com/office/drawing/2014/main" val="10000"/>
                  </a:ext>
                </a:extLst>
              </a:tr>
              <a:tr h="457200">
                <a:tc>
                  <a:txBody>
                    <a:bodyPr/>
                    <a:lstStyle/>
                    <a:p>
                      <a:r>
                        <a:rPr>
                          <a:latin typeface="Courier New"/>
                        </a:rPr>
                        <a:t>kafka-topics.sh</a:t>
                      </a:r>
                    </a:p>
                  </a:txBody>
                  <a:tcPr/>
                </a:tc>
                <a:tc>
                  <a:txBody>
                    <a:bodyPr/>
                    <a:lstStyle/>
                    <a:p>
                      <a:r>
                        <a:t>create / list / describe / alter topics</a:t>
                      </a:r>
                    </a:p>
                  </a:txBody>
                  <a:tcPr/>
                </a:tc>
                <a:extLst>
                  <a:ext uri="{0D108BD9-81ED-4DB2-BD59-A6C34878D82A}">
                    <a16:rowId xmlns:a16="http://schemas.microsoft.com/office/drawing/2014/main" val="10001"/>
                  </a:ext>
                </a:extLst>
              </a:tr>
              <a:tr h="457200">
                <a:tc>
                  <a:txBody>
                    <a:bodyPr/>
                    <a:lstStyle/>
                    <a:p>
                      <a:r>
                        <a:rPr>
                          <a:latin typeface="Courier New"/>
                        </a:rPr>
                        <a:t>kafka-console-producer.sh</a:t>
                      </a:r>
                    </a:p>
                  </a:txBody>
                  <a:tcPr/>
                </a:tc>
                <a:tc>
                  <a:txBody>
                    <a:bodyPr/>
                    <a:lstStyle/>
                    <a:p>
                      <a:r>
                        <a:t>type events on stdin → a topic</a:t>
                      </a:r>
                    </a:p>
                  </a:txBody>
                  <a:tcPr/>
                </a:tc>
                <a:extLst>
                  <a:ext uri="{0D108BD9-81ED-4DB2-BD59-A6C34878D82A}">
                    <a16:rowId xmlns:a16="http://schemas.microsoft.com/office/drawing/2014/main" val="10002"/>
                  </a:ext>
                </a:extLst>
              </a:tr>
              <a:tr h="457200">
                <a:tc>
                  <a:txBody>
                    <a:bodyPr/>
                    <a:lstStyle/>
                    <a:p>
                      <a:r>
                        <a:rPr>
                          <a:latin typeface="Courier New"/>
                        </a:rPr>
                        <a:t>kafka-console-consumer.sh</a:t>
                      </a:r>
                    </a:p>
                  </a:txBody>
                  <a:tcPr/>
                </a:tc>
                <a:tc>
                  <a:txBody>
                    <a:bodyPr/>
                    <a:lstStyle/>
                    <a:p>
                      <a:r>
                        <a:t>read events from a topic → stdout</a:t>
                      </a:r>
                    </a:p>
                  </a:txBody>
                  <a:tcPr/>
                </a:tc>
                <a:extLst>
                  <a:ext uri="{0D108BD9-81ED-4DB2-BD59-A6C34878D82A}">
                    <a16:rowId xmlns:a16="http://schemas.microsoft.com/office/drawing/2014/main" val="10003"/>
                  </a:ext>
                </a:extLst>
              </a:tr>
              <a:tr h="457200">
                <a:tc>
                  <a:txBody>
                    <a:bodyPr/>
                    <a:lstStyle/>
                    <a:p>
                      <a:r>
                        <a:rPr>
                          <a:latin typeface="Courier New"/>
                        </a:rPr>
                        <a:t>kafka-consumer-groups.sh</a:t>
                      </a:r>
                    </a:p>
                  </a:txBody>
                  <a:tcPr/>
                </a:tc>
                <a:tc>
                  <a:txBody>
                    <a:bodyPr/>
                    <a:lstStyle/>
                    <a:p>
                      <a:r>
                        <a:rPr dirty="0"/>
                        <a:t>list groups, show assignment &amp; </a:t>
                      </a:r>
                      <a:r>
                        <a:rPr b="1" dirty="0"/>
                        <a:t>lag</a:t>
                      </a:r>
                    </a:p>
                  </a:txBody>
                  <a:tcPr/>
                </a:tc>
                <a:extLst>
                  <a:ext uri="{0D108BD9-81ED-4DB2-BD59-A6C34878D82A}">
                    <a16:rowId xmlns:a16="http://schemas.microsoft.com/office/drawing/2014/main" val="10004"/>
                  </a:ext>
                </a:extLst>
              </a:tr>
            </a:tbl>
          </a:graphicData>
        </a:graphic>
      </p:graphicFrame>
      <p:pic>
        <p:nvPicPr>
          <p:cNvPr id="6" name="Picture 5" descr="1.png"/>
          <p:cNvPicPr>
            <a:picLocks noChangeAspect="1"/>
          </p:cNvPicPr>
          <p:nvPr/>
        </p:nvPicPr>
        <p:blipFill>
          <a:blip r:embed="rId3"/>
          <a:stretch>
            <a:fillRect/>
          </a:stretch>
        </p:blipFill>
        <p:spPr>
          <a:xfrm>
            <a:off x="28575" y="5291931"/>
            <a:ext cx="8915400" cy="5710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Topic</a:t>
            </a:r>
          </a:p>
        </p:txBody>
      </p:sp>
      <p:sp>
        <p:nvSpPr>
          <p:cNvPr id="3" name="Content Placeholder 2"/>
          <p:cNvSpPr>
            <a:spLocks noGrp="1"/>
          </p:cNvSpPr>
          <p:nvPr>
            <p:ph idx="1"/>
          </p:nvPr>
        </p:nvSpPr>
        <p:spPr/>
        <p:txBody>
          <a:bodyPr/>
          <a:lstStyle/>
          <a:p>
            <a:r>
              <a:rPr dirty="0"/>
              <a:t> You choose two things up front:</a:t>
            </a:r>
            <a:r>
              <a:rPr b="1" dirty="0"/>
              <a:t> partitions</a:t>
            </a:r>
            <a:r>
              <a:rPr dirty="0"/>
              <a:t> (parallelism) and</a:t>
            </a:r>
            <a:r>
              <a:rPr b="1" dirty="0"/>
              <a:t> replication factor</a:t>
            </a:r>
            <a:r>
              <a:rPr dirty="0"/>
              <a:t> (durability).</a:t>
            </a:r>
          </a:p>
          <a:p>
            <a:endParaRPr dirty="0"/>
          </a:p>
          <a:p>
            <a:endParaRPr lang="en-US" dirty="0"/>
          </a:p>
          <a:p>
            <a:endParaRPr lang="en-US" dirty="0"/>
          </a:p>
          <a:p>
            <a:endParaRPr lang="en-US" dirty="0"/>
          </a:p>
          <a:p>
            <a:endParaRPr lang="en-US" dirty="0"/>
          </a:p>
          <a:p>
            <a:endParaRPr dirty="0"/>
          </a:p>
          <a:p>
            <a:r>
              <a:rPr dirty="0">
                <a:latin typeface="Courier New"/>
              </a:rPr>
              <a:t> --partitions 3</a:t>
            </a:r>
            <a:r>
              <a:rPr dirty="0"/>
              <a:t> → three ordered logs → up to 3 consumers in a group</a:t>
            </a:r>
          </a:p>
          <a:p>
            <a:r>
              <a:rPr dirty="0">
                <a:latin typeface="Courier New"/>
              </a:rPr>
              <a:t> --replication-factor 3</a:t>
            </a:r>
            <a:r>
              <a:rPr dirty="0"/>
              <a:t> → three copies across our three brokers → survives a broker loss</a:t>
            </a:r>
          </a:p>
          <a:p>
            <a:r>
              <a:rPr dirty="0"/>
              <a:t> RF can't exceed the number of brokers (3 here)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234950" y="2548731"/>
            <a:ext cx="9137650" cy="1054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Inspecting a Topic: Leaders, Replicas, ISR</a:t>
            </a:r>
          </a:p>
        </p:txBody>
      </p:sp>
      <p:sp>
        <p:nvSpPr>
          <p:cNvPr id="3" name="Content Placeholder 2"/>
          <p:cNvSpPr>
            <a:spLocks noGrp="1"/>
          </p:cNvSpPr>
          <p:nvPr>
            <p:ph idx="1"/>
          </p:nvPr>
        </p:nvSpPr>
        <p:spPr/>
        <p:txBody>
          <a:bodyPr/>
          <a:lstStyle/>
          <a:p>
            <a:r>
              <a:rPr dirty="0">
                <a:latin typeface="Courier New"/>
              </a:rPr>
              <a:t> --describe</a:t>
            </a:r>
            <a:r>
              <a:rPr dirty="0"/>
              <a:t> shows the physical layout — the Module 2 concepts made visible.</a:t>
            </a:r>
          </a:p>
          <a:p>
            <a:endParaRPr dirty="0"/>
          </a:p>
          <a:p>
            <a:endParaRPr dirty="0"/>
          </a:p>
          <a:p>
            <a:endParaRPr lang="en-US" dirty="0"/>
          </a:p>
          <a:p>
            <a:endParaRPr lang="en-US" dirty="0"/>
          </a:p>
          <a:p>
            <a:endParaRPr lang="en-US" dirty="0"/>
          </a:p>
          <a:p>
            <a:endParaRPr lang="en-US" dirty="0"/>
          </a:p>
          <a:p>
            <a:endParaRPr dirty="0"/>
          </a:p>
          <a:p>
            <a:r>
              <a:rPr b="1" dirty="0"/>
              <a:t> Leader</a:t>
            </a:r>
            <a:r>
              <a:rPr dirty="0"/>
              <a:t> — the broker handling reads/writes for that partition</a:t>
            </a:r>
          </a:p>
          <a:p>
            <a:r>
              <a:rPr b="1" dirty="0"/>
              <a:t> Replicas</a:t>
            </a:r>
            <a:r>
              <a:rPr dirty="0"/>
              <a:t> — all brokers holding a copy</a:t>
            </a:r>
          </a:p>
          <a:p>
            <a:r>
              <a:rPr b="1" dirty="0"/>
              <a:t> </a:t>
            </a:r>
            <a:r>
              <a:rPr b="1" dirty="0" err="1"/>
              <a:t>Isr</a:t>
            </a:r>
            <a:r>
              <a:rPr dirty="0"/>
              <a:t> — the in-sync replicas (all 3 = fully healthy)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2"/>
          <a:stretch>
            <a:fillRect/>
          </a:stretch>
        </p:blipFill>
        <p:spPr>
          <a:xfrm>
            <a:off x="0" y="2003322"/>
            <a:ext cx="9372600" cy="639979"/>
          </a:xfrm>
          <a:prstGeom prst="rect">
            <a:avLst/>
          </a:prstGeom>
        </p:spPr>
      </p:pic>
      <p:pic>
        <p:nvPicPr>
          <p:cNvPr id="6" name="Picture 5" descr="1.png"/>
          <p:cNvPicPr>
            <a:picLocks noChangeAspect="1"/>
          </p:cNvPicPr>
          <p:nvPr/>
        </p:nvPicPr>
        <p:blipFill>
          <a:blip r:embed="rId3"/>
          <a:stretch>
            <a:fillRect/>
          </a:stretch>
        </p:blipFill>
        <p:spPr>
          <a:xfrm>
            <a:off x="61912" y="3267359"/>
            <a:ext cx="8940800" cy="1320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Producing and Consuming</a:t>
            </a:r>
          </a:p>
        </p:txBody>
      </p:sp>
      <p:sp>
        <p:nvSpPr>
          <p:cNvPr id="3" name="Content Placeholder 2"/>
          <p:cNvSpPr>
            <a:spLocks noGrp="1"/>
          </p:cNvSpPr>
          <p:nvPr>
            <p:ph idx="1"/>
          </p:nvPr>
        </p:nvSpPr>
        <p:spPr/>
        <p:txBody>
          <a:bodyPr/>
          <a:lstStyle/>
          <a:p>
            <a:r>
              <a:rPr dirty="0"/>
              <a:t> Two terminals. Producer on one, consumer on the other.</a:t>
            </a:r>
          </a:p>
          <a:p>
            <a:endParaRPr dirty="0"/>
          </a:p>
          <a:p>
            <a:endParaRPr dirty="0"/>
          </a:p>
          <a:p>
            <a:endParaRPr dirty="0"/>
          </a:p>
          <a:p>
            <a:endParaRPr lang="en-US" dirty="0"/>
          </a:p>
          <a:p>
            <a:endParaRPr lang="en-US" dirty="0"/>
          </a:p>
          <a:p>
            <a:endParaRPr lang="en-US" dirty="0"/>
          </a:p>
          <a:p>
            <a:endParaRPr lang="en-US" dirty="0"/>
          </a:p>
          <a:p>
            <a:endParaRPr lang="en-US" dirty="0"/>
          </a:p>
          <a:p>
            <a:endParaRPr dirty="0"/>
          </a:p>
          <a:p>
            <a:r>
              <a:rPr dirty="0">
                <a:latin typeface="Courier New"/>
              </a:rPr>
              <a:t> --from-beginning</a:t>
            </a:r>
            <a:r>
              <a:rPr dirty="0"/>
              <a:t> reads the whole log; omit it to read only new events</a:t>
            </a:r>
          </a:p>
          <a:p>
            <a:r>
              <a:rPr dirty="0"/>
              <a:t> Type in terminal 1, watch it appear in terminal 2 — the log in action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2"/>
          <a:stretch>
            <a:fillRect/>
          </a:stretch>
        </p:blipFill>
        <p:spPr>
          <a:xfrm>
            <a:off x="268287" y="1797698"/>
            <a:ext cx="8788400" cy="1054100"/>
          </a:xfrm>
          <a:prstGeom prst="rect">
            <a:avLst/>
          </a:prstGeom>
        </p:spPr>
      </p:pic>
      <p:pic>
        <p:nvPicPr>
          <p:cNvPr id="6" name="Picture 5" descr="1.png"/>
          <p:cNvPicPr>
            <a:picLocks noChangeAspect="1"/>
          </p:cNvPicPr>
          <p:nvPr/>
        </p:nvPicPr>
        <p:blipFill>
          <a:blip r:embed="rId3"/>
          <a:stretch>
            <a:fillRect/>
          </a:stretch>
        </p:blipFill>
        <p:spPr>
          <a:xfrm>
            <a:off x="268287" y="3594281"/>
            <a:ext cx="8869363" cy="8559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Keys and Partitioning, Live</a:t>
            </a:r>
          </a:p>
        </p:txBody>
      </p:sp>
      <p:sp>
        <p:nvSpPr>
          <p:cNvPr id="3" name="Content Placeholder 2"/>
          <p:cNvSpPr>
            <a:spLocks noGrp="1"/>
          </p:cNvSpPr>
          <p:nvPr>
            <p:ph idx="1"/>
          </p:nvPr>
        </p:nvSpPr>
        <p:spPr/>
        <p:txBody>
          <a:bodyPr/>
          <a:lstStyle/>
          <a:p>
            <a:r>
              <a:rPr dirty="0"/>
              <a:t> Add a key and you control</a:t>
            </a:r>
            <a:r>
              <a:rPr b="1" dirty="0"/>
              <a:t> which partition</a:t>
            </a:r>
            <a:r>
              <a:rPr dirty="0"/>
              <a:t> an event lands in.</a:t>
            </a:r>
          </a:p>
          <a:p>
            <a:endParaRPr dirty="0"/>
          </a:p>
          <a:p>
            <a:endParaRPr dirty="0"/>
          </a:p>
          <a:p>
            <a:endParaRPr dirty="0"/>
          </a:p>
          <a:p>
            <a:endParaRPr lang="en-US" dirty="0"/>
          </a:p>
          <a:p>
            <a:endParaRPr lang="en-US" dirty="0"/>
          </a:p>
          <a:p>
            <a:endParaRPr lang="en-US" dirty="0"/>
          </a:p>
          <a:p>
            <a:endParaRPr lang="en-US" dirty="0"/>
          </a:p>
          <a:p>
            <a:endParaRPr dirty="0"/>
          </a:p>
          <a:p>
            <a:r>
              <a:rPr dirty="0"/>
              <a:t> Same key → same partition → guaranteed order for that entity</a:t>
            </a:r>
          </a:p>
          <a:p>
            <a:r>
              <a:rPr dirty="0">
                <a:latin typeface="Courier New"/>
              </a:rPr>
              <a:t> --property </a:t>
            </a:r>
            <a:r>
              <a:rPr dirty="0" err="1">
                <a:latin typeface="Courier New"/>
              </a:rPr>
              <a:t>print.key</a:t>
            </a:r>
            <a:r>
              <a:rPr dirty="0">
                <a:latin typeface="Courier New"/>
              </a:rPr>
              <a:t>=true</a:t>
            </a:r>
            <a:r>
              <a:rPr dirty="0"/>
              <a:t> on the consumer shows the key alongside the value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331787" y="1832439"/>
            <a:ext cx="8940800" cy="1054100"/>
          </a:xfrm>
          <a:prstGeom prst="rect">
            <a:avLst/>
          </a:prstGeom>
        </p:spPr>
      </p:pic>
      <p:pic>
        <p:nvPicPr>
          <p:cNvPr id="6" name="Picture 5" descr="1.png"/>
          <p:cNvPicPr>
            <a:picLocks noChangeAspect="1"/>
          </p:cNvPicPr>
          <p:nvPr/>
        </p:nvPicPr>
        <p:blipFill>
          <a:blip r:embed="rId4"/>
          <a:stretch>
            <a:fillRect/>
          </a:stretch>
        </p:blipFill>
        <p:spPr>
          <a:xfrm>
            <a:off x="234950" y="3529859"/>
            <a:ext cx="9137650" cy="9204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Consumer Groups and Lag</a:t>
            </a:r>
          </a:p>
        </p:txBody>
      </p:sp>
      <p:sp>
        <p:nvSpPr>
          <p:cNvPr id="3" name="Content Placeholder 2"/>
          <p:cNvSpPr>
            <a:spLocks noGrp="1"/>
          </p:cNvSpPr>
          <p:nvPr>
            <p:ph idx="1"/>
          </p:nvPr>
        </p:nvSpPr>
        <p:spPr/>
        <p:txBody>
          <a:bodyPr/>
          <a:lstStyle/>
          <a:p>
            <a:r>
              <a:rPr dirty="0"/>
              <a:t> Give the consumer a</a:t>
            </a:r>
            <a:r>
              <a:rPr dirty="0">
                <a:latin typeface="Courier New"/>
              </a:rPr>
              <a:t> --group</a:t>
            </a:r>
            <a:r>
              <a:rPr dirty="0"/>
              <a:t> and Kafka tracks its progress.</a:t>
            </a:r>
            <a:r>
              <a:rPr b="1" dirty="0"/>
              <a:t> Lag</a:t>
            </a:r>
            <a:r>
              <a:rPr dirty="0"/>
              <a:t> = how far behind the group is.</a:t>
            </a:r>
          </a:p>
          <a:p>
            <a:endParaRPr dirty="0"/>
          </a:p>
          <a:p>
            <a:endParaRPr lang="en-US" dirty="0"/>
          </a:p>
          <a:p>
            <a:endParaRPr lang="en-US" dirty="0"/>
          </a:p>
          <a:p>
            <a:endParaRPr lang="en-US" dirty="0"/>
          </a:p>
          <a:p>
            <a:endParaRPr lang="en-US" dirty="0"/>
          </a:p>
          <a:p>
            <a:endParaRPr dirty="0"/>
          </a:p>
          <a:p>
            <a:endParaRPr dirty="0"/>
          </a:p>
          <a:p>
            <a:endParaRPr dirty="0"/>
          </a:p>
          <a:p>
            <a:endParaRPr dirty="0"/>
          </a:p>
          <a:p>
            <a:r>
              <a:rPr b="1" dirty="0"/>
              <a:t> LAG = LOG-END-OFFSET − CURRENT-OFFSET</a:t>
            </a:r>
            <a:r>
              <a:rPr dirty="0"/>
              <a:t> — the single most useful health number in Kafka.</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2"/>
          <a:stretch>
            <a:fillRect/>
          </a:stretch>
        </p:blipFill>
        <p:spPr>
          <a:xfrm>
            <a:off x="188912" y="2028031"/>
            <a:ext cx="9221873" cy="1816100"/>
          </a:xfrm>
          <a:prstGeom prst="rect">
            <a:avLst/>
          </a:prstGeom>
        </p:spPr>
      </p:pic>
      <p:pic>
        <p:nvPicPr>
          <p:cNvPr id="6" name="Picture 5" descr="1.png"/>
          <p:cNvPicPr>
            <a:picLocks noChangeAspect="1"/>
          </p:cNvPicPr>
          <p:nvPr/>
        </p:nvPicPr>
        <p:blipFill>
          <a:blip r:embed="rId3"/>
          <a:stretch>
            <a:fillRect/>
          </a:stretch>
        </p:blipFill>
        <p:spPr>
          <a:xfrm>
            <a:off x="222250" y="4946600"/>
            <a:ext cx="8915400" cy="7370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Watch a Rebalance</a:t>
            </a:r>
          </a:p>
        </p:txBody>
      </p:sp>
      <p:sp>
        <p:nvSpPr>
          <p:cNvPr id="3" name="Content Placeholder 2"/>
          <p:cNvSpPr>
            <a:spLocks noGrp="1"/>
          </p:cNvSpPr>
          <p:nvPr>
            <p:ph idx="1"/>
          </p:nvPr>
        </p:nvSpPr>
        <p:spPr/>
        <p:txBody>
          <a:bodyPr/>
          <a:lstStyle/>
          <a:p>
            <a:r>
              <a:rPr dirty="0"/>
              <a:t> Start a</a:t>
            </a:r>
            <a:r>
              <a:rPr b="1" dirty="0"/>
              <a:t> second</a:t>
            </a:r>
            <a:r>
              <a:rPr dirty="0"/>
              <a:t> consumer in the same group and watch partitions redistribute.</a:t>
            </a:r>
          </a:p>
          <a:p>
            <a:endParaRPr dirty="0"/>
          </a:p>
          <a:p>
            <a:endParaRPr lang="en-US" dirty="0"/>
          </a:p>
          <a:p>
            <a:endParaRPr lang="en-US" dirty="0"/>
          </a:p>
          <a:p>
            <a:endParaRPr lang="en-US" dirty="0"/>
          </a:p>
          <a:p>
            <a:endParaRPr lang="en-US" dirty="0"/>
          </a:p>
          <a:p>
            <a:endParaRPr dirty="0"/>
          </a:p>
          <a:p>
            <a:r>
              <a:rPr dirty="0"/>
              <a:t> Kafka</a:t>
            </a:r>
            <a:r>
              <a:rPr b="1" dirty="0"/>
              <a:t> rebalances</a:t>
            </a:r>
            <a:r>
              <a:rPr dirty="0"/>
              <a:t> automatically — no code, no restart of the producer</a:t>
            </a:r>
          </a:p>
          <a:p>
            <a:r>
              <a:rPr dirty="0"/>
              <a:t> A 4th consumer would sit</a:t>
            </a:r>
            <a:r>
              <a:rPr b="1" dirty="0"/>
              <a:t> idle</a:t>
            </a:r>
            <a:r>
              <a:rPr dirty="0"/>
              <a:t> (only 3 partitions) — the ceiling from Module 2</a:t>
            </a:r>
          </a:p>
          <a:p>
            <a:r>
              <a:rPr dirty="0">
                <a:latin typeface="Courier New"/>
              </a:rPr>
              <a:t> --describe</a:t>
            </a:r>
            <a:r>
              <a:rPr dirty="0"/>
              <a:t> again shows the new</a:t>
            </a:r>
            <a:r>
              <a:rPr dirty="0">
                <a:latin typeface="Courier New"/>
              </a:rPr>
              <a:t> CONSUMER-ID</a:t>
            </a:r>
            <a:r>
              <a:rPr dirty="0"/>
              <a:t> per partition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0" y="2673725"/>
            <a:ext cx="9372600" cy="11026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01 — What You'll Do</a:t>
            </a:r>
          </a:p>
        </p:txBody>
      </p:sp>
      <p:sp>
        <p:nvSpPr>
          <p:cNvPr id="3" name="Content Placeholder 2"/>
          <p:cNvSpPr>
            <a:spLocks noGrp="1"/>
          </p:cNvSpPr>
          <p:nvPr>
            <p:ph idx="1"/>
          </p:nvPr>
        </p:nvSpPr>
        <p:spPr/>
        <p:txBody>
          <a:bodyPr/>
          <a:lstStyle/>
          <a:p>
            <a:r>
              <a:rPr b="1"/>
              <a:t> Stop here and run the lab.</a:t>
            </a:r>
            <a:r>
              <a:t> Everything you need is on the slides you just saw.</a:t>
            </a:r>
          </a:p>
          <a:p>
            <a:r>
              <a:rPr b="1"/>
              <a:t> Start &amp; inspect</a:t>
            </a:r>
            <a:r>
              <a:t> the cluster — confirm 3 healthy brokers</a:t>
            </a:r>
          </a:p>
          <a:p>
            <a:r>
              <a:rPr b="1"/>
              <a:t> Create</a:t>
            </a:r>
            <a:r>
              <a:t> the</a:t>
            </a:r>
            <a:r>
              <a:rPr>
                <a:latin typeface="Courier New"/>
              </a:rPr>
              <a:t> orders</a:t>
            </a:r>
            <a:r>
              <a:t> topic (3 partitions, RF 3) and read its layout</a:t>
            </a:r>
          </a:p>
          <a:p>
            <a:r>
              <a:rPr b="1"/>
              <a:t> Produce &amp; consume</a:t>
            </a:r>
            <a:r>
              <a:t> from the CLI — with and without keys</a:t>
            </a:r>
          </a:p>
          <a:p>
            <a:r>
              <a:rPr b="1"/>
              <a:t> Scale a consumer group</a:t>
            </a:r>
            <a:r>
              <a:t> and read</a:t>
            </a:r>
            <a:r>
              <a:rPr b="1"/>
              <a:t> lag</a:t>
            </a:r>
            <a:r>
              <a:t> and partition assignment</a:t>
            </a:r>
          </a:p>
          <a:p>
            <a:r>
              <a:rPr i="1"/>
              <a:t> →</a:t>
            </a:r>
          </a:p>
          <a:p>
            <a:r>
              <a:t> Environment: 3-broker KRaft cluster via Docker Compose ·</a:t>
            </a:r>
            <a:r>
              <a:rPr b="1"/>
              <a:t> ~45 minutes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Debrief — What You Just Saw</a:t>
            </a:r>
          </a:p>
        </p:txBody>
      </p:sp>
      <p:sp>
        <p:nvSpPr>
          <p:cNvPr id="3" name="Content Placeholder 2"/>
          <p:cNvSpPr>
            <a:spLocks noGrp="1"/>
          </p:cNvSpPr>
          <p:nvPr>
            <p:ph idx="1"/>
          </p:nvPr>
        </p:nvSpPr>
        <p:spPr/>
        <p:txBody>
          <a:bodyPr/>
          <a:lstStyle/>
          <a:p>
            <a:r>
              <a:t> Welcome back. Before we move on, let's connect the lab to the concepts:</a:t>
            </a:r>
          </a:p>
          <a:p>
            <a:r>
              <a:t> When you added a</a:t>
            </a:r>
            <a:r>
              <a:rPr b="1"/>
              <a:t> 4th consumer</a:t>
            </a:r>
            <a:r>
              <a:t> to a 3-partition topic, what happened — and why?</a:t>
            </a:r>
          </a:p>
          <a:p>
            <a:r>
              <a:t> What did</a:t>
            </a:r>
            <a:r>
              <a:rPr>
                <a:latin typeface="Courier New"/>
              </a:rPr>
              <a:t> --describe</a:t>
            </a:r>
            <a:r>
              <a:t> tell you about</a:t>
            </a:r>
            <a:r>
              <a:rPr b="1"/>
              <a:t> leader</a:t>
            </a:r>
            <a:r>
              <a:t> vs.</a:t>
            </a:r>
            <a:r>
              <a:rPr b="1"/>
              <a:t> replicas</a:t>
            </a:r>
            <a:r>
              <a:t> vs.</a:t>
            </a:r>
            <a:r>
              <a:rPr b="1"/>
              <a:t> ISR</a:t>
            </a:r>
            <a:r>
              <a:t> ?</a:t>
            </a:r>
          </a:p>
          <a:p>
            <a:r>
              <a:t> With keys, did the same key ever land on two different partitions?</a:t>
            </a:r>
          </a:p>
          <a:p>
            <a:r>
              <a:t> What was</a:t>
            </a:r>
            <a:r>
              <a:rPr b="1"/>
              <a:t> lag</a:t>
            </a:r>
            <a:r>
              <a:t> doing while a consumer was stopped?</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 The lab cluster is</a:t>
            </a:r>
            <a:r>
              <a:rPr b="1"/>
              <a:t> 3 KRaft brokers</a:t>
            </a:r>
            <a:r>
              <a:t> in Docker; CLI tools run</a:t>
            </a:r>
            <a:r>
              <a:rPr b="1"/>
              <a:t> inside</a:t>
            </a:r>
            <a:r>
              <a:t> via</a:t>
            </a:r>
            <a:r>
              <a:rPr>
                <a:latin typeface="Courier New"/>
              </a:rPr>
              <a:t> docker exec</a:t>
            </a:r>
          </a:p>
          <a:p>
            <a:r>
              <a:rPr b="1"/>
              <a:t> Create</a:t>
            </a:r>
            <a:r>
              <a:t> topics with</a:t>
            </a:r>
            <a:r>
              <a:rPr>
                <a:latin typeface="Courier New"/>
              </a:rPr>
              <a:t> --partitions</a:t>
            </a:r>
            <a:r>
              <a:t> (parallelism) and</a:t>
            </a:r>
            <a:r>
              <a:rPr>
                <a:latin typeface="Courier New"/>
              </a:rPr>
              <a:t> --replication-factor</a:t>
            </a:r>
            <a:r>
              <a:t> (durability)</a:t>
            </a:r>
          </a:p>
          <a:p>
            <a:r>
              <a:rPr>
                <a:latin typeface="Courier New"/>
              </a:rPr>
              <a:t> --describe</a:t>
            </a:r>
            <a:r>
              <a:t> reveals</a:t>
            </a:r>
            <a:r>
              <a:rPr b="1"/>
              <a:t> leader / replicas / ISR</a:t>
            </a:r>
            <a:r>
              <a:t> — Module 2 made visible</a:t>
            </a:r>
          </a:p>
          <a:p>
            <a:r>
              <a:rPr b="1"/>
              <a:t> Keys</a:t>
            </a:r>
            <a:r>
              <a:t> decide partitioning and preserve per-key order</a:t>
            </a:r>
          </a:p>
          <a:p>
            <a:r>
              <a:t> A</a:t>
            </a:r>
            <a:r>
              <a:rPr b="1"/>
              <a:t> consumer group</a:t>
            </a:r>
            <a:r>
              <a:t> shares partitions;</a:t>
            </a:r>
            <a:r>
              <a:rPr b="1"/>
              <a:t> lag = end-offset − current-offset</a:t>
            </a:r>
            <a:r>
              <a:t> is the key metric</a:t>
            </a:r>
          </a:p>
          <a:p>
            <a:r>
              <a:t> Adding consumers triggers an automatic</a:t>
            </a:r>
            <a:r>
              <a:rPr b="1"/>
              <a:t> rebalance</a:t>
            </a:r>
            <a:r>
              <a:t> , up to the partition ceiling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378295</TotalTime>
  <Words>1281</Words>
  <Application>Microsoft Macintosh PowerPoint</Application>
  <PresentationFormat>Custom</PresentationFormat>
  <Paragraphs>155</Paragraphs>
  <Slides>14</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Bold</vt:lpstr>
      <vt:lpstr>Courier New</vt:lpstr>
      <vt:lpstr>Garamond</vt:lpstr>
      <vt:lpstr>Monotype Sorts</vt:lpstr>
      <vt:lpstr>Times New Roman</vt:lpstr>
      <vt:lpstr>Verdana</vt:lpstr>
      <vt:lpstr>Wingdings</vt:lpstr>
      <vt:lpstr>LPc_New</vt:lpstr>
      <vt:lpstr>Intro 4 — Hands-On Fundamentals</vt:lpstr>
      <vt:lpstr>Agenda</vt:lpstr>
      <vt:lpstr>From Concepts to Keyboard</vt:lpstr>
      <vt:lpstr>The Lab Cluster</vt:lpstr>
      <vt:lpstr>The CLI Tools You'll Use</vt:lpstr>
      <vt:lpstr>Creating a Topic</vt:lpstr>
      <vt:lpstr>Inspecting a Topic: Leaders, Replicas, ISR</vt:lpstr>
      <vt:lpstr>Producing and Consuming</vt:lpstr>
      <vt:lpstr>Keys and Partitioning, Live</vt:lpstr>
      <vt:lpstr>Consumer Groups and Lag</vt:lpstr>
      <vt:lpstr>Watch a Rebalance</vt:lpstr>
      <vt:lpstr>Lab 01 — What You'll Do</vt:lpstr>
      <vt:lpstr>Debrief — What You Just Saw</vt:lpstr>
      <vt:lpstr>Summary</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Warren Crawford</cp:lastModifiedBy>
  <cp:revision>4136</cp:revision>
  <cp:lastPrinted>2010-01-03T02:41:41Z</cp:lastPrinted>
  <dcterms:created xsi:type="dcterms:W3CDTF">2010-07-13T15:22:01Z</dcterms:created>
  <dcterms:modified xsi:type="dcterms:W3CDTF">2026-08-03T05:26:58Z</dcterms:modified>
</cp:coreProperties>
</file>