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69" autoAdjust="0"/>
    <p:restoredTop sz="86012" autoAdjust="0"/>
  </p:normalViewPr>
  <p:slideViewPr>
    <p:cSldViewPr>
      <p:cViewPr varScale="1">
        <p:scale>
          <a:sx n="82" d="100"/>
          <a:sy n="82" d="100"/>
        </p:scale>
        <p:origin x="2920" y="176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For SSA's "several systems sharing events," Connect is how you get data OUT of those</a:t>
            </a:r>
            <a:r>
              <a:t> systems into Kafka without asking each team to write and run a bespoke producer.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This is the same "scale by parallel tasks, rebalance on failure" model as consumer</a:t>
            </a:r>
            <a:r>
              <a:t> groups — sink tasks literally ARE a consumer group under the hood.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Name-drop Debezium as the standard CDC option. The lab uses JDBC poll because it's</a:t>
            </a:r>
            <a:r>
              <a:t> self-contained, but flag the DELETE blind spot explicitly.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The DLQ is the single most important operational feature here. Lab 06 injects a bad</a:t>
            </a:r>
            <a:r>
              <a:t> record and inspects it in the DLQ with its error headers.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Tie to SSA: several source systems → Connect sources → Kafka → sink to a store that powers</a:t>
            </a:r>
            <a:r>
              <a:t> their real-time reporting. Connect is the integration spine.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Intermediate 5 — Kafka Connect</a:t>
            </a:r>
            <a:endParaRPr sz="4200" b="1" i="0"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Connect architecture: workers, connectors, tasks, internal topics</a:t>
            </a:r>
          </a:p>
          <a:p>
            <a:r>
              <a:t> Source and sink connectors; configuration</a:t>
            </a:r>
          </a:p>
          <a:p>
            <a:r>
              <a:t> Offset management and exactly-once source connectors</a:t>
            </a:r>
          </a:p>
          <a:p>
            <a:r>
              <a:t> Error handling, retries, and Dead Letter Queues</a:t>
            </a:r>
          </a:p>
          <a:p>
            <a:r>
              <a:t> Integration patterns: databases (JDBC/CDC), object storage (S3), search</a:t>
            </a:r>
          </a:p>
          <a:p>
            <a:r>
              <a:t> Hands-on: deploy source and sink connectors; trigger and inspect a DLQ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Integration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Most Kafka data doesn't originate in Kafka — it lives in databases, and it needs to land in</a:t>
            </a:r>
            <a:r>
              <a:t> warehouses, search indexes, and object stores. Writing that plumbing by hand, over and over,</a:t>
            </a:r>
            <a:r>
              <a:t> is where projects bleed time.</a:t>
            </a:r>
          </a:p>
          <a:p/>
          <a:p/>
          <a:p>
            <a:r>
              <a:t> Every source and sink becomes a custom app: retries, offsets, scaling, monitoring — all DIY</a:t>
            </a:r>
          </a:p>
          <a:p>
            <a:r>
              <a:t> The same patterns get reimplemented on every team</a:t>
            </a:r>
          </a:p>
          <a:p>
            <a:r>
              <a:rPr b="1"/>
              <a:t> Kafka Connect</a:t>
            </a:r>
            <a:r>
              <a:t> turns that plumbing into</a:t>
            </a:r>
            <a:r>
              <a:rPr b="1"/>
              <a:t>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1136"/>
            <a:ext cx="8915400" cy="7459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Kafka Connect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</a:t>
            </a:r>
            <a:r>
              <a:rPr b="1"/>
              <a:t> framework and runtime</a:t>
            </a:r>
            <a:r>
              <a:t> for streaming data between Kafka and external systems using</a:t>
            </a:r>
            <a:r>
              <a:t> ready-made, reusable</a:t>
            </a:r>
            <a:r>
              <a:rPr b="1"/>
              <a:t> connectors</a:t>
            </a:r>
            <a:r>
              <a:t> — no client code.</a:t>
            </a:r>
          </a:p>
          <a:p>
            <a:r>
              <a:rPr b="1"/>
              <a:t> Source</a:t>
            </a:r>
            <a:r>
              <a:t> connectors pull data</a:t>
            </a:r>
            <a:r>
              <a:rPr b="1"/>
              <a:t> into</a:t>
            </a:r>
            <a:r>
              <a:t> Kafka (e.g. a database table → a topic)</a:t>
            </a:r>
          </a:p>
          <a:p>
            <a:r>
              <a:rPr b="1"/>
              <a:t> Sink</a:t>
            </a:r>
            <a:r>
              <a:t> connectors push data</a:t>
            </a:r>
            <a:r>
              <a:rPr b="1"/>
              <a:t> out of</a:t>
            </a:r>
            <a:r>
              <a:t> Kafka (e.g. a topic → S3)</a:t>
            </a:r>
          </a:p>
          <a:p>
            <a:r>
              <a:t> You submit</a:t>
            </a:r>
            <a:r>
              <a:rPr b="1"/>
              <a:t> JSON configuration</a:t>
            </a:r>
            <a:r>
              <a:t> to a REST API; Connect runs it</a:t>
            </a:r>
          </a:p>
          <a:p>
            <a:r>
              <a:t> It handles scaling, offset tracking, retries, restarts, and error routing for you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86783"/>
            <a:ext cx="11531600" cy="787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Architecture: Workers, Connectors,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Four terms, one hierarchy:</a:t>
            </a:r>
          </a:p>
          <a:p>
            <a:r>
              <a:rPr b="1"/>
              <a:t> Worker</a:t>
            </a:r>
            <a:r>
              <a:t> — a Connect JVM process; a Connect</a:t>
            </a:r>
            <a:r>
              <a:rPr b="1"/>
              <a:t> cluster</a:t>
            </a:r>
            <a:r>
              <a:t> is one or more workers</a:t>
            </a:r>
          </a:p>
          <a:p>
            <a:r>
              <a:rPr b="1"/>
              <a:t> Connector</a:t>
            </a:r>
            <a:r>
              <a:t> — a configured integration (e.g. "the orders JDBC source"); it decides how to</a:t>
            </a:r>
            <a:r>
              <a:t> split the work</a:t>
            </a:r>
          </a:p>
          <a:p>
            <a:r>
              <a:rPr b="1"/>
              <a:t> Task</a:t>
            </a:r>
            <a:r>
              <a:t> — the unit that actually moves data; a connector runs</a:t>
            </a:r>
            <a:r>
              <a:rPr b="1"/>
              <a:t> N tasks</a:t>
            </a:r>
            <a:r>
              <a:t> in parallel</a:t>
            </a:r>
          </a:p>
          <a:p>
            <a:r>
              <a:t> Tasks are</a:t>
            </a:r>
            <a:r>
              <a:rPr b="1"/>
              <a:t> distributed</a:t>
            </a:r>
            <a:r>
              <a:t> across workers and</a:t>
            </a:r>
            <a:r>
              <a:rPr b="1"/>
              <a:t> rebalanced</a:t>
            </a:r>
            <a:r>
              <a:t> if a worker fails</a:t>
            </a:r>
          </a:p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47872"/>
            <a:ext cx="10769600" cy="1587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Distributed Mode and Internal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Production Connect runs in</a:t>
            </a:r>
            <a:r>
              <a:rPr b="1"/>
              <a:t> distributed mode</a:t>
            </a:r>
            <a:r>
              <a:t> , and — very Kafka — it stores its own state</a:t>
            </a:r>
            <a:r>
              <a:rPr b="1"/>
              <a:t> in Kafka topics</a:t>
            </a:r>
            <a:r>
              <a:t> .</a:t>
            </a:r>
          </a:p>
          <a:p>
            <a:r>
              <a:rPr>
                <a:latin typeface="Courier New"/>
              </a:rPr>
              <a:t> connect-configs</a:t>
            </a:r>
            <a:r>
              <a:t> — connector configurations</a:t>
            </a:r>
          </a:p>
          <a:p>
            <a:r>
              <a:rPr>
                <a:latin typeface="Courier New"/>
              </a:rPr>
              <a:t> connect-offsets</a:t>
            </a:r>
            <a:r>
              <a:t> — source connector progress (where each source left off)</a:t>
            </a:r>
          </a:p>
          <a:p>
            <a:r>
              <a:rPr>
                <a:latin typeface="Courier New"/>
              </a:rPr>
              <a:t> connect-status</a:t>
            </a:r>
            <a:r>
              <a:t> — connector/task status</a:t>
            </a:r>
          </a:p>
          <a:p>
            <a:r>
              <a:t> Because state lives in Kafka:</a:t>
            </a:r>
          </a:p>
          <a:p>
            <a:r>
              <a:t> Workers are</a:t>
            </a:r>
            <a:r>
              <a:rPr b="1"/>
              <a:t> stateless</a:t>
            </a:r>
            <a:r>
              <a:t> — one can die and its tasks move to another with no data loss</a:t>
            </a:r>
          </a:p>
          <a:p>
            <a:r>
              <a:t> You submit config once via REST; the cluster remembers it</a:t>
            </a:r>
          </a:p>
          <a:p>
            <a:r>
              <a:t> Sink connectors track their position with normal</a:t>
            </a:r>
            <a:r>
              <a:rPr b="1"/>
              <a:t> consumer offsets</a:t>
            </a:r>
            <a:r>
              <a:t> (</a:t>
            </a:r>
            <a:r>
              <a:rPr>
                <a:latin typeface="Courier New"/>
              </a:rPr>
              <a:t> __consumer_offsets</a:t>
            </a:r>
            <a:r>
              <a:t> 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Configuring a Connector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connector is just JSON, POSTed to the Connect REST API (</a:t>
            </a:r>
            <a:r>
              <a:rPr>
                <a:latin typeface="Courier New"/>
              </a:rPr>
              <a:t> :8083</a:t>
            </a:r>
            <a:r>
              <a:t> ).</a:t>
            </a:r>
          </a:p>
          <a:p/>
          <a:p/>
          <a:p/>
          <a:p/>
          <a:p/>
          <a:p/>
          <a:p>
            <a:r>
              <a:rPr>
                <a:latin typeface="Courier New"/>
              </a:rPr>
              <a:t> connector.class</a:t>
            </a:r>
            <a:r>
              <a:t> selects the plugin; the rest is that plugin's configuration</a:t>
            </a:r>
          </a:p>
          <a:p>
            <a:r>
              <a:t> Manage the lifecycle over REST: list, status, pause, resume, restart, delete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11531600" cy="34544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86783"/>
            <a:ext cx="10007600" cy="787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 Connectors: Getting Data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source connector reads an external system and produces to Kafka.</a:t>
            </a:r>
          </a:p>
          <a:p>
            <a:r>
              <a:t> The</a:t>
            </a:r>
            <a:r>
              <a:rPr b="1"/>
              <a:t> JDBC source</a:t>
            </a:r>
            <a:r>
              <a:t> polls a table with</a:t>
            </a:r>
            <a:r>
              <a:rPr>
                <a:latin typeface="Courier New"/>
              </a:rPr>
              <a:t> SELECT … WHERE</a:t>
            </a:r>
            <a:r>
              <a:t> on a tracking column</a:t>
            </a:r>
          </a:p>
          <a:p>
            <a:pPr lvl="1"/>
            <a:r>
              <a:rPr>
                <a:latin typeface="Courier New"/>
              </a:rPr>
              <a:t> incrementing</a:t>
            </a:r>
            <a:r>
              <a:t> — an auto-increment id (new rows only)</a:t>
            </a:r>
          </a:p>
          <a:p>
            <a:pPr lvl="1"/>
            <a:r>
              <a:rPr>
                <a:latin typeface="Courier New"/>
              </a:rPr>
              <a:t> timestamp</a:t>
            </a:r>
            <a:r>
              <a:t> — an</a:t>
            </a:r>
            <a:r>
              <a:rPr>
                <a:latin typeface="Courier New"/>
              </a:rPr>
              <a:t> updated_at</a:t>
            </a:r>
            <a:r>
              <a:t> column (new</a:t>
            </a:r>
            <a:r>
              <a:rPr b="1"/>
              <a:t> and</a:t>
            </a:r>
            <a:r>
              <a:t> updated rows)</a:t>
            </a:r>
          </a:p>
          <a:p>
            <a:pPr lvl="1"/>
            <a:r>
              <a:rPr>
                <a:latin typeface="Courier New"/>
              </a:rPr>
              <a:t> timestamp+incrementing</a:t>
            </a:r>
            <a:r>
              <a:t> — both, the robust default</a:t>
            </a:r>
          </a:p>
          <a:p>
            <a:r>
              <a:t> It records how far it read in</a:t>
            </a:r>
            <a:r>
              <a:rPr>
                <a:latin typeface="Courier New"/>
              </a:rPr>
              <a:t> connect-offsets</a:t>
            </a:r>
            <a:r>
              <a:t> , so a restart resumes cleanly</a:t>
            </a:r>
          </a:p>
          <a:p>
            <a:r>
              <a:rPr b="1"/>
              <a:t> Important limit:</a:t>
            </a:r>
            <a:r>
              <a:t> a JDBC</a:t>
            </a:r>
            <a:r>
              <a:rPr i="1"/>
              <a:t> poll</a:t>
            </a:r>
            <a:r>
              <a:t> source sees only committed rows via query — it</a:t>
            </a:r>
            <a:r>
              <a:rPr b="1"/>
              <a:t> cannot see</a:t>
            </a:r>
            <a:r>
              <a:t> , and only catches updates if a timestamp column changes. For true change capture you</a:t>
            </a:r>
            <a:r>
              <a:t> need</a:t>
            </a:r>
            <a:r>
              <a:rPr b="1"/>
              <a:t> CDC</a:t>
            </a:r>
            <a:r>
              <a:t> 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CDC vs. Poll-Based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Two ways to get database changes into Kafka:</a:t>
            </a:r>
          </a:p>
          <a:p/>
          <a:p/>
          <a:p/>
          <a:p/>
          <a:p/>
          <a:p/>
          <a:p>
            <a:r>
              <a:rPr b="1"/>
              <a:t> Poll</a:t>
            </a:r>
            <a:r>
              <a:t> is fine for append-mostly tables and this course's labs</a:t>
            </a:r>
          </a:p>
          <a:p>
            <a:r>
              <a:rPr b="1"/>
              <a:t> CDC</a:t>
            </a:r>
            <a:r>
              <a:t> is the production answer when you need every change, including deletes, with low DB</a:t>
            </a:r>
            <a:r>
              <a:t>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1353312"/>
          <a:ext cx="8915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  <a:gridCol w="2971800"/>
              </a:tblGrid>
              <a:tr h="457200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JDBC poll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CDC (e.g. Debezium)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How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periodic `SELECT` on a tracking 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tails the DB </a:t>
                      </a:r>
                      <a:r>
                        <a:rPr b="1"/>
                        <a:t>transaction log</a:t>
                      </a:r>
                      <a:r>
                        <a:t> (WAL)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inserts, timestamped updates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inserts, updates, </a:t>
                      </a:r>
                      <a:r>
                        <a:rPr b="1"/>
                        <a:t>and deletes</a:t>
                      </a:r>
                      <a:r>
                        <a:t/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query load on the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low, reads the log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more moving parts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Sink Connectors: Getting Data 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sink connector is a</a:t>
            </a:r>
            <a:r>
              <a:rPr b="1"/>
              <a:t> consumer group</a:t>
            </a:r>
            <a:r>
              <a:t> that writes each record to an external system.</a:t>
            </a:r>
          </a:p>
          <a:p>
            <a:r>
              <a:t> The</a:t>
            </a:r>
            <a:r>
              <a:rPr b="1"/>
              <a:t> S3 sink</a:t>
            </a:r>
            <a:r>
              <a:t> batches topic records into files in object storage (our lab uses MinIO, an</a:t>
            </a:r>
            <a:r>
              <a:t> S3-compatible store)</a:t>
            </a:r>
          </a:p>
          <a:p>
            <a:r>
              <a:t> Others: Elasticsearch/OpenSearch (search), JDBC sink (into a database), and many more</a:t>
            </a:r>
          </a:p>
          <a:p>
            <a:r>
              <a:t> Sink tasks commit</a:t>
            </a:r>
            <a:r>
              <a:rPr b="1"/>
              <a:t> consumer offsets</a:t>
            </a:r>
            <a:r>
              <a:t> , so they resume where they left off</a:t>
            </a:r>
          </a:p>
          <a:p>
            <a:r>
              <a:t> Scaling = more tasks (up to the topic's partition count — the familiar ceiling)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25696"/>
            <a:ext cx="8915400" cy="3776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Exactly-Once in Connect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Connect can provide strong delivery guarantees — with the same trade-offs you already know.</a:t>
            </a:r>
          </a:p>
          <a:p>
            <a:r>
              <a:rPr b="1"/>
              <a:t> Source</a:t>
            </a:r>
            <a:r>
              <a:t> connectors support</a:t>
            </a:r>
            <a:r>
              <a:rPr b="1"/>
              <a:t> exactly-once</a:t>
            </a:r>
            <a:r>
              <a:t> (Kafka 3.3+): they use transactions to atomically</a:t>
            </a:r>
            <a:r>
              <a:t> produce records and commit source offsets — no duplicate or lost source records</a:t>
            </a:r>
          </a:p>
          <a:p>
            <a:r>
              <a:rPr b="1"/>
              <a:t> Sink</a:t>
            </a:r>
            <a:r>
              <a:t> connectors are typically</a:t>
            </a:r>
            <a:r>
              <a:rPr b="1"/>
              <a:t> at-least-once</a:t>
            </a:r>
            <a:r>
              <a:t> ; exactly-once to the destination depends on</a:t>
            </a:r>
            <a:r>
              <a:t> the sink being</a:t>
            </a:r>
            <a:r>
              <a:rPr b="1"/>
              <a:t> idempotent</a:t>
            </a:r>
            <a:r>
              <a:t> (upserts, dedup keys) — the same boundary as Module 7</a:t>
            </a:r>
          </a:p>
          <a:p>
            <a:r>
              <a:t> Delivery to an external system is only as exactly-once as that system allows</a:t>
            </a:r>
          </a:p>
          <a:p>
            <a:r>
              <a:rPr b="1"/>
              <a:t> Takeaway:</a:t>
            </a:r>
            <a:r>
              <a:t> exactly-once</a:t>
            </a:r>
            <a:r>
              <a:rPr i="1"/>
              <a:t> into</a:t>
            </a:r>
            <a:r>
              <a:t> Kafka is built in; exactly-once</a:t>
            </a:r>
            <a:r>
              <a:rPr i="1"/>
              <a:t> out</a:t>
            </a:r>
            <a:r>
              <a:t> depends on the sink.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Handling and Dead Letter Queues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Real pipelines hit bad records — malformed JSON, a schema mismatch, a value the sink rejects.</a:t>
            </a:r>
            <a:r>
              <a:t> Connect's error handling decides what happens.</a:t>
            </a:r>
          </a:p>
          <a:p>
            <a:r>
              <a:t> Default: a bad record</a:t>
            </a:r>
            <a:r>
              <a:rPr b="1"/>
              <a:t> fails the task</a:t>
            </a:r>
            <a:r>
              <a:t> (safe, but one poison record stops the pipeline)</a:t>
            </a:r>
          </a:p>
          <a:p>
            <a:r>
              <a:rPr b="1"/>
              <a:t> Tolerant mode</a:t>
            </a:r>
            <a:r>
              <a:t> + a</a:t>
            </a:r>
            <a:r>
              <a:rPr b="1"/>
              <a:t> Dead Letter Queue (DLQ)</a:t>
            </a:r>
            <a:r>
              <a:t> : route bad records to a separate topic and</a:t>
            </a:r>
            <a:r>
              <a:t> keep going</a:t>
            </a:r>
          </a:p>
          <a:p/>
          <a:p/>
          <a:p>
            <a:r>
              <a:t> Good records flow; bad ones land in</a:t>
            </a:r>
            <a:r>
              <a:rPr>
                <a:latin typeface="Courier New"/>
              </a:rPr>
              <a:t> dlq-orders</a:t>
            </a:r>
            <a:r>
              <a:t> with headers explaining</a:t>
            </a:r>
            <a:r>
              <a:rPr b="1"/>
              <a:t> why</a:t>
            </a:r>
          </a:p>
          <a:p>
            <a:r>
              <a:t> You monitor and reprocess the DLQ out of band — the pipeline never stalls on one bad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0048"/>
            <a:ext cx="90932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Single Message Transforms (SMTs)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Lightweight, per-record tweaks applied</a:t>
            </a:r>
            <a:r>
              <a:rPr b="1"/>
              <a:t> inside</a:t>
            </a:r>
            <a:r>
              <a:t> Connect — no separate stream processor.</a:t>
            </a:r>
          </a:p>
          <a:p>
            <a:r>
              <a:t> Rename/insert/mask fields, route to topics, cast types, add timestamps</a:t>
            </a:r>
          </a:p>
          <a:p>
            <a:r>
              <a:t> Configured inline on the connector; run per record as it passes through</a:t>
            </a:r>
          </a:p>
          <a:p/>
          <a:p/>
          <a:p>
            <a:r>
              <a:t> Great for small shaping (mask a SSN, drop a column, route by name)</a:t>
            </a:r>
          </a:p>
          <a:p>
            <a:r>
              <a:t> For real joins/aggregations, use</a:t>
            </a:r>
            <a:r>
              <a:rPr b="1"/>
              <a:t> stream processing</a:t>
            </a:r>
            <a:r>
              <a:t> (next module) — SMTs are per-record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08960"/>
            <a:ext cx="8915400" cy="92350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Where Connect fits in a real architecture:</a:t>
            </a:r>
          </a:p>
          <a:p>
            <a:r>
              <a:rPr b="1"/>
              <a:t> Databases</a:t>
            </a:r>
            <a:r>
              <a:t> — JDBC source/sink, or</a:t>
            </a:r>
            <a:r>
              <a:rPr b="1"/>
              <a:t> CDC</a:t>
            </a:r>
            <a:r>
              <a:t> (Debezium) for full change capture</a:t>
            </a:r>
          </a:p>
          <a:p>
            <a:r>
              <a:rPr b="1"/>
              <a:t> Object storage</a:t>
            </a:r>
            <a:r>
              <a:t> — S3/GCS/Azure sinks for a data lake or archival (our lab: MinIO)</a:t>
            </a:r>
          </a:p>
          <a:p>
            <a:r>
              <a:rPr b="1"/>
              <a:t> Search</a:t>
            </a:r>
            <a:r>
              <a:t> — Elasticsearch/OpenSearch sinks for real-time indexing</a:t>
            </a:r>
          </a:p>
          <a:p>
            <a:r>
              <a:rPr b="1"/>
              <a:t> Warehouses</a:t>
            </a:r>
            <a:r>
              <a:t> — sinks into Snowflake/BigQuery/Redshift for analytics</a:t>
            </a:r>
          </a:p>
          <a:p>
            <a:r>
              <a:rPr b="1"/>
              <a:t> When NOT to use Connect</a:t>
            </a:r>
            <a:r>
              <a:t> — if you need rich per-record business logic, a real app or a</a:t>
            </a:r>
            <a:r>
              <a:t> stream processor may fit better than a connector + SMTs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Kafka Connect</a:t>
            </a:r>
            <a:r>
              <a:t> streams data in/out of Kafka as</a:t>
            </a:r>
            <a:r>
              <a:rPr b="1"/>
              <a:t> configuration</a:t>
            </a:r>
            <a:r>
              <a:t> , not custom apps</a:t>
            </a:r>
          </a:p>
          <a:p>
            <a:r>
              <a:rPr b="1"/>
              <a:t> Workers</a:t>
            </a:r>
            <a:r>
              <a:t> run</a:t>
            </a:r>
            <a:r>
              <a:rPr b="1"/>
              <a:t> connectors</a:t>
            </a:r>
            <a:r>
              <a:t> , which split work into parallel</a:t>
            </a:r>
            <a:r>
              <a:rPr b="1"/>
              <a:t> tasks</a:t>
            </a:r>
            <a:r>
              <a:t> ; state lives in Kafka</a:t>
            </a:r>
            <a:r>
              <a:t> topics, so workers are stateless and fault-tolerant</a:t>
            </a:r>
          </a:p>
          <a:p>
            <a:r>
              <a:rPr b="1"/>
              <a:t> Source</a:t>
            </a:r>
            <a:r>
              <a:t> connectors pull in (JDBC poll vs.</a:t>
            </a:r>
            <a:r>
              <a:rPr b="1"/>
              <a:t> CDC</a:t>
            </a:r>
            <a:r>
              <a:t> for deletes);</a:t>
            </a:r>
            <a:r>
              <a:rPr b="1"/>
              <a:t> sink</a:t>
            </a:r>
            <a:r>
              <a:t> connectors push out</a:t>
            </a:r>
            <a:r>
              <a:t> (a consumer group under the hood)</a:t>
            </a:r>
          </a:p>
          <a:p>
            <a:r>
              <a:rPr b="1"/>
              <a:t> Exactly-once</a:t>
            </a:r>
            <a:r>
              <a:t> is built into sources; sink exactly-once needs an</a:t>
            </a:r>
            <a:r>
              <a:rPr b="1"/>
              <a:t> idempotent</a:t>
            </a:r>
            <a:r>
              <a:t> destination</a:t>
            </a:r>
          </a:p>
          <a:p>
            <a:r>
              <a:rPr b="1"/>
              <a:t> DLQs</a:t>
            </a:r>
            <a:r>
              <a:t> keep pipelines running past bad records;</a:t>
            </a:r>
            <a:r>
              <a:rPr b="1"/>
              <a:t> SMTs</a:t>
            </a:r>
            <a:r>
              <a:t> do lightweight per-record shaping</a:t>
            </a:r>
          </a:p>
          <a:p>
            <a:r>
              <a:t> Connect is the</a:t>
            </a:r>
            <a:r>
              <a:rPr b="1"/>
              <a:t> integration spine</a:t>
            </a:r>
            <a:r>
              <a:t> for databases, object storage, search, and warehouses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378292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9" baseType="lpstr">
      <vt:lpstr>ＭＳ Ｐゴシック</vt:lpstr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</vt:vector>
  </TitlesOfParts>
  <Company>Elephant Scale LLC &amp; LearningPatterns Inc.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fateme</cp:lastModifiedBy>
  <cp:revision>4135</cp:revision>
  <cp:lastPrinted>2010-01-03T02:41:41Z</cp:lastPrinted>
  <dcterms:created xsi:type="dcterms:W3CDTF">2010-07-13T15:22:01Z</dcterms:created>
  <dcterms:modified xsi:type="dcterms:W3CDTF">2019-10-02T11:26:38Z</dcterms:modified>
</cp:coreProperties>
</file>