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Emphasize that "exactly-once" is the hardest and most misunderstood. Half this module is defining precisely what it does and doesn't mean.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transactional.id + fencing is what makes exactly-once safe under the nastiest</a:t>
            </a:r>
            <a:r>
              <a:t> failure — a process that froze, was replaced, then woke up. The zombie can't commit.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Two details students get wrong. (1) It's</a:t>
            </a:r>
            <a:r>
              <a:rPr>
                <a:latin typeface="Courier New"/>
              </a:rPr>
              <a:t> r.offset() + 1</a:t>
            </a:r>
            <a:r>
              <a:t> — you commit the</a:t>
            </a:r>
            <a:r>
              <a:rPr i="1"/>
              <a:t> next</a:t>
            </a:r>
            <a:r>
              <a:t> offset to read, not the last one processed; committing</a:t>
            </a:r>
            <a:r>
              <a:rPr>
                <a:latin typeface="Courier New"/>
              </a:rPr>
              <a:t> r.offset()</a:t>
            </a:r>
            <a:r>
              <a:t> re-delivers the last record forever. (2) Not every exception should be aborted:</a:t>
            </a:r>
            <a:r>
              <a:rPr>
                <a:latin typeface="Courier New"/>
              </a:rPr>
              <a:t> ProducerFencedException</a:t>
            </a:r>
            <a:r>
              <a:t> ,</a:t>
            </a:r>
            <a:r>
              <a:rPr>
                <a:latin typeface="Courier New"/>
              </a:rPr>
              <a:t> OutOfOrderSequenceException</a:t>
            </a:r>
            <a:r>
              <a:t> , and authorization errors are</a:t>
            </a:r>
            <a:r>
              <a:rPr b="1"/>
              <a:t> fatal</a:t>
            </a:r>
            <a:r>
              <a:t> — a newer instance has taken your</a:t>
            </a:r>
            <a:r>
              <a:rPr>
                <a:latin typeface="Courier New"/>
              </a:rPr>
              <a:t> transactional.id</a:t>
            </a:r>
            <a:r>
              <a:t> , so you must</a:t>
            </a:r>
            <a:r>
              <a:rPr>
                <a:latin typeface="Courier New"/>
              </a:rPr>
              <a:t> close()</a:t>
            </a:r>
            <a:r>
              <a:t> the producer and exit, not abort and retry.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is why exactly-once isn't "free" — read_committed trades a little latency for</a:t>
            </a:r>
            <a:r>
              <a:t> correctness. Keep transactions small and fast.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Most students will reach for exactly-once reflexively. Push back: at-least-once +</a:t>
            </a:r>
            <a:r>
              <a:t> idempotency covers the majority of real systems at lower cost and complexity.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3 — Delivery Semantics &amp; Transactions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At-most-once, at-least-once, exactly-once — what each requires</a:t>
            </a:r>
          </a:p>
          <a:p>
            <a:r>
              <a:t> Transactions and the consume-process-produce loop</a:t>
            </a:r>
          </a:p>
          <a:p>
            <a:r>
              <a:rPr>
                <a:latin typeface="Courier New"/>
              </a:rPr>
              <a:t> read_committed</a:t>
            </a:r>
            <a:r>
              <a:t> vs.</a:t>
            </a:r>
            <a:r>
              <a:rPr>
                <a:latin typeface="Courier New"/>
              </a:rPr>
              <a:t> read_uncommitted</a:t>
            </a:r>
          </a:p>
          <a:p>
            <a:r>
              <a:t> Hands-on: build keyed producers/consumers; a transactional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Delivery Guarantees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messaging system makes one of three promises about how many times a record is</a:t>
            </a:r>
            <a:r>
              <a:t> delivered/processed:</a:t>
            </a:r>
          </a:p>
          <a:p/>
          <a:p/>
          <a:p/>
          <a:p/>
          <a:p/>
          <a:p>
            <a:r>
              <a:t> These aren't a single Kafka setting — they emerge from</a:t>
            </a:r>
            <a:r>
              <a:rPr b="1"/>
              <a:t> producer config + commit timing +</a:t>
            </a:r>
          </a:p>
          <a:p>
            <a:r>
              <a:t> We've already met the first two; this module builds the third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t>Guarantee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Failure mode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At-most-once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 or 1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</a:t>
                      </a:r>
                      <a:r>
                        <a:rPr b="1"/>
                        <a:t>lose</a:t>
                      </a:r>
                      <a:r>
                        <a:t> records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At-least-once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or more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may </a:t>
                      </a:r>
                      <a:r>
                        <a:rPr b="1"/>
                        <a:t>duplicate</a:t>
                      </a:r>
                      <a:r>
                        <a:t> records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Exactly-once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exactly 1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neither loss nor duplication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Already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You've built two of the three, across the last two modules:</a:t>
            </a:r>
          </a:p>
          <a:p>
            <a:r>
              <a:rPr b="1"/>
              <a:t> At-most-once</a:t>
            </a:r>
            <a:r>
              <a:t> — auto-commit</a:t>
            </a:r>
            <a:r>
              <a:rPr i="1"/>
              <a:t> before</a:t>
            </a:r>
            <a:r>
              <a:t> processing → a crash skips records (Lab 03, Ex 2)</a:t>
            </a:r>
          </a:p>
          <a:p>
            <a:r>
              <a:rPr b="1"/>
              <a:t> At-least-once</a:t>
            </a:r>
            <a:r>
              <a:t> —</a:t>
            </a:r>
            <a:r>
              <a:rPr>
                <a:latin typeface="Courier New"/>
              </a:rPr>
              <a:t> acks=all</a:t>
            </a:r>
            <a:r>
              <a:t> + retries + manual commit</a:t>
            </a:r>
            <a:r>
              <a:rPr i="1"/>
              <a:t> after</a:t>
            </a:r>
            <a:r>
              <a:t> processing → no loss, possible</a:t>
            </a:r>
            <a:r>
              <a:t> dups (Lab 02 + Lab 03)</a:t>
            </a:r>
          </a:p>
          <a:p>
            <a:r>
              <a:rPr b="1"/>
              <a:t> Idempotent producer</a:t>
            </a:r>
            <a:r>
              <a:t> — removes duplicates from</a:t>
            </a:r>
            <a:r>
              <a:rPr b="1"/>
              <a:t> producer retries</a:t>
            </a:r>
            <a:r>
              <a:t> (Lab 02, Ex 5)</a:t>
            </a:r>
          </a:p>
          <a:p>
            <a:r>
              <a:t> What's missing: making a whole</a:t>
            </a:r>
            <a:r>
              <a:rPr b="1"/>
              <a:t> consume → process → produce</a:t>
            </a:r>
            <a:r>
              <a:t> step atomic, so the output and</a:t>
            </a:r>
            <a:r>
              <a:t> the input-offset commit either</a:t>
            </a:r>
            <a:r>
              <a:rPr b="1"/>
              <a:t> both</a:t>
            </a:r>
            <a:r>
              <a:t> happen or</a:t>
            </a:r>
            <a:r>
              <a:rPr b="1"/>
              <a:t> neither</a:t>
            </a:r>
            <a:r>
              <a:t> does. That's</a:t>
            </a:r>
            <a:r>
              <a:rPr b="1"/>
              <a:t> transactions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Transactions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stream processor reads from one topic, transforms, and writes to another — then commits its</a:t>
            </a:r>
            <a:r>
              <a:t> read offset. Two writes that must agree:</a:t>
            </a:r>
          </a:p>
          <a:p/>
          <a:p>
            <a:r>
              <a:t> Crash</a:t>
            </a:r>
            <a:r>
              <a:rPr b="1"/>
              <a:t> after</a:t>
            </a:r>
            <a:r>
              <a:t> writing output but</a:t>
            </a:r>
            <a:r>
              <a:rPr b="1"/>
              <a:t> before</a:t>
            </a:r>
            <a:r>
              <a:t> committing the offset → on restart you</a:t>
            </a:r>
            <a:r>
              <a:rPr b="1"/>
              <a:t> re-read and re-write</a:t>
            </a:r>
            <a:r>
              <a:t> →</a:t>
            </a:r>
            <a:r>
              <a:rPr b="1"/>
              <a:t> duplicate output</a:t>
            </a:r>
          </a:p>
          <a:p>
            <a:r>
              <a:t> Crash</a:t>
            </a:r>
            <a:r>
              <a:rPr b="1"/>
              <a:t> after</a:t>
            </a:r>
            <a:r>
              <a:t> committing the offset but</a:t>
            </a:r>
            <a:r>
              <a:rPr b="1"/>
              <a:t> before</a:t>
            </a:r>
            <a:r>
              <a:t> writing →</a:t>
            </a:r>
            <a:r>
              <a:rPr b="1"/>
              <a:t> lost output</a:t>
            </a:r>
          </a:p>
          <a:p>
            <a:r>
              <a:t> Idempotence alone can't fix this — it spans</a:t>
            </a:r>
            <a:r>
              <a:rPr b="1"/>
              <a:t> two different topics/partitions plus an offset</a:t>
            </a:r>
            <a:r>
              <a:t> . You need them to be</a:t>
            </a:r>
            <a:r>
              <a:rPr b="1"/>
              <a:t> one atomic unit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93980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transaction groups</a:t>
            </a:r>
            <a:r>
              <a:rPr b="1"/>
              <a:t> multiple produces across partitions</a:t>
            </a:r>
            <a:r>
              <a:t> </a:t>
            </a:r>
            <a:r>
              <a:rPr i="1"/>
              <a:t> and</a:t>
            </a:r>
            <a:r>
              <a:t> the</a:t>
            </a:r>
            <a:r>
              <a:rPr b="1"/>
              <a:t> consumer offset</a:t>
            </a:r>
            <a:r>
              <a:t> into one all-or-nothing operation.</a:t>
            </a:r>
          </a:p>
          <a:p/>
          <a:p/>
          <a:p>
            <a:r>
              <a:t> Either</a:t>
            </a:r>
            <a:r>
              <a:rPr b="1"/>
              <a:t> everything commits</a:t>
            </a:r>
            <a:r>
              <a:t> (outputs appear, offset advances) or</a:t>
            </a:r>
            <a:r>
              <a:rPr b="1"/>
              <a:t> everything aborts</a:t>
            </a:r>
            <a:r>
              <a:t> (outputs discarded, offset unchanged — safe to retry)</a:t>
            </a:r>
          </a:p>
          <a:p>
            <a:r>
              <a:t> Built on the</a:t>
            </a:r>
            <a:r>
              <a:rPr b="1"/>
              <a:t> idempotent producer</a:t>
            </a:r>
            <a:r>
              <a:t> (transactions require it)</a:t>
            </a:r>
          </a:p>
          <a:p>
            <a:r>
              <a:t> Enables</a:t>
            </a:r>
            <a:r>
              <a:rPr b="1"/>
              <a:t> exactly-once processing</a:t>
            </a:r>
            <a:r>
              <a:t> for consume-process-produce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1180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Transactions need a stable</a:t>
            </a:r>
          </a:p>
          <a:p>
            <a:r>
              <a:rPr i="1" b="1"/>
              <a:t> transactional.id</a:t>
            </a:r>
            <a:r>
              <a:t> — the producer's durable identity across</a:t>
            </a:r>
            <a:r>
              <a:t> restarts.</a:t>
            </a:r>
          </a:p>
          <a:p/>
          <a:p/>
          <a:p/>
          <a:p>
            <a:r>
              <a:t> It lets Kafka</a:t>
            </a:r>
            <a:r>
              <a:rPr b="1"/>
              <a:t> fence</a:t>
            </a:r>
            <a:r>
              <a:t> a previous (possibly zombie) instance with the same id — the old one</a:t>
            </a:r>
            <a:r>
              <a:t> can no longer commit, so a hung-then-recovered process can't corrupt output</a:t>
            </a:r>
          </a:p>
          <a:p>
            <a:r>
              <a:t> Must be</a:t>
            </a:r>
            <a:r>
              <a:rPr b="1"/>
              <a:t> stable per logical processor</a:t>
            </a:r>
            <a:r>
              <a:t> and</a:t>
            </a:r>
            <a:r>
              <a:rPr b="1"/>
              <a:t> unique per instance</a:t>
            </a:r>
            <a:r>
              <a:t> in a parallel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196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Consume-Process-Produce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canonical exactly-once pattern, end to end:</a:t>
            </a:r>
          </a:p>
          <a:p/>
          <a:p/>
          <a:p/>
          <a:p/>
          <a:p/>
          <a:p/>
          <a:p/>
          <a:p>
            <a:r>
              <a:t> The consumer runs with</a:t>
            </a:r>
          </a:p>
          <a:p>
            <a:r>
              <a:rPr i="1" b="1"/>
              <a:t> enable.auto.commit=false</a:t>
            </a:r>
            <a:r>
              <a:t> — offsets are committed</a:t>
            </a:r>
            <a:r>
              <a:rPr b="1"/>
              <a:t> only via the</a:t>
            </a:r>
          </a:p>
          <a:p>
            <a:r>
              <a:t> Output records and the input-offset advance are now</a:t>
            </a:r>
            <a:r>
              <a:rPr b="1"/>
              <a:t> one atomic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3774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Consumer Side: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Transactions on the write side only deliver exactly-once if the</a:t>
            </a:r>
            <a:r>
              <a:rPr b="1"/>
              <a:t> reader</a:t>
            </a:r>
            <a:r>
              <a:t> agrees to ignore</a:t>
            </a:r>
            <a:r>
              <a:t> uncommitted/aborted data.</a:t>
            </a:r>
          </a:p>
          <a:p/>
          <a:p/>
          <a:p/>
          <a:p/>
          <a:p/>
          <a:p/>
          <a:p/>
          <a:p>
            <a:r>
              <a:rPr>
                <a:latin typeface="Courier New"/>
              </a:rPr>
              <a:t> read_committed</a:t>
            </a:r>
            <a:r>
              <a:t> readers</a:t>
            </a:r>
            <a:r>
              <a:rPr b="1"/>
              <a:t> never see aborted output</a:t>
            </a:r>
            <a:r>
              <a:t> and won't read past an open transaction</a:t>
            </a:r>
            <a:r>
              <a:t> on that partition until it resolves</a:t>
            </a:r>
          </a:p>
          <a:p>
            <a:r>
              <a:t> Exactly-once end to end =</a:t>
            </a:r>
            <a:r>
              <a:rPr b="1"/>
              <a:t> transactional producer 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108833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7744" y="3108960"/>
          <a:ext cx="891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read_uncommitted` (default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all</a:t>
                      </a:r>
                      <a:r>
                        <a:t> records, including aborted/uncommitted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read_committed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only records from </a:t>
                      </a:r>
                      <a:r>
                        <a:rPr b="1"/>
                        <a:t>committed</a:t>
                      </a:r>
                      <a:r>
                        <a:t> transactions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Marches in Lockstep: How read_committed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>
                <a:latin typeface="Courier New"/>
              </a:rPr>
              <a:t> read_committed</a:t>
            </a:r>
            <a:r>
              <a:t> consumer relies on transaction markers the broker writes into the log.</a:t>
            </a:r>
          </a:p>
          <a:p/>
          <a:p/>
          <a:p>
            <a:r>
              <a:t> The broker adds</a:t>
            </a:r>
            <a:r>
              <a:rPr b="1"/>
              <a:t> commit/abort markers</a:t>
            </a:r>
            <a:r>
              <a:t> ; the consumer uses them to filter</a:t>
            </a:r>
          </a:p>
          <a:p>
            <a:r>
              <a:t> An</a:t>
            </a:r>
            <a:r>
              <a:rPr b="1"/>
              <a:t> open</a:t>
            </a:r>
            <a:r>
              <a:t> transaction holds the reader at the</a:t>
            </a:r>
            <a:r>
              <a:rPr b="1"/>
              <a:t> Last Stable Offset</a:t>
            </a:r>
            <a:r>
              <a:t> until it commits or</a:t>
            </a:r>
            <a:r>
              <a:t> aborts — a stuck transaction can add latency (a reason to keep transactions short)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6801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Exactly-Once Really Means (and Doesn't)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 precise — this is the most over-claimed term in streaming.</a:t>
            </a:r>
          </a:p>
          <a:p>
            <a:r>
              <a:t> ✅</a:t>
            </a:r>
            <a:r>
              <a:rPr b="1"/>
              <a:t> Exactly-once</a:t>
            </a:r>
            <a:r>
              <a:t> within Kafka: read Kafka → process → write Kafka, atomically,</a:t>
            </a:r>
            <a:r>
              <a:t> is achievable with transactions</a:t>
            </a:r>
          </a:p>
          <a:p>
            <a:r>
              <a:t> ❌ It is</a:t>
            </a:r>
            <a:r>
              <a:rPr b="1"/>
              <a:t> not</a:t>
            </a:r>
            <a:r>
              <a:t> end-to-end across systems Kafka can't transact with — a write to an external</a:t>
            </a:r>
            <a:r>
              <a:t> DB or a REST call is</a:t>
            </a:r>
            <a:r>
              <a:rPr b="1"/>
              <a:t> not</a:t>
            </a:r>
            <a:r>
              <a:t> in the Kafka transaction</a:t>
            </a:r>
          </a:p>
          <a:p>
            <a:r>
              <a:t> For external side effects you still need</a:t>
            </a:r>
            <a:r>
              <a:rPr b="1"/>
              <a:t> idempotent writes</a:t>
            </a:r>
            <a:r>
              <a:t> (upserts, dedupe keys) — the</a:t>
            </a:r>
            <a:r>
              <a:t> effectively-once pattern</a:t>
            </a:r>
          </a:p>
          <a:p>
            <a:r>
              <a:t> Exactly-once has a</a:t>
            </a:r>
            <a:r>
              <a:rPr b="1"/>
              <a:t> throughput cost</a:t>
            </a:r>
            <a:r>
              <a:t> ; use it where correctness demands, not everywhere</a:t>
            </a:r>
          </a:p>
          <a:p>
            <a:r>
              <a:rPr b="1"/>
              <a:t> Rule of thumb:</a:t>
            </a:r>
            <a:r>
              <a:t> exactly-once</a:t>
            </a:r>
            <a:r>
              <a:rPr i="1"/>
              <a:t> inside</a:t>
            </a:r>
            <a:r>
              <a:t> Kafka = transactions; exactly-once</a:t>
            </a:r>
            <a:r>
              <a:rPr i="1"/>
              <a:t> touching the</a:t>
            </a:r>
            <a:r>
              <a:t> = idempotent side effects.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Guarantee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Match the guarantee to the data — don't pay for more than you need.</a:t>
            </a:r>
          </a:p>
          <a:p>
            <a:r>
              <a:rPr b="1"/>
              <a:t> At-most-once</a:t>
            </a:r>
            <a:r>
              <a:t> — high-volume telemetry/logs where a dropped record is harmless</a:t>
            </a:r>
          </a:p>
          <a:p>
            <a:r>
              <a:rPr b="1"/>
              <a:t> At-least-once + idempotent processing</a:t>
            </a:r>
            <a:r>
              <a:t> — the</a:t>
            </a:r>
            <a:r>
              <a:rPr b="1"/>
              <a:t> default</a:t>
            </a:r>
            <a:r>
              <a:t> for most pipelines; simple and robust</a:t>
            </a:r>
          </a:p>
          <a:p>
            <a:r>
              <a:rPr b="1"/>
              <a:t> Exactly-once (transactions)</a:t>
            </a:r>
            <a:r>
              <a:t> — money, counts, ledgers, dedup-critical enrichment — where a</a:t>
            </a:r>
            <a:r>
              <a:t> duplicate or a gap is unacceptable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83"/>
            <a:ext cx="100076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Delivery guarantees come from</a:t>
            </a:r>
            <a:r>
              <a:rPr b="1"/>
              <a:t> producer config + commit timing + transactions</a:t>
            </a:r>
            <a:r>
              <a:t> , not one knob</a:t>
            </a:r>
          </a:p>
          <a:p>
            <a:r>
              <a:rPr b="1"/>
              <a:t> At-least-once + idempotent processing</a:t>
            </a:r>
            <a:r>
              <a:t> is the sensible default;</a:t>
            </a:r>
            <a:r>
              <a:rPr b="1"/>
              <a:t> exactly-once</a:t>
            </a:r>
            <a:r>
              <a:t> is for</a:t>
            </a:r>
            <a:r>
              <a:t> correctness-critical flows</a:t>
            </a:r>
          </a:p>
          <a:p>
            <a:r>
              <a:rPr b="1"/>
              <a:t> Transactions</a:t>
            </a:r>
            <a:r>
              <a:t> make</a:t>
            </a:r>
            <a:r>
              <a:rPr i="1"/>
              <a:t> consume → process → produce</a:t>
            </a:r>
            <a:r>
              <a:t> atomic: outputs</a:t>
            </a:r>
            <a:r>
              <a:rPr b="1"/>
              <a:t> and</a:t>
            </a:r>
            <a:r>
              <a:t> the offset commit</a:t>
            </a:r>
            <a:r>
              <a:t> succeed or abort together</a:t>
            </a:r>
          </a:p>
          <a:p>
            <a:r>
              <a:t> Require a stable</a:t>
            </a:r>
          </a:p>
          <a:p>
            <a:r>
              <a:rPr i="1" b="1"/>
              <a:t> transactional.id</a:t>
            </a:r>
            <a:r>
              <a:t> (enables zombie fencing) and the</a:t>
            </a:r>
            <a:r>
              <a:rPr b="1"/>
              <a:t> idempotent producer</a:t>
            </a:r>
          </a:p>
          <a:p>
            <a:r>
              <a:t> Readers must use</a:t>
            </a:r>
          </a:p>
          <a:p>
            <a:r>
              <a:rPr i="1" b="1"/>
              <a:t> read_committed</a:t>
            </a:r>
            <a:r>
              <a:t> to get the guarantee; it filters aborted/uncommitted data</a:t>
            </a:r>
          </a:p>
          <a:p>
            <a:r>
              <a:t> Exactly-once is</a:t>
            </a:r>
            <a:r>
              <a:rPr b="1"/>
              <a:t> within Kafka</a:t>
            </a:r>
            <a:r>
              <a:t> ; crossing to external systems needs</a:t>
            </a:r>
            <a:r>
              <a:rPr b="1"/>
              <a:t> idempotent side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04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You'll build the full pattern:</a:t>
            </a:r>
          </a:p>
          <a:p>
            <a:r>
              <a:t> A</a:t>
            </a:r>
            <a:r>
              <a:rPr b="1"/>
              <a:t> transactional producer</a:t>
            </a:r>
            <a:r>
              <a:t> and a</a:t>
            </a:r>
            <a:r>
              <a:rPr>
                <a:latin typeface="Courier New"/>
              </a:rPr>
              <a:t> read_committed</a:t>
            </a:r>
            <a:r>
              <a:t> consumer</a:t>
            </a:r>
          </a:p>
          <a:p>
            <a:r>
              <a:t> A</a:t>
            </a:r>
            <a:r>
              <a:rPr b="1"/>
              <a:t> consume-process-produce</a:t>
            </a:r>
            <a:r>
              <a:t> pipeline that commits offsets</a:t>
            </a:r>
            <a:r>
              <a:rPr i="1"/>
              <a:t> inside</a:t>
            </a:r>
            <a:r>
              <a:t> the transaction</a:t>
            </a:r>
          </a:p>
          <a:p>
            <a:r>
              <a:t> Force an</a:t>
            </a:r>
            <a:r>
              <a:rPr b="1"/>
              <a:t> abort</a:t>
            </a:r>
            <a:r>
              <a:t> and prove a</a:t>
            </a:r>
            <a:r>
              <a:rPr>
                <a:latin typeface="Courier New"/>
              </a:rPr>
              <a:t> read_committed</a:t>
            </a:r>
            <a:r>
              <a:t> reader never sees the aborted records</a:t>
            </a:r>
          </a:p>
          <a:p>
            <a:r>
              <a:rPr i="1"/>
              <a:t>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