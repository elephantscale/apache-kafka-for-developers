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"Bootstrap" only means the first contact point. The client immediately pulls full cluster metadata and then talks directly to the right leader for each partition.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If anyone in the room has run Kafka before, this slide is where they nod. Ask who has operated a ZooKeeper ensemble — the war stories sell the next slide better than you can.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KRaft has been production-ready for a while; Kafka 4 is the release that makes it the</a:t>
            </a:r>
            <a:r>
              <a:rPr i="1"/>
              <a:t> only</a:t>
            </a:r>
            <a:r>
              <a:t> option. If a student has ZooKeeper-era experience, this is the headline change.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Point at the lab's docker-compose —</a:t>
            </a:r>
            <a:r>
              <a:rPr>
                <a:latin typeface="Courier New"/>
              </a:rPr>
              <a:t> KAFKA_PROCESS_ROLES: "broker,controller"</a:t>
            </a:r>
            <a:r>
              <a:t> is this slide made real.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Intro 3 — Kafka 4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Kafka cluster: brokers and the controller</a:t>
            </a:r>
          </a:p>
          <a:p>
            <a:r>
              <a:rPr b="1"/>
              <a:t> KRaft</a:t>
            </a:r>
            <a:r>
              <a:t> — ZooKeeper-free Kafka (what changed and why it matters)</a:t>
            </a:r>
          </a:p>
          <a:p>
            <a:r>
              <a:t> The Kafka ecosystem: Connect, Streams, Schema Registry, Flink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Cluster: A Set of Brokers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Kafka cluster is just a group of</a:t>
            </a:r>
            <a:r>
              <a:rPr b="1" dirty="0"/>
              <a:t> brokers</a:t>
            </a:r>
            <a:r>
              <a:rPr dirty="0"/>
              <a:t> that coordinate to serve one set of topics.</a:t>
            </a:r>
          </a:p>
          <a:p>
            <a:r>
              <a:rPr dirty="0"/>
              <a:t> Each</a:t>
            </a:r>
            <a:r>
              <a:rPr b="1" dirty="0"/>
              <a:t> broker</a:t>
            </a:r>
            <a:r>
              <a:rPr dirty="0"/>
              <a:t> stores some partitions and handles reads/writes for the partitions it leads</a:t>
            </a:r>
          </a:p>
          <a:p>
            <a:r>
              <a:rPr dirty="0"/>
              <a:t> Partitions and their replicas are</a:t>
            </a:r>
            <a:r>
              <a:rPr b="1" dirty="0"/>
              <a:t> spread across brokers</a:t>
            </a:r>
            <a:r>
              <a:rPr dirty="0"/>
              <a:t> for scale and fault tolerance</a:t>
            </a:r>
          </a:p>
          <a:p>
            <a:r>
              <a:rPr dirty="0"/>
              <a:t> Clients connect to any broker (the</a:t>
            </a:r>
            <a:r>
              <a:rPr b="1" dirty="0"/>
              <a:t> bootstrap server</a:t>
            </a:r>
            <a:r>
              <a:rPr dirty="0"/>
              <a:t> ) and discover the rest automatically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Our lab cluster is exactly this:</a:t>
            </a:r>
            <a:r>
              <a:rPr b="1" dirty="0"/>
              <a:t> three brokers</a:t>
            </a:r>
            <a:r>
              <a:rPr dirty="0"/>
              <a:t> as Docker containers.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8" y="4509985"/>
            <a:ext cx="9386888" cy="2020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Someone Has to Be in Charge: The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cluster needs coordination — who leads each partition, which brokers are alive, what topics exist. That job is the</a:t>
            </a:r>
            <a:r>
              <a:rPr b="1"/>
              <a:t> controller</a:t>
            </a:r>
            <a:r>
              <a:t> .</a:t>
            </a:r>
          </a:p>
          <a:p>
            <a:r>
              <a:t> The</a:t>
            </a:r>
            <a:r>
              <a:rPr b="1"/>
              <a:t> controller</a:t>
            </a:r>
            <a:r>
              <a:t> manages cluster</a:t>
            </a:r>
            <a:r>
              <a:rPr b="1"/>
              <a:t> metadata</a:t>
            </a:r>
            <a:r>
              <a:t> : topic/partition configuration, replica assignments, and</a:t>
            </a:r>
            <a:r>
              <a:rPr b="1"/>
              <a:t> leader election</a:t>
            </a:r>
            <a:r>
              <a:t> when a broker fails</a:t>
            </a:r>
          </a:p>
          <a:p>
            <a:r>
              <a:t> It's not a separate machine — one of the brokers</a:t>
            </a:r>
            <a:r>
              <a:rPr b="1"/>
              <a:t> acts as</a:t>
            </a:r>
            <a:r>
              <a:t> the controller</a:t>
            </a:r>
          </a:p>
          <a:p>
            <a:r>
              <a:t> If the controller broker fails, another takes over</a:t>
            </a:r>
          </a:p>
          <a:p>
            <a:r>
              <a:t> The interesting question is:</a:t>
            </a:r>
            <a:r>
              <a:rPr b="1"/>
              <a:t> where is that metadata stored, and how is it kept</a:t>
            </a:r>
            <a:r>
              <a:t> That's exactly what changed in Kafka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Old World: Kafka + ZooKeeper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For most of Kafka's history, that metadata lived in a</a:t>
            </a:r>
            <a:r>
              <a:rPr b="1" dirty="0"/>
              <a:t> separate system: Apache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</a:t>
            </a:r>
            <a:r>
              <a:rPr dirty="0" err="1"/>
              <a:t>ZooKeeper</a:t>
            </a:r>
            <a:r>
              <a:rPr dirty="0"/>
              <a:t> held cluster state; brokers held the data</a:t>
            </a:r>
          </a:p>
          <a:p>
            <a:r>
              <a:rPr b="1" dirty="0"/>
              <a:t> Two distributed systems</a:t>
            </a:r>
            <a:r>
              <a:rPr dirty="0"/>
              <a:t> to install, configure, secure, monitor, and upgrade</a:t>
            </a:r>
          </a:p>
          <a:p>
            <a:r>
              <a:rPr dirty="0"/>
              <a:t> Metadata had a scaling ceiling — very large clusters strained </a:t>
            </a:r>
            <a:r>
              <a:rPr dirty="0" err="1"/>
              <a:t>ZooKeeper</a:t>
            </a:r>
            <a:endParaRPr dirty="0"/>
          </a:p>
          <a:p>
            <a:r>
              <a:rPr dirty="0"/>
              <a:t> Failover and metadata propagation could be slow</a:t>
            </a:r>
          </a:p>
          <a:p>
            <a:r>
              <a:rPr b="1" dirty="0"/>
              <a:t> It worked for years — but it was a second system to operate, and a bottleneck.</a:t>
            </a:r>
          </a:p>
          <a:p>
            <a:endParaRPr b="1" dirty="0"/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867648"/>
            <a:ext cx="9093200" cy="1854200"/>
          </a:xfrm>
          <a:prstGeom prst="rect">
            <a:avLst/>
          </a:prstGeom>
        </p:spPr>
      </p:pic>
      <p:pic>
        <p:nvPicPr>
          <p:cNvPr id="6" name="Picture 5" descr="zookee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6608147"/>
            <a:ext cx="2496312" cy="1461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4: KRaft — ZooKeeper Is Gone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Apache Kafka 4 removes </a:t>
            </a:r>
            <a:r>
              <a:rPr b="1" dirty="0" err="1"/>
              <a:t>ZooKeeper</a:t>
            </a:r>
            <a:r>
              <a:rPr b="1" dirty="0"/>
              <a:t> entirely.</a:t>
            </a:r>
            <a:r>
              <a:rPr dirty="0"/>
              <a:t> Kafka now manages its own metadata using a built-in consensus protocol called</a:t>
            </a:r>
            <a:r>
              <a:rPr b="1" dirty="0"/>
              <a:t> </a:t>
            </a:r>
            <a:r>
              <a:rPr b="1" dirty="0" err="1"/>
              <a:t>KRaft</a:t>
            </a:r>
            <a:r>
              <a:rPr dirty="0"/>
              <a:t> (</a:t>
            </a:r>
            <a:r>
              <a:rPr b="1" dirty="0"/>
              <a:t> K</a:t>
            </a:r>
            <a:r>
              <a:rPr dirty="0"/>
              <a:t> </a:t>
            </a:r>
            <a:r>
              <a:rPr dirty="0" err="1"/>
              <a:t>afka</a:t>
            </a:r>
            <a:r>
              <a:rPr b="1" dirty="0"/>
              <a:t> Raft</a:t>
            </a:r>
            <a:r>
              <a:rPr dirty="0"/>
              <a:t> ).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Metadata is stored</a:t>
            </a:r>
            <a:r>
              <a:rPr b="1" dirty="0"/>
              <a:t> in Kafka itself</a:t>
            </a:r>
            <a:r>
              <a:rPr dirty="0"/>
              <a:t> , in an internal metadata log</a:t>
            </a:r>
          </a:p>
          <a:p>
            <a:r>
              <a:rPr dirty="0"/>
              <a:t> A quorum of</a:t>
            </a:r>
            <a:r>
              <a:rPr b="1" dirty="0"/>
              <a:t> controllers</a:t>
            </a:r>
            <a:r>
              <a:rPr dirty="0"/>
              <a:t> agrees on that log using the</a:t>
            </a:r>
            <a:r>
              <a:rPr b="1" dirty="0"/>
              <a:t> Raft</a:t>
            </a:r>
            <a:r>
              <a:rPr dirty="0"/>
              <a:t> consensus algorithm</a:t>
            </a:r>
          </a:p>
          <a:p>
            <a:r>
              <a:rPr b="1" dirty="0"/>
              <a:t> One system to run</a:t>
            </a:r>
            <a:r>
              <a:rPr dirty="0"/>
              <a:t> , not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" y="2396331"/>
            <a:ext cx="8178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as a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elegant part: Kafka applies its</a:t>
            </a:r>
            <a:r>
              <a:rPr b="1"/>
              <a:t> own</a:t>
            </a:r>
            <a:r>
              <a:t> core idea — the log — to metadata.</a:t>
            </a:r>
          </a:p>
          <a:p>
            <a:r>
              <a:t> Cluster metadata is itself an</a:t>
            </a:r>
            <a:r>
              <a:rPr b="1"/>
              <a:t> append-only log</a:t>
            </a:r>
            <a:r>
              <a:t> (the metadata topic)</a:t>
            </a:r>
          </a:p>
          <a:p>
            <a:r>
              <a:t> Controllers form a</a:t>
            </a:r>
            <a:r>
              <a:rPr b="1"/>
              <a:t> Raft quorum</a:t>
            </a:r>
            <a:r>
              <a:t> and agree on the order of metadata changes</a:t>
            </a:r>
          </a:p>
          <a:p>
            <a:r>
              <a:t> Brokers</a:t>
            </a:r>
            <a:r>
              <a:rPr b="1"/>
              <a:t> subscribe</a:t>
            </a:r>
            <a:r>
              <a:t> to the metadata log and stay up to date, just like a consumer</a:t>
            </a:r>
          </a:p>
          <a:p>
            <a:r>
              <a:t> The</a:t>
            </a:r>
            <a:r>
              <a:rPr b="1"/>
              <a:t> active controller</a:t>
            </a:r>
            <a:r>
              <a:t> is the quorum leader; if it fails, the quorum elects a new one</a:t>
            </a:r>
          </a:p>
          <a:p>
            <a:r>
              <a:t> This is why KRaft scales: propagating metadata is now the same fast, log-based mechanism Kafka already does extremely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Roles: Broker and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 </a:t>
            </a:r>
            <a:r>
              <a:rPr dirty="0" err="1"/>
              <a:t>KRaft</a:t>
            </a:r>
            <a:r>
              <a:rPr dirty="0"/>
              <a:t>, a node runs in one (or both) of two</a:t>
            </a:r>
            <a:r>
              <a:rPr b="1" dirty="0"/>
              <a:t> process roles</a:t>
            </a:r>
            <a:r>
              <a:rPr dirty="0"/>
              <a:t> :</a:t>
            </a:r>
          </a:p>
          <a:p>
            <a:r>
              <a:rPr b="1" dirty="0"/>
              <a:t> broker</a:t>
            </a:r>
            <a:r>
              <a:rPr dirty="0"/>
              <a:t> — stores partition data, serves producers and consumers</a:t>
            </a:r>
          </a:p>
          <a:p>
            <a:r>
              <a:rPr b="1" dirty="0"/>
              <a:t> controller</a:t>
            </a:r>
            <a:r>
              <a:rPr dirty="0"/>
              <a:t> — participates in the metadata quorum</a:t>
            </a:r>
          </a:p>
          <a:p>
            <a:r>
              <a:rPr dirty="0"/>
              <a:t> Two common topologies: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b="1" dirty="0"/>
              <a:t> Dedicated</a:t>
            </a:r>
            <a:r>
              <a:rPr dirty="0"/>
              <a:t> controllers are typical for large production clusters</a:t>
            </a:r>
          </a:p>
          <a:p>
            <a:r>
              <a:rPr b="1" dirty="0"/>
              <a:t> Combined</a:t>
            </a:r>
            <a:r>
              <a:rPr dirty="0"/>
              <a:t> </a:t>
            </a:r>
            <a:r>
              <a:rPr dirty="0" err="1"/>
              <a:t>broker+controller</a:t>
            </a:r>
            <a:r>
              <a:rPr dirty="0"/>
              <a:t> nodes are simpler for development — exactly our lab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6651"/>
            <a:ext cx="9372600" cy="118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KRaft Matters — Even to 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won't administer the controller quorum, but KRaft changes things you'll feel:</a:t>
            </a:r>
          </a:p>
          <a:p>
            <a:r>
              <a:rPr b="1"/>
              <a:t> Simpler environments</a:t>
            </a:r>
            <a:r>
              <a:t> — one system to spin up; our whole cluster is a single compose file</a:t>
            </a:r>
          </a:p>
          <a:p>
            <a:r>
              <a:rPr b="1"/>
              <a:t> Faster recovery</a:t>
            </a:r>
            <a:r>
              <a:t> — leader election and metadata failover are quicker</a:t>
            </a:r>
          </a:p>
          <a:p>
            <a:r>
              <a:rPr b="1"/>
              <a:t> Higher scale</a:t>
            </a:r>
            <a:r>
              <a:t> — clusters support far more partitions than the ZooKeeper era</a:t>
            </a:r>
          </a:p>
          <a:p>
            <a:r>
              <a:rPr b="1"/>
              <a:t> Current knowledge</a:t>
            </a:r>
            <a:r>
              <a:t> — you learn today's architecture, not legacy patterns to unlearn</a:t>
            </a:r>
          </a:p>
          <a:p>
            <a:r>
              <a:rPr b="1"/>
              <a:t> Practical upshot:</a:t>
            </a:r>
            <a:r>
              <a:t> if you read an older tutorial that mentions ZooKeeper,</a:t>
            </a:r>
            <a:r>
              <a:rPr>
                <a:latin typeface="Courier New"/>
              </a:rPr>
              <a:t> zookeeper.connect</a:t>
            </a:r>
            <a:r>
              <a:t> , or</a:t>
            </a:r>
            <a:r>
              <a:rPr>
                <a:latin typeface="Courier New"/>
              </a:rPr>
              <a:t> --zookeeper</a:t>
            </a:r>
            <a:r>
              <a:t> flags — it's out of date. Kafka 4 is ZooKeeper-free.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Is More Than Brokers: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brokers are the core, but real systems use the surrounding</a:t>
            </a:r>
            <a:r>
              <a:rPr b="1" dirty="0"/>
              <a:t> ecosystem</a:t>
            </a:r>
            <a:r>
              <a:rPr dirty="0"/>
              <a:t> — which is where developers spend most of their time.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dirty="0"/>
              <a:t> Each of these is a module later in the course. Here's the one-line orientation for 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2502"/>
            <a:ext cx="9372600" cy="16136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Move data in and out of Kafka without writing code.</a:t>
            </a:r>
          </a:p>
          <a:p>
            <a:r>
              <a:t> A framework of ready-made</a:t>
            </a:r>
            <a:r>
              <a:rPr b="1"/>
              <a:t> connectors</a:t>
            </a:r>
            <a:r>
              <a:t> : databases, object storage (S3), search, and more</a:t>
            </a:r>
          </a:p>
          <a:p>
            <a:r>
              <a:rPr b="1"/>
              <a:t> Source</a:t>
            </a:r>
            <a:r>
              <a:t> connectors pull data</a:t>
            </a:r>
            <a:r>
              <a:rPr i="1"/>
              <a:t> into</a:t>
            </a:r>
            <a:r>
              <a:t> Kafka;</a:t>
            </a:r>
            <a:r>
              <a:rPr b="1"/>
              <a:t> sink</a:t>
            </a:r>
            <a:r>
              <a:t> connectors push data</a:t>
            </a:r>
            <a:r>
              <a:rPr i="1"/>
              <a:t> out</a:t>
            </a:r>
          </a:p>
          <a:p>
            <a:r>
              <a:t> Configuration-driven — you submit JSON, not a custom app</a:t>
            </a:r>
          </a:p>
          <a:p>
            <a:r>
              <a:t> Handles scaling, offset tracking, retries, and dead-letter queues for you</a:t>
            </a:r>
          </a:p>
          <a:p>
            <a:r>
              <a:rPr i="1"/>
              <a:t> → Module 9 (Kafka Connect), with a hands-on source + sink + DLQ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Keep producers and consumers agreeing on the shape of the data.</a:t>
            </a:r>
          </a:p>
          <a:p>
            <a:r>
              <a:t> A service that stores</a:t>
            </a:r>
            <a:r>
              <a:rPr b="1"/>
              <a:t> schemas</a:t>
            </a:r>
            <a:r>
              <a:t> (Avro, Protobuf, JSON Schema) and hands out schema IDs</a:t>
            </a:r>
          </a:p>
          <a:p>
            <a:r>
              <a:t> Producers and consumers serialize/deserialize against a registered schema</a:t>
            </a:r>
          </a:p>
          <a:p>
            <a:r>
              <a:t> Enforces</a:t>
            </a:r>
            <a:r>
              <a:rPr b="1"/>
              <a:t> compatibility</a:t>
            </a:r>
            <a:r>
              <a:t> as schemas evolve, so a producer change can't silently break consumers</a:t>
            </a:r>
          </a:p>
          <a:p>
            <a:r>
              <a:t> Turns "what's in this topic?" into a governed</a:t>
            </a:r>
            <a:r>
              <a:rPr b="1"/>
              <a:t> data contract</a:t>
            </a:r>
          </a:p>
          <a:p>
            <a:r>
              <a:rPr i="1"/>
              <a:t> → Module 8 (Serialization &amp; Schema Registry), with an Avro evolve-a-schema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Processing: Kafka Streams &amp; Flink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Transform, join, and aggregate streams as they flow — not in a nightly batch.</a:t>
            </a:r>
          </a:p>
          <a:p>
            <a:r>
              <a:rPr b="1"/>
              <a:t> Kafka Streams</a:t>
            </a:r>
            <a:r>
              <a:t> — a Java library for stateful processing built into applications (</a:t>
            </a:r>
            <a:r>
              <a:rPr>
                <a:latin typeface="Courier New"/>
              </a:rPr>
              <a:t> KStream</a:t>
            </a:r>
            <a:r>
              <a:t> /</a:t>
            </a:r>
            <a:r>
              <a:rPr>
                <a:latin typeface="Courier New"/>
              </a:rPr>
              <a:t> KTable</a:t>
            </a:r>
            <a:r>
              <a:t> , joins, windows, exactly-once)</a:t>
            </a:r>
          </a:p>
          <a:p>
            <a:r>
              <a:rPr b="1"/>
              <a:t> Apache Flink (Flink SQL)</a:t>
            </a:r>
            <a:r>
              <a:t> — a powerful stream processor; write continuous queries in</a:t>
            </a:r>
            <a:r>
              <a:rPr b="1"/>
              <a:t> SQL</a:t>
            </a:r>
            <a:r>
              <a:t> , the modern successor to KSQL/ksqlDB</a:t>
            </a:r>
          </a:p>
          <a:p>
            <a:r>
              <a:t> Both read from Kafka topics, process continuously, and write results back to Kafka</a:t>
            </a:r>
          </a:p>
          <a:p>
            <a:r>
              <a:rPr i="1"/>
              <a:t> → Module 10 (Stream Processing), with a stateful streaming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Full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b="1" dirty="0"/>
              <a:t> </a:t>
            </a:r>
            <a:r>
              <a:rPr b="1" dirty="0" err="1"/>
              <a:t>KRaft</a:t>
            </a:r>
            <a:r>
              <a:rPr dirty="0"/>
              <a:t> at the core: one system, no </a:t>
            </a:r>
            <a:r>
              <a:rPr dirty="0" err="1"/>
              <a:t>ZooKeeper</a:t>
            </a:r>
            <a:endParaRPr dirty="0"/>
          </a:p>
          <a:p>
            <a:r>
              <a:rPr b="1" dirty="0"/>
              <a:t> Connect</a:t>
            </a:r>
            <a:r>
              <a:rPr dirty="0"/>
              <a:t> at the edges,</a:t>
            </a:r>
            <a:r>
              <a:rPr b="1" dirty="0"/>
              <a:t> Schema Registry</a:t>
            </a:r>
            <a:r>
              <a:rPr dirty="0"/>
              <a:t> for contracts,</a:t>
            </a:r>
            <a:r>
              <a:rPr b="1" dirty="0"/>
              <a:t> Streams/Flink</a:t>
            </a:r>
            <a:r>
              <a:rPr dirty="0"/>
              <a:t> for processing</a:t>
            </a:r>
          </a:p>
          <a:p>
            <a:r>
              <a:rPr dirty="0"/>
              <a:t> You'll write code against all of it — starting hands-on in the</a:t>
            </a:r>
            <a:r>
              <a:rPr b="1" dirty="0"/>
              <a:t>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0637"/>
            <a:ext cx="9372600" cy="20488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cluster is</a:t>
            </a:r>
            <a:r>
              <a:rPr b="1"/>
              <a:t> brokers</a:t>
            </a:r>
            <a:r>
              <a:t> (data) plus a</a:t>
            </a:r>
            <a:r>
              <a:rPr b="1"/>
              <a:t> controller</a:t>
            </a:r>
            <a:r>
              <a:t> role (metadata + leader election)</a:t>
            </a:r>
          </a:p>
          <a:p>
            <a:r>
              <a:rPr b="1"/>
              <a:t> Kafka 4 removed ZooKeeper</a:t>
            </a:r>
            <a:r>
              <a:t> ; metadata now lives in Kafka via the</a:t>
            </a:r>
            <a:r>
              <a:rPr b="1"/>
              <a:t> KRaft</a:t>
            </a:r>
            <a:r>
              <a:t> (Raft) quorum</a:t>
            </a:r>
          </a:p>
          <a:p>
            <a:r>
              <a:t> Metadata is itself a</a:t>
            </a:r>
            <a:r>
              <a:rPr b="1"/>
              <a:t> log</a:t>
            </a:r>
            <a:r>
              <a:t> — the same idea that powers topics</a:t>
            </a:r>
          </a:p>
          <a:p>
            <a:r>
              <a:t> Nodes run as</a:t>
            </a:r>
            <a:r>
              <a:rPr b="1"/>
              <a:t> broker</a:t>
            </a:r>
            <a:r>
              <a:t> ,</a:t>
            </a:r>
            <a:r>
              <a:rPr b="1"/>
              <a:t> controller</a:t>
            </a:r>
            <a:r>
              <a:t> , or (in dev)</a:t>
            </a:r>
            <a:r>
              <a:rPr b="1"/>
              <a:t> both</a:t>
            </a:r>
            <a:r>
              <a:t> — our lab uses 3 combined nodes</a:t>
            </a:r>
          </a:p>
          <a:p>
            <a:r>
              <a:t> The</a:t>
            </a:r>
            <a:r>
              <a:rPr b="1"/>
              <a:t> ecosystem</a:t>
            </a:r>
            <a:r>
              <a:t> — Connect, Schema Registry, Streams/Flink — is where developers live; each has its own module</a:t>
            </a:r>
          </a:p>
          <a:p>
            <a:r>
              <a:t> Next:</a:t>
            </a:r>
            <a:r>
              <a:rPr b="1"/>
              <a:t> hands-on</a:t>
            </a:r>
            <a:r>
              <a:t> — start the cluster, create topics, produce and consume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1446</Words>
  <Application>Microsoft Macintosh PowerPoint</Application>
  <PresentationFormat>Custom</PresentationFormat>
  <Paragraphs>147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Intro 3 — Kafka 4 Architecture</vt:lpstr>
      <vt:lpstr>Agenda</vt:lpstr>
      <vt:lpstr>The Cluster: A Set of Brokers</vt:lpstr>
      <vt:lpstr>Someone Has to Be in Charge: The Controller</vt:lpstr>
      <vt:lpstr>The Old World: Kafka + ZooKeeper</vt:lpstr>
      <vt:lpstr>Kafka 4: KRaft — ZooKeeper Is Gone</vt:lpstr>
      <vt:lpstr>Metadata as a Log</vt:lpstr>
      <vt:lpstr>Roles: Broker and Controller</vt:lpstr>
      <vt:lpstr>Why KRaft Matters — Even to Developers</vt:lpstr>
      <vt:lpstr>Kafka Is More Than Brokers: The Ecosystem</vt:lpstr>
      <vt:lpstr>Kafka Connect</vt:lpstr>
      <vt:lpstr>Schema Registry</vt:lpstr>
      <vt:lpstr>Stream Processing: Kafka Streams &amp; Flink</vt:lpstr>
      <vt:lpstr>The Full Picture</vt:lpstr>
      <vt:lpstr>Summary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2026-08-03T05:30:11Z</dcterms:modified>
</cp:coreProperties>
</file>