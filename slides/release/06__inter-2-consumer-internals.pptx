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35" autoAdjust="0"/>
  </p:normalViewPr>
  <p:slideViewPr>
    <p:cSldViewPr>
      <p:cViewPr varScale="1">
        <p:scale>
          <a:sx n="99" d="100"/>
          <a:sy n="99" d="100"/>
        </p:scale>
        <p:origin x="3024" y="184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Contrast with a push/queue system. Pull means a slow consumer can't be overwhelmed — it just polls less often. Back-pressure is built in.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pain the next-gen protocol targets. If students have run Kafka consumers in anger, "rebalance storms" will be a familiar horror story.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Correct the common half-truth here: KIP-848 is GA in Kafka 4, but a consumer does</a:t>
            </a:r>
            <a:r>
              <a:rPr i="1"/>
              <a:t> not</a:t>
            </a:r>
            <a:r>
              <a:t> get it automatically —</a:t>
            </a:r>
            <a:r>
              <a:rPr>
                <a:latin typeface="Courier New"/>
              </a:rPr>
              <a:t> group.protocol</a:t>
            </a:r>
            <a:r>
              <a:t> still defaults to</a:t>
            </a:r>
            <a:r>
              <a:rPr>
                <a:latin typeface="Courier New"/>
              </a:rPr>
              <a:t> classic</a:t>
            </a:r>
            <a:r>
              <a:t> . The broker side must also allow it (</a:t>
            </a:r>
            <a:r>
              <a:rPr>
                <a:latin typeface="Courier New"/>
              </a:rPr>
              <a:t> group.coordinator.rebalance.protocols</a:t>
            </a:r>
            <a:r>
              <a:t> ); our lab compose already enables</a:t>
            </a:r>
            <a:r>
              <a:rPr>
                <a:latin typeface="Courier New"/>
              </a:rPr>
              <a:t> classic,consumer</a:t>
            </a:r>
            <a:r>
              <a:t> , so students can try the flip. Caveat worth stating: a group must be either all-classic or all-consumer during migration, and</a:t>
            </a:r>
            <a:r>
              <a:rPr>
                <a:latin typeface="Courier New"/>
              </a:rPr>
              <a:t> onPartitionsLost</a:t>
            </a:r>
            <a:r>
              <a:t> semantics differ slightly — which is why teams migrate deliberately rather than flipping in place.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ordering "process then commit" vs "commit then process" IS the difference between at-least-once and at-most-once. Draw it explicitly.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Replay is a superpower unique to log-based systems. Reprocess after a bug fix, backfill a new downstream, rebuild state — all just "seek and read again."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There is a third callback,</a:t>
            </a:r>
            <a:r>
              <a:rPr>
                <a:latin typeface="Courier New"/>
              </a:rPr>
              <a:t> onPartitionsLost</a:t>
            </a:r>
            <a:r>
              <a:t> , for when partitions are taken away</a:t>
            </a:r>
            <a:r>
              <a:rPr i="1"/>
              <a:t> without</a:t>
            </a:r>
            <a:r>
              <a:t> a clean revoke (the consumer was already fenced out). Don't commit there — you no longer own them. The default implementation just calls</a:t>
            </a:r>
            <a:r>
              <a:rPr>
                <a:latin typeface="Courier New"/>
              </a:rPr>
              <a:t> onPartitionsRevoked</a:t>
            </a:r>
            <a:r>
              <a:t> , which is usually wrong.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checklist is basically Lab 03. Each item maps to an exercise or a "what this shows" callout.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Intermediate 2 — Consumer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Consumer groups and rebalancing; the</a:t>
            </a:r>
            <a:r>
              <a:rPr b="1"/>
              <a:t> KIP-848</a:t>
            </a:r>
            <a:r>
              <a:t> next-gen protocol</a:t>
            </a:r>
          </a:p>
          <a:p>
            <a:r>
              <a:t> Offset management: auto vs. manual commit;</a:t>
            </a:r>
            <a:r>
              <a:rPr>
                <a:latin typeface="Courier New"/>
              </a:rPr>
              <a:t> __consumer_offsets</a:t>
            </a:r>
          </a:p>
          <a:p>
            <a:r>
              <a:t> Consumer positioning, seeking, and replay</a:t>
            </a:r>
          </a:p>
          <a:p>
            <a:r>
              <a:t> Handling rebalances and building resilient consumers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Consumer's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consumer is a</a:t>
            </a:r>
            <a:r>
              <a:rPr b="1" dirty="0"/>
              <a:t> poll loop</a:t>
            </a:r>
            <a:r>
              <a:rPr dirty="0"/>
              <a:t> . It asks the broker for records, processes them, and records how far it got.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The consumer</a:t>
            </a:r>
            <a:r>
              <a:rPr b="1" dirty="0"/>
              <a:t> pulls</a:t>
            </a:r>
            <a:r>
              <a:rPr dirty="0"/>
              <a:t> — the broker never pushes. You control the pace.</a:t>
            </a:r>
          </a:p>
          <a:p>
            <a:r>
              <a:rPr dirty="0"/>
              <a:t> Three things to get right:</a:t>
            </a:r>
            <a:r>
              <a:rPr b="1" dirty="0"/>
              <a:t> group membership</a:t>
            </a:r>
            <a:r>
              <a:rPr dirty="0"/>
              <a:t> ,</a:t>
            </a:r>
            <a:r>
              <a:rPr b="1" dirty="0"/>
              <a:t> offset commits</a:t>
            </a:r>
            <a:r>
              <a:rPr dirty="0"/>
              <a:t> , and</a:t>
            </a:r>
            <a:r>
              <a:rPr b="1" dirty="0"/>
              <a:t> positioning</a:t>
            </a:r>
          </a:p>
          <a:p>
            <a:r>
              <a:rPr dirty="0"/>
              <a:t> Everything in this module hangs off that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08" y="2472531"/>
            <a:ext cx="9235257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Groups, Recapped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From the intro: consumers sharing a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group.id</a:t>
            </a:r>
            <a:r>
              <a:rPr dirty="0"/>
              <a:t> form a</a:t>
            </a:r>
            <a:r>
              <a:rPr b="1" dirty="0"/>
              <a:t> group</a:t>
            </a:r>
            <a:r>
              <a:rPr dirty="0"/>
              <a:t> , and Kafka assigns each partition to</a:t>
            </a:r>
            <a:r>
              <a:rPr b="1" dirty="0"/>
              <a:t> exactly one</a:t>
            </a:r>
            <a:r>
              <a:rPr dirty="0"/>
              <a:t> consumer in it.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Scales reads: more consumers → fewer partitions each → more throughput</a:t>
            </a:r>
          </a:p>
          <a:p>
            <a:r>
              <a:rPr dirty="0"/>
              <a:t> Ceiling = partition count (extra consumers sit idle)</a:t>
            </a:r>
          </a:p>
          <a:p>
            <a:r>
              <a:rPr dirty="0"/>
              <a:t> Every</a:t>
            </a:r>
            <a:r>
              <a:rPr b="1" dirty="0"/>
              <a:t> group</a:t>
            </a:r>
            <a:r>
              <a:rPr dirty="0"/>
              <a:t> reads the whole topic independently (pub/sub)</a:t>
            </a:r>
          </a:p>
          <a:p>
            <a:r>
              <a:rPr dirty="0"/>
              <a:t> Now the internals: how assignment changes, and how progress is remembered.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466720"/>
            <a:ext cx="8178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When group membership changes, Kafka</a:t>
            </a:r>
            <a:r>
              <a:rPr b="1" dirty="0"/>
              <a:t> rebalances</a:t>
            </a:r>
            <a:r>
              <a:rPr dirty="0"/>
              <a:t> — it recomputes which consumer owns which partition.</a:t>
            </a:r>
          </a:p>
          <a:p>
            <a:r>
              <a:rPr dirty="0"/>
              <a:t> Triggered when:</a:t>
            </a:r>
          </a:p>
          <a:p>
            <a:r>
              <a:rPr dirty="0"/>
              <a:t> A consumer</a:t>
            </a:r>
            <a:r>
              <a:rPr b="1" dirty="0"/>
              <a:t> joins</a:t>
            </a:r>
            <a:r>
              <a:rPr dirty="0"/>
              <a:t> (you scaled up)</a:t>
            </a:r>
          </a:p>
          <a:p>
            <a:r>
              <a:rPr dirty="0"/>
              <a:t> A consumer</a:t>
            </a:r>
            <a:r>
              <a:rPr b="1" dirty="0"/>
              <a:t> leaves</a:t>
            </a:r>
            <a:r>
              <a:rPr dirty="0"/>
              <a:t> or</a:t>
            </a:r>
            <a:r>
              <a:rPr b="1" dirty="0"/>
              <a:t> crashes</a:t>
            </a:r>
            <a:r>
              <a:rPr dirty="0"/>
              <a:t> (misses heartbeats)</a:t>
            </a:r>
          </a:p>
          <a:p>
            <a:r>
              <a:rPr dirty="0"/>
              <a:t> Partitions are</a:t>
            </a:r>
            <a:r>
              <a:rPr b="1" dirty="0"/>
              <a:t> added</a:t>
            </a:r>
            <a:r>
              <a:rPr dirty="0"/>
              <a:t> to a subscribed topic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Rebalancing keeps the group working through failures — but it isn't free, as the next slide shows.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42" y="3846376"/>
            <a:ext cx="9290812" cy="12078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 of a Rebalance (Stop-the-World)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the classic protocol, a rebalance is</a:t>
            </a:r>
            <a:r>
              <a:rPr b="1"/>
              <a:t> stop-the-world</a:t>
            </a:r>
            <a:r>
              <a:t> : every consumer stops, gives up its partitions, waits for the new assignment, then resumes.</a:t>
            </a:r>
          </a:p>
          <a:p>
            <a:r>
              <a:t> All consumers pause processing during the rebalance → a</a:t>
            </a:r>
            <a:r>
              <a:rPr b="1"/>
              <a:t> latency/throughput hit</a:t>
            </a:r>
          </a:p>
          <a:p>
            <a:r>
              <a:t> Frequent rebalances (flapping consumers, long processing pauses) = a real problem</a:t>
            </a:r>
          </a:p>
          <a:p>
            <a:r>
              <a:t> Common causes: processing a batch takes longer than</a:t>
            </a:r>
            <a:r>
              <a:rPr>
                <a:latin typeface="Courier New"/>
              </a:rPr>
              <a:t> max.poll.interval.ms</a:t>
            </a:r>
            <a:r>
              <a:t> , so the broker thinks the consumer is dead and rebalances it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KIP-848 — The Next-Gen Rebalance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Kafka's newer</a:t>
            </a:r>
            <a:r>
              <a:rPr b="1"/>
              <a:t> consumer group protocol (KIP-848)</a:t>
            </a:r>
            <a:r>
              <a:t> makes rebalancing</a:t>
            </a:r>
            <a:r>
              <a:rPr b="1"/>
              <a:t> incremental and</a:t>
            </a:r>
            <a:r>
              <a:t> instead of stop-the-world.</a:t>
            </a:r>
          </a:p>
          <a:p>
            <a:r>
              <a:t> The</a:t>
            </a:r>
            <a:r>
              <a:rPr b="1"/>
              <a:t> broker coordinator</a:t>
            </a:r>
            <a:r>
              <a:t> computes assignments; consumers no longer all sync through a leader in lockstep</a:t>
            </a:r>
          </a:p>
          <a:p>
            <a:r>
              <a:t> Rebalances are</a:t>
            </a:r>
            <a:r>
              <a:rPr b="1"/>
              <a:t> incremental</a:t>
            </a:r>
            <a:r>
              <a:t> — only the partitions that must move are revoked, the rest keep flowing</a:t>
            </a:r>
          </a:p>
          <a:p>
            <a:r>
              <a:t> Less "everybody stop"; smoother scaling and recovery</a:t>
            </a:r>
          </a:p>
          <a:p>
            <a:r>
              <a:rPr b="1"/>
              <a:t> It is GA in Kafka 4 — but opt-in per consumer.</a:t>
            </a:r>
            <a:r>
              <a:t> The default is still the classic protocol:</a:t>
            </a:r>
          </a:p>
          <a:p>
            <a:endParaRPr/>
          </a:p>
          <a:p>
            <a:r>
              <a:rPr b="1"/>
              <a:t> For you as a developer:</a:t>
            </a:r>
            <a:r>
              <a:t> your poll loop, your commits, your rebalance listener — all unchanged. You flip one config and the group coordinates differently underneath.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6783"/>
            <a:ext cx="8915400" cy="359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Offsets: Where the Group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offset commit</a:t>
            </a:r>
            <a:r>
              <a:t> records "this group has processed up to here" for a partition. That's how a restarted or rebalanced consumer knows where to resume.</a:t>
            </a:r>
          </a:p>
          <a:p>
            <a:r>
              <a:t> Committed offsets are stored</a:t>
            </a:r>
            <a:r>
              <a:rPr b="1"/>
              <a:t> in Kafka itself</a:t>
            </a:r>
            <a:r>
              <a:t> — the internal topic</a:t>
            </a:r>
            <a:r>
              <a:rPr>
                <a:latin typeface="Courier New"/>
              </a:rPr>
              <a:t> __consumer_offsets</a:t>
            </a:r>
          </a:p>
          <a:p>
            <a:r>
              <a:t> Committing is</a:t>
            </a:r>
            <a:r>
              <a:rPr b="1"/>
              <a:t> per-group, per-partition</a:t>
            </a:r>
          </a:p>
          <a:p>
            <a:r>
              <a:t> On startup/reassignment, a consumer</a:t>
            </a:r>
            <a:r>
              <a:rPr b="1"/>
              <a:t> resumes from the last committed offset</a:t>
            </a:r>
          </a:p>
          <a:p>
            <a:endParaRPr b="1"/>
          </a:p>
          <a:p>
            <a:r>
              <a:t> The critical question:</a:t>
            </a:r>
            <a:r>
              <a:rPr b="1"/>
              <a:t> when</a:t>
            </a:r>
            <a:r>
              <a:t> do you commit? That choice determines your delivery semantics.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87884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Auto-Commit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default: the consumer commits offsets</a:t>
            </a:r>
            <a:r>
              <a:rPr b="1"/>
              <a:t> automatically</a:t>
            </a:r>
            <a:r>
              <a:t> on a timer.</a:t>
            </a:r>
          </a:p>
          <a:p>
            <a:endParaRPr/>
          </a:p>
          <a:p>
            <a:endParaRPr/>
          </a:p>
          <a:p>
            <a:endParaRPr/>
          </a:p>
          <a:p>
            <a:r>
              <a:rPr b="1"/>
              <a:t> Simple</a:t>
            </a:r>
            <a:r>
              <a:t> — you never call commit yourself</a:t>
            </a:r>
          </a:p>
          <a:p>
            <a:r>
              <a:t> But it commits on a</a:t>
            </a:r>
            <a:r>
              <a:rPr b="1"/>
              <a:t> timer</a:t>
            </a:r>
            <a:r>
              <a:t> , not on "I actually finished processing"</a:t>
            </a:r>
          </a:p>
          <a:p>
            <a:r>
              <a:t> Risk: offsets get committed for records you</a:t>
            </a:r>
            <a:r>
              <a:rPr b="1"/>
              <a:t> polled but hadn't finished</a:t>
            </a:r>
            <a:r>
              <a:t> when you crashed → those records are</a:t>
            </a:r>
            <a:r>
              <a:rPr b="1"/>
              <a:t> skipped</a:t>
            </a:r>
            <a:r>
              <a:t> on restart (</a:t>
            </a:r>
            <a:r>
              <a:rPr b="1"/>
              <a:t> at-most-once</a:t>
            </a:r>
            <a:r>
              <a:t> -ish, possible data loss)</a:t>
            </a:r>
          </a:p>
          <a:p>
            <a:r>
              <a:rPr b="1"/>
              <a:t> Fine for:</a:t>
            </a:r>
            <a:r>
              <a:t> metrics, logs, best-effort.</a:t>
            </a:r>
            <a:r>
              <a:rPr b="1"/>
              <a:t> Not fine for:</a:t>
            </a:r>
            <a:r>
              <a:t> anything you can't lose.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1310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Take control: turn auto-commit off and commit</a:t>
            </a:r>
            <a:r>
              <a:rPr b="1"/>
              <a:t> after</a:t>
            </a:r>
            <a:r>
              <a:t> you've processed a batch.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Commit</a:t>
            </a:r>
            <a:r>
              <a:rPr b="1"/>
              <a:t> after</a:t>
            </a:r>
            <a:r>
              <a:t> processing → a crash before commit means you</a:t>
            </a:r>
            <a:r>
              <a:rPr b="1"/>
              <a:t> re-process</a:t>
            </a:r>
            <a:r>
              <a:t> , not skip</a:t>
            </a:r>
          </a:p>
          <a:p>
            <a:r>
              <a:t> This is</a:t>
            </a:r>
            <a:r>
              <a:rPr b="1"/>
              <a:t> at-least-once</a:t>
            </a:r>
            <a:r>
              <a:t> : no loss, but possible</a:t>
            </a:r>
            <a:r>
              <a:rPr b="1"/>
              <a:t> duplicates</a:t>
            </a:r>
            <a:r>
              <a:t> → make processing idempotent</a:t>
            </a:r>
          </a:p>
          <a:p>
            <a:r>
              <a:rPr>
                <a:latin typeface="Courier New"/>
              </a:rPr>
              <a:t> commitSync()</a:t>
            </a:r>
            <a:r>
              <a:t> blocks and retries (safe, slower);</a:t>
            </a:r>
            <a:r>
              <a:rPr>
                <a:latin typeface="Courier New"/>
              </a:rPr>
              <a:t> commitAsync()</a:t>
            </a:r>
            <a:r>
              <a:t> returns immediately (faster, best-effort) — a common pattern is async in the loop, sync on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312"/>
            <a:ext cx="8915400" cy="24830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Semantics Are a Commit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same poll loop gives different guarantees depending on</a:t>
            </a:r>
            <a:r>
              <a:rPr b="1"/>
              <a:t> when you commit</a:t>
            </a:r>
            <a:r>
              <a:t> 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Most real consumers want</a:t>
            </a:r>
            <a:r>
              <a:rPr b="1"/>
              <a:t> at-least-once + idempotent processing</a:t>
            </a:r>
          </a:p>
          <a:p>
            <a:r>
              <a:t> True</a:t>
            </a:r>
            <a:r>
              <a:rPr b="1"/>
              <a:t> exactly-once</a:t>
            </a:r>
            <a:r>
              <a:t> across consume→process→produce needs</a:t>
            </a:r>
            <a:r>
              <a:rPr b="1"/>
              <a:t> transactions</a:t>
            </a:r>
            <a:r>
              <a:t> — next big module</a:t>
            </a:r>
          </a:p>
          <a:p>
            <a:r>
              <a:rPr b="1"/>
              <a:t> The consumer's delivery guarantee is not a setting; it's where you 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Order of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crash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commit </a:t>
                      </a:r>
                      <a:r>
                        <a:rPr b="1"/>
                        <a:t>then</a:t>
                      </a:r>
                      <a:r>
                        <a:t>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at-most-once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processed records may be lost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process </a:t>
                      </a:r>
                      <a:r>
                        <a:rPr b="1"/>
                        <a:t>then</a:t>
                      </a:r>
                      <a:r>
                        <a:t>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at-least-once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records may be re-processed (dups)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process + commit </a:t>
                      </a:r>
                      <a:r>
                        <a:rPr b="1"/>
                        <a:t>atomically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exactly-once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needs transactions (Module 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Seek and Replay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Committed offsets are just the default start point — you can</a:t>
            </a:r>
            <a:r>
              <a:rPr b="1"/>
              <a:t> seek</a:t>
            </a:r>
            <a:r>
              <a:t> a consumer to any position and re-read.</a:t>
            </a:r>
          </a:p>
          <a:p>
            <a:r>
              <a:rPr>
                <a:latin typeface="Courier New"/>
              </a:rPr>
              <a:t> seekToBeginning(partitions)</a:t>
            </a:r>
            <a:r>
              <a:t> — reprocess the whole retained log</a:t>
            </a:r>
          </a:p>
          <a:p>
            <a:r>
              <a:rPr>
                <a:latin typeface="Courier New"/>
              </a:rPr>
              <a:t> seek(topicPartition, offset)</a:t>
            </a:r>
            <a:r>
              <a:t> — jump to a specific offset</a:t>
            </a:r>
          </a:p>
          <a:p>
            <a:r>
              <a:rPr>
                <a:latin typeface="Courier New"/>
              </a:rPr>
              <a:t> offsetsForTimes(...)</a:t>
            </a:r>
            <a:r>
              <a:t> — seek by</a:t>
            </a:r>
            <a:r>
              <a:rPr b="1"/>
              <a:t> timestamp</a:t>
            </a:r>
            <a:r>
              <a:t> : "give me everything since 09:00"</a:t>
            </a:r>
          </a:p>
          <a:p>
            <a:r>
              <a:rPr>
                <a:latin typeface="Courier New"/>
              </a:rPr>
              <a:t> auto.offset.reset</a:t>
            </a:r>
            <a:r>
              <a:t> (</a:t>
            </a:r>
            <a:r>
              <a:rPr>
                <a:latin typeface="Courier New"/>
              </a:rPr>
              <a:t> earliest</a:t>
            </a:r>
            <a:r>
              <a:t> /</a:t>
            </a:r>
            <a:r>
              <a:rPr>
                <a:latin typeface="Courier New"/>
              </a:rPr>
              <a:t> latest</a:t>
            </a:r>
            <a:r>
              <a:t> ) — what a</a:t>
            </a:r>
            <a:r>
              <a:rPr b="1"/>
              <a:t> brand-new</a:t>
            </a:r>
            <a:r>
              <a:t> group does with no commits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" y="5291931"/>
            <a:ext cx="8915400" cy="891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Rebalances in Your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When partitions are taken from or given to your consumer, you often need to</a:t>
            </a:r>
            <a:r>
              <a:rPr b="1" dirty="0"/>
              <a:t> do something</a:t>
            </a:r>
            <a:r>
              <a:rPr dirty="0"/>
              <a:t> — commit final offsets, flush buffers, load state. That's the</a:t>
            </a:r>
            <a:r>
              <a:rPr b="1" dirty="0"/>
              <a:t> rebalance listener</a:t>
            </a:r>
            <a:r>
              <a:rPr dirty="0"/>
              <a:t> 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onPartitionsRevoked</a:t>
            </a:r>
            <a:r>
              <a:rPr dirty="0"/>
              <a:t> fires</a:t>
            </a:r>
            <a:r>
              <a:rPr b="1" dirty="0"/>
              <a:t> before</a:t>
            </a:r>
            <a:r>
              <a:rPr dirty="0"/>
              <a:t> you lose partitions → your chance to commit/clean up</a:t>
            </a:r>
          </a:p>
          <a:p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onPartitionsAssigned</a:t>
            </a:r>
            <a:r>
              <a:rPr dirty="0"/>
              <a:t> fires when you gain partitions → seed state, log the assignment</a:t>
            </a:r>
          </a:p>
          <a:p>
            <a:r>
              <a:rPr dirty="0"/>
              <a:t> Committing on revoke is how you avoid re-processing a big chunk after every rebalance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2472531"/>
            <a:ext cx="8915400" cy="25117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Resilient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checklist for consumers that survive real production:</a:t>
            </a:r>
          </a:p>
          <a:p>
            <a:r>
              <a:rPr b="1"/>
              <a:t> Manual commit after processing</a:t>
            </a:r>
            <a:r>
              <a:t> — control your delivery semantics</a:t>
            </a:r>
          </a:p>
          <a:p>
            <a:r>
              <a:rPr b="1"/>
              <a:t> Idempotent processing</a:t>
            </a:r>
            <a:r>
              <a:t> — because at-least-once means occasional duplicates</a:t>
            </a:r>
          </a:p>
          <a:p>
            <a:r>
              <a:rPr b="1"/>
              <a:t> Commit in</a:t>
            </a:r>
            <a:r>
              <a:t> — don't lose progress across rebalances</a:t>
            </a:r>
          </a:p>
          <a:p>
            <a:r>
              <a:rPr b="1"/>
              <a:t> Keep</a:t>
            </a:r>
            <a:r>
              <a:t> — long processing between polls looks like a dead consumer; tune</a:t>
            </a:r>
            <a:r>
              <a:rPr>
                <a:latin typeface="Courier New"/>
              </a:rPr>
              <a:t> max.poll.interval.ms</a:t>
            </a:r>
            <a:r>
              <a:t> or lower</a:t>
            </a:r>
            <a:r>
              <a:rPr>
                <a:latin typeface="Courier New"/>
              </a:rPr>
              <a:t> max.poll.records</a:t>
            </a:r>
            <a:r>
              <a:t> to shrink the batch</a:t>
            </a:r>
          </a:p>
          <a:p>
            <a:r>
              <a:rPr b="1"/>
              <a:t> Expect empty polls and exceptions</a:t>
            </a:r>
            <a:r>
              <a:t> —</a:t>
            </a:r>
            <a:r>
              <a:rPr>
                <a:latin typeface="Courier New"/>
              </a:rPr>
              <a:t> poll()</a:t>
            </a:r>
            <a:r>
              <a:t> often returns zero records; deserialization and auth failures arrive as</a:t>
            </a:r>
            <a:r>
              <a:rPr b="1"/>
              <a:t> thrown exceptions</a:t>
            </a:r>
            <a:r>
              <a:t> , so wrap the loop</a:t>
            </a:r>
          </a:p>
          <a:p>
            <a:r>
              <a:rPr b="1"/>
              <a:t> Close cleanly</a:t>
            </a:r>
            <a:r>
              <a:t> —</a:t>
            </a:r>
            <a:r>
              <a:rPr>
                <a:latin typeface="Courier New"/>
              </a:rPr>
              <a:t> consumer.close()</a:t>
            </a:r>
            <a:r>
              <a:t> (or try-with-resources) triggers a graceful leave, so the group rebalances immediately instead of waiting out the session timeout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consumer is a</a:t>
            </a:r>
            <a:r>
              <a:rPr b="1"/>
              <a:t> poll loop</a:t>
            </a:r>
            <a:r>
              <a:t> ; the group shares partitions and</a:t>
            </a:r>
            <a:r>
              <a:rPr b="1"/>
              <a:t> rebalances</a:t>
            </a:r>
            <a:r>
              <a:t> on membership change</a:t>
            </a:r>
          </a:p>
          <a:p>
            <a:r>
              <a:rPr b="1"/>
              <a:t> KIP-848</a:t>
            </a:r>
            <a:r>
              <a:t> makes rebalances incremental and broker-coordinated — GA in Kafka 4, opt in with</a:t>
            </a:r>
            <a:r>
              <a:rPr>
                <a:latin typeface="Courier New"/>
              </a:rPr>
              <a:t> group.protocol=consumer</a:t>
            </a:r>
            <a:r>
              <a:t> ; your code is unchanged</a:t>
            </a:r>
          </a:p>
          <a:p>
            <a:r>
              <a:rPr b="1"/>
              <a:t> Offsets</a:t>
            </a:r>
            <a:r>
              <a:t> live in</a:t>
            </a:r>
            <a:r>
              <a:rPr>
                <a:latin typeface="Courier New"/>
              </a:rPr>
              <a:t> __consumer_offsets</a:t>
            </a:r>
            <a:r>
              <a:t> ; a consumer resumes from the last committed offset</a:t>
            </a:r>
          </a:p>
          <a:p>
            <a:r>
              <a:rPr b="1"/>
              <a:t> Auto-commit</a:t>
            </a:r>
            <a:r>
              <a:t> (timer) risks loss;</a:t>
            </a:r>
            <a:r>
              <a:rPr b="1"/>
              <a:t> manual commit after processing</a:t>
            </a:r>
            <a:r>
              <a:t> gives at-least-once</a:t>
            </a:r>
          </a:p>
          <a:p>
            <a:r>
              <a:t> Delivery semantics =</a:t>
            </a:r>
            <a:r>
              <a:rPr b="1"/>
              <a:t> where you put</a:t>
            </a:r>
            <a:r>
              <a:t> ; exactly-once needs transactions (Module 7)</a:t>
            </a:r>
          </a:p>
          <a:p>
            <a:r>
              <a:rPr b="1"/>
              <a:t> Seek</a:t>
            </a:r>
            <a:r>
              <a:t> enables replay;</a:t>
            </a:r>
            <a:r>
              <a:rPr b="1"/>
              <a:t> rebalance listeners</a:t>
            </a:r>
            <a:r>
              <a:t> + a resilience checklist make consumers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378293</TotalTime>
  <Words>1672</Words>
  <Application>Microsoft Macintosh PowerPoint</Application>
  <PresentationFormat>Custom</PresentationFormat>
  <Paragraphs>156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Intermediate 2 — Consumer Internals</vt:lpstr>
      <vt:lpstr>Agenda</vt:lpstr>
      <vt:lpstr>The Consumer's Job</vt:lpstr>
      <vt:lpstr>Consumer Groups, Recapped</vt:lpstr>
      <vt:lpstr>Rebalancing</vt:lpstr>
      <vt:lpstr>The Cost of a Rebalance (Stop-the-World)</vt:lpstr>
      <vt:lpstr>KIP-848 — The Next-Gen Rebalance Protocol</vt:lpstr>
      <vt:lpstr>Offsets: Where the Group Left Off</vt:lpstr>
      <vt:lpstr>Auto-Commit</vt:lpstr>
      <vt:lpstr>Manual Commit</vt:lpstr>
      <vt:lpstr>Delivery Semantics Are a Commit Choice</vt:lpstr>
      <vt:lpstr>Positioning: Seek and Replay</vt:lpstr>
      <vt:lpstr>Handling Rebalances in Your Code</vt:lpstr>
      <vt:lpstr>Building a Resilient Consumer</vt:lpstr>
      <vt:lpstr>Summary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2026-08-05T00:28:46Z</dcterms:modified>
</cp:coreProperties>
</file>