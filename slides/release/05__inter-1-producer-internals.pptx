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whole module is a walk down this pipeline. Anchor every config we discuss to a stage on this diagram.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In the Java client the serializer is</a:t>
            </a:r>
            <a:r>
              <a:rPr i="1"/>
              <a:t> configuration</a:t>
            </a:r>
            <a:r>
              <a:t> , not something you call —</a:t>
            </a:r>
            <a:r>
              <a:rPr>
                <a:latin typeface="Courier New"/>
              </a:rPr>
              <a:t> StringSerializer</a:t>
            </a:r>
            <a:r>
              <a:t> turns each String into UTF-8 bytes on the way out. The JSON here is a hand-built string; Module 8 replaces it with schema-backed Avro serdes. Note the type parameters</a:t>
            </a:r>
            <a:r>
              <a:rPr>
                <a:latin typeface="Courier New"/>
              </a:rPr>
              <a:t> &lt;String, String&gt;</a:t>
            </a:r>
            <a:r>
              <a:t> must match the configured serializers.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 frequent production bug: needing per-customer order but producing keyless "for balance," then being surprised events interleave. The key</a:t>
            </a:r>
            <a:r>
              <a:rPr i="1"/>
              <a:t> is</a:t>
            </a:r>
            <a:r>
              <a:t> the ordering contract.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Compression reduces network, disk,</a:t>
            </a:r>
            <a:r>
              <a:rPr i="1"/>
              <a:t> and</a:t>
            </a:r>
            <a:r>
              <a:t> replication traffic. On JSON especially the ratio is large. It costs producer CPU, but zstd/lz4 make that cheap.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durability contract. We only introduce it here; Module 11 (Reliability) makes it hands-on. The point for producers:</a:t>
            </a:r>
            <a:r>
              <a:rPr>
                <a:latin typeface="Courier New"/>
              </a:rPr>
              <a:t> acks=all</a:t>
            </a:r>
            <a:r>
              <a:t> alone isn't enough without the ISR floor.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Worth stating plainly — most students assume they must opt in. On Kafka 4 the trap is the reverse: setting</a:t>
            </a:r>
            <a:r>
              <a:rPr>
                <a:latin typeface="Courier New"/>
              </a:rPr>
              <a:t> acks=1</a:t>
            </a:r>
            <a:r>
              <a:t> or</a:t>
            </a:r>
            <a:r>
              <a:rPr>
                <a:latin typeface="Courier New"/>
              </a:rPr>
              <a:t> max.in.flight &gt; 5</a:t>
            </a:r>
            <a:r>
              <a:t> </a:t>
            </a:r>
            <a:r>
              <a:rPr i="1"/>
              <a:t> silently conflicts</a:t>
            </a:r>
            <a:r>
              <a:t> with idempotence and the client will refuse to start (or, in older versions, quietly disable it).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Draw the boundary clearly. Idempotence is a producer-local guarantee. End-to-end exactly-once (read-process-write) is the transactions story, which is the next big module.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callback is how you learn the final partition/offset — or the error.</a:t>
            </a:r>
            <a:r>
              <a:rPr>
                <a:latin typeface="Courier New"/>
              </a:rPr>
              <a:t> send()</a:t>
            </a:r>
            <a:r>
              <a:t> also returns a</a:t>
            </a:r>
            <a:r>
              <a:rPr>
                <a:latin typeface="Courier New"/>
              </a:rPr>
              <a:t> Future&lt;RecordMetadata&gt;</a:t>
            </a:r>
            <a:r>
              <a:t> ; calling</a:t>
            </a:r>
            <a:r>
              <a:rPr>
                <a:latin typeface="Courier New"/>
              </a:rPr>
              <a:t> .get()</a:t>
            </a:r>
            <a:r>
              <a:t> on it makes the send synchronous, which is simple but kills throughput. Prefer the callback.</a:t>
            </a:r>
            <a:r>
              <a:rPr>
                <a:latin typeface="Courier New"/>
              </a:rPr>
              <a:t> flush()</a:t>
            </a:r>
            <a:r>
              <a:t> blocks until everything in flight is delivered; try-with-resources</a:t>
            </a:r>
            <a:r>
              <a:rPr>
                <a:latin typeface="Courier New"/>
              </a:rPr>
              <a:t> close()</a:t>
            </a:r>
            <a:r>
              <a:t> flushes too, so the explicit</a:t>
            </a:r>
            <a:r>
              <a:rPr>
                <a:latin typeface="Courier New"/>
              </a:rPr>
              <a:t> flush()</a:t>
            </a:r>
            <a:r>
              <a:t> here is belt-and-braces (and the place to check for errors before exiting).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1 — Producer Internals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Serialization; the partitioner (key-based vs. round-robin)</a:t>
            </a:r>
          </a:p>
          <a:p>
            <a:r>
              <a:t> Batching,</a:t>
            </a:r>
            <a:r>
              <a:rPr>
                <a:latin typeface="Courier New"/>
              </a:rPr>
              <a:t> linger.ms</a:t>
            </a:r>
            <a:r>
              <a:t> ,</a:t>
            </a:r>
            <a:r>
              <a:rPr>
                <a:latin typeface="Courier New"/>
              </a:rPr>
              <a:t> batch.size</a:t>
            </a:r>
            <a:r>
              <a:t> , compression</a:t>
            </a:r>
          </a:p>
          <a:p>
            <a:r>
              <a:t> Acknowledgements:</a:t>
            </a:r>
            <a:r>
              <a:rPr>
                <a:latin typeface="Courier New"/>
              </a:rPr>
              <a:t> acks=0/1/all</a:t>
            </a:r>
            <a:r>
              <a:t> and durability trade-offs</a:t>
            </a:r>
          </a:p>
          <a:p>
            <a:r>
              <a:t> Idempotent producers — exactly-once at the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Producer Actually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producer.send(...)</a:t>
            </a:r>
            <a:r>
              <a:t> looks instant, but a lot happens between your call and a</a:t>
            </a:r>
            <a:r>
              <a:t> durable record on a broker.</a:t>
            </a:r>
          </a:p>
          <a:p/>
          <a:p/>
          <a:p/>
          <a:p/>
          <a:p/>
          <a:p>
            <a:r>
              <a:t> The call is</a:t>
            </a:r>
            <a:r>
              <a:rPr b="1"/>
              <a:t> asynchronous</a:t>
            </a:r>
            <a:r>
              <a:t> — it returns before the broker has the record</a:t>
            </a:r>
          </a:p>
          <a:p>
            <a:r>
              <a:t> Understanding these stages is how you tune for</a:t>
            </a:r>
            <a:r>
              <a:rPr b="1"/>
              <a:t> throughput, latency, and durability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6360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stores</a:t>
            </a:r>
            <a:r>
              <a:rPr b="1"/>
              <a:t> bytes</a:t>
            </a:r>
            <a:r>
              <a:t> . Your keys and values must be turned into bytes on the way in.</a:t>
            </a:r>
          </a:p>
          <a:p>
            <a:r>
              <a:t> The producer needs a</a:t>
            </a:r>
            <a:r>
              <a:rPr b="1"/>
              <a:t> serializer</a:t>
            </a:r>
            <a:r>
              <a:t> for the key and one for the value</a:t>
            </a:r>
          </a:p>
          <a:p>
            <a:r>
              <a:t> Common choices: strings, JSON, and — with the Schema Registry —</a:t>
            </a:r>
            <a:r>
              <a:rPr b="1"/>
              <a:t> Avro / Protobuf</a:t>
            </a:r>
            <a:r>
              <a:t> (Module 8)</a:t>
            </a:r>
          </a:p>
          <a:p>
            <a:r>
              <a:t> Consumers must use a</a:t>
            </a:r>
            <a:r>
              <a:rPr b="1"/>
              <a:t> matching deserializer</a:t>
            </a:r>
            <a:r>
              <a:t> , or they read garbage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8915400" cy="2056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The Partitioner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producer must pick</a:t>
            </a:r>
            <a:r>
              <a:rPr b="1"/>
              <a:t> which partition</a:t>
            </a:r>
            <a:r>
              <a:t> each record goes to. That's the</a:t>
            </a:r>
            <a:r>
              <a:rPr b="1"/>
              <a:t> partitioner</a:t>
            </a:r>
            <a:r>
              <a:t> .</a:t>
            </a:r>
          </a:p>
          <a:p>
            <a:r>
              <a:rPr b="1"/>
              <a:t> Key present</a:t>
            </a:r>
            <a:r>
              <a:t> →</a:t>
            </a:r>
            <a:r>
              <a:rPr>
                <a:latin typeface="Courier New"/>
              </a:rPr>
              <a:t> hash(key) % partitions</a:t>
            </a:r>
            <a:r>
              <a:t> → same key always → same partition (</a:t>
            </a:r>
            <a:r>
              <a:rPr b="1"/>
              <a:t> ordering</a:t>
            </a:r>
            <a:r>
              <a:t> )</a:t>
            </a:r>
          </a:p>
          <a:p>
            <a:r>
              <a:rPr b="1"/>
              <a:t> No key</a:t>
            </a:r>
            <a:r>
              <a:t> → spread across partitions for even load (sticky batching, round-robin-ish)</a:t>
            </a:r>
          </a:p>
          <a:p>
            <a:r>
              <a:t> You can supply a</a:t>
            </a:r>
            <a:r>
              <a:rPr b="1"/>
              <a:t> custom partitioner</a:t>
            </a:r>
            <a:r>
              <a:t> for special routing, but rarely need to</a:t>
            </a:r>
          </a:p>
          <a:p/>
          <a:p/>
          <a:p>
            <a:r>
              <a:rPr b="1"/>
              <a:t> Design rule:</a:t>
            </a:r>
            <a:r>
              <a:t> choose a key when you need per-entity ordering; go keyless for</a:t>
            </a:r>
            <a:r>
              <a:t> maximum spread. This is the single most important producer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9398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Ordering: The Guarantee and Its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guarantees order</a:t>
            </a:r>
            <a:r>
              <a:rPr b="1"/>
              <a:t> within a partition</a:t>
            </a:r>
            <a:r>
              <a:t> , never across partitions.</a:t>
            </a:r>
          </a:p>
          <a:p>
            <a:r>
              <a:t> All records with the same key share a partition → ordered relative to each other</a:t>
            </a:r>
          </a:p>
          <a:p>
            <a:r>
              <a:t> Records with different keys may be in different partitions →</a:t>
            </a:r>
            <a:r>
              <a:rPr b="1"/>
              <a:t> no</a:t>
            </a:r>
            <a:r>
              <a:t> cross-partition order</a:t>
            </a:r>
          </a:p>
          <a:p>
            <a:r>
              <a:t> Pick your key to match your ordering requirement (per user, per order, per device)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9245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Batching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producer does</a:t>
            </a:r>
            <a:r>
              <a:rPr b="1"/>
              <a:t> not</a:t>
            </a:r>
            <a:r>
              <a:t> send one record per request. It</a:t>
            </a:r>
            <a:r>
              <a:rPr b="1"/>
              <a:t> batches</a:t>
            </a:r>
            <a:r>
              <a:t> records per</a:t>
            </a:r>
            <a:r>
              <a:t> partition, which is where its throughput comes from.</a:t>
            </a:r>
          </a:p>
          <a:p>
            <a:r>
              <a:t> Two knobs decide when a batch is sent:</a:t>
            </a:r>
          </a:p>
          <a:p>
            <a:r>
              <a:rPr i="1" b="1"/>
              <a:t> batch.size</a:t>
            </a:r>
          </a:p>
          <a:p>
            <a:r>
              <a:t> — max bytes per batch (per partition). Full batch → send now.</a:t>
            </a:r>
          </a:p>
          <a:p>
            <a:r>
              <a:rPr i="1" b="1"/>
              <a:t> linger.ms</a:t>
            </a:r>
          </a:p>
          <a:p>
            <a:r>
              <a:t> — how long to</a:t>
            </a:r>
            <a:r>
              <a:rPr i="1"/>
              <a:t> wait</a:t>
            </a:r>
            <a:r>
              <a:t> for more records before sending a partial batch.</a:t>
            </a:r>
          </a:p>
          <a:p/>
          <a:p>
            <a:r>
              <a:rPr b="1"/>
              <a:t> The trade-off:</a:t>
            </a:r>
            <a:r>
              <a:t> a little</a:t>
            </a:r>
            <a:r>
              <a:rPr>
                <a:latin typeface="Courier New"/>
              </a:rPr>
              <a:t> linger.ms</a:t>
            </a:r>
            <a:r>
              <a:t> dramatically improves throughput under load,</a:t>
            </a:r>
            <a:r>
              <a:t> at the cost of a few ms of latency. Default</a:t>
            </a:r>
            <a:r>
              <a:rPr>
                <a:latin typeface="Courier New"/>
              </a:rPr>
              <a:t> linger.ms</a:t>
            </a:r>
            <a:r>
              <a:t> is small; raise it to batch harder.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8915400" cy="564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3b: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Batches can be</a:t>
            </a:r>
            <a:r>
              <a:rPr b="1"/>
              <a:t> compressed</a:t>
            </a:r>
            <a:r>
              <a:t> before they hit the network and disk — a big win because</a:t>
            </a:r>
            <a:r>
              <a:t> Kafka compresses the whole batch, not record-by-record.</a:t>
            </a:r>
          </a:p>
          <a:p>
            <a:r>
              <a:rPr>
                <a:latin typeface="Courier New"/>
              </a:rPr>
              <a:t> compression.type</a:t>
            </a:r>
            <a:r>
              <a:t> :</a:t>
            </a:r>
            <a:r>
              <a:rPr>
                <a:latin typeface="Courier New"/>
              </a:rPr>
              <a:t> none</a:t>
            </a:r>
            <a:r>
              <a:t> ,</a:t>
            </a:r>
            <a:r>
              <a:rPr>
                <a:latin typeface="Courier New"/>
              </a:rPr>
              <a:t> gzip</a:t>
            </a:r>
            <a:r>
              <a:t> ,</a:t>
            </a:r>
            <a:r>
              <a:rPr>
                <a:latin typeface="Courier New"/>
              </a:rPr>
              <a:t> snappy</a:t>
            </a:r>
            <a:r>
              <a:t> ,</a:t>
            </a:r>
            <a:r>
              <a:rPr>
                <a:latin typeface="Courier New"/>
              </a:rPr>
              <a:t> lz4</a:t>
            </a:r>
            <a:r>
              <a:t> ,</a:t>
            </a:r>
            <a:r>
              <a:rPr>
                <a:latin typeface="Courier New"/>
              </a:rPr>
              <a:t> zstd</a:t>
            </a:r>
          </a:p>
          <a:p>
            <a:r>
              <a:rPr i="1" b="1"/>
              <a:t> zstd</a:t>
            </a:r>
          </a:p>
          <a:p>
            <a:r>
              <a:t> and</a:t>
            </a:r>
          </a:p>
          <a:p>
            <a:r>
              <a:rPr i="1" b="1"/>
              <a:t> lz4</a:t>
            </a:r>
            <a:r>
              <a:t> are the usual picks — strong ratio, low CPU</a:t>
            </a:r>
          </a:p>
          <a:p>
            <a:r>
              <a:t> Compression pairs with batching:</a:t>
            </a:r>
            <a:r>
              <a:rPr b="1"/>
              <a:t> bigger batches compress better</a:t>
            </a:r>
          </a:p>
          <a:p>
            <a:r>
              <a:t> The broker stores it compressed; the consumer decompresses — end to end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940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Acknowledgements (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is a write "done"? That's</a:t>
            </a:r>
          </a:p>
          <a:p>
            <a:r>
              <a:rPr i="1" b="1"/>
              <a:t> acks</a:t>
            </a:r>
            <a:r>
              <a:t> — the durability dial.</a:t>
            </a:r>
          </a:p>
          <a:p/>
          <a:p/>
          <a:p/>
          <a:p/>
          <a:p/>
          <a:p/>
          <a:p/>
          <a:p>
            <a:r>
              <a:rPr b="1"/>
              <a:t> Default and recommendation for real data: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Waits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nothing (fire-and-forget)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lose records silently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lose records if leader dies before replication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leader </a:t>
                      </a:r>
                      <a:r>
                        <a:rPr b="1"/>
                        <a:t>+ all in-sync replicas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 once acknowledged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11684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acks=all</a:t>
            </a:r>
            <a:r>
              <a:t> means "all</a:t>
            </a:r>
            <a:r>
              <a:rPr i="1"/>
              <a:t> in-sync</a:t>
            </a:r>
            <a:r>
              <a:t> replicas" — but if the ISR has shrunk to just the</a:t>
            </a:r>
            <a:r>
              <a:t> leader, "all" is one. The topic/broker setting</a:t>
            </a:r>
          </a:p>
          <a:p>
            <a:r>
              <a:rPr i="1" b="1"/>
              <a:t> min.insync.replicas</a:t>
            </a:r>
            <a:r>
              <a:t> sets the floor.</a:t>
            </a:r>
          </a:p>
          <a:p>
            <a:r>
              <a:rPr>
                <a:latin typeface="Courier New"/>
              </a:rPr>
              <a:t> min.insync.replicas=2</a:t>
            </a:r>
            <a:r>
              <a:t> with RF 3 → a write needs</a:t>
            </a:r>
            <a:r>
              <a:rPr b="1"/>
              <a:t> 2</a:t>
            </a:r>
            <a:r>
              <a:t> in-sync replicas to succeed</a:t>
            </a:r>
          </a:p>
          <a:p>
            <a:r>
              <a:t> If too few replicas are in sync, the producer gets an error instead of a false "durable"</a:t>
            </a:r>
          </a:p>
          <a:p>
            <a:r>
              <a:t> Together:</a:t>
            </a:r>
            <a:r>
              <a:rPr>
                <a:latin typeface="Courier New"/>
              </a:rPr>
              <a:t> acks=all</a:t>
            </a:r>
            <a:r>
              <a:t> +</a:t>
            </a:r>
            <a:r>
              <a:rPr>
                <a:latin typeface="Courier New"/>
              </a:rPr>
              <a:t> min.insync.replicas=2</a:t>
            </a:r>
            <a:r>
              <a:t> = "acknowledged means safely on ≥2 brokers"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Retries and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If a send fails (leader moved, transient network), the producer</a:t>
            </a:r>
            <a:r>
              <a:rPr b="1"/>
              <a:t> retries</a:t>
            </a:r>
            <a:r>
              <a:t> — which is</a:t>
            </a:r>
            <a:r>
              <a:t> usually what you want, but it interacts with ordering.</a:t>
            </a:r>
          </a:p>
          <a:p>
            <a:r>
              <a:t> Retries are on by default; a retried batch could, in theory, arrive</a:t>
            </a:r>
            <a:r>
              <a:rPr b="1"/>
              <a:t> after</a:t>
            </a:r>
            <a:r>
              <a:t> a later batch</a:t>
            </a:r>
          </a:p>
          <a:p>
            <a:r>
              <a:rPr i="1" b="1"/>
              <a:t> max.in.flight.requests.per.connection</a:t>
            </a:r>
          </a:p>
          <a:p>
            <a:r>
              <a:t> controls how many unacked batches are in flight</a:t>
            </a:r>
          </a:p>
          <a:p>
            <a:r>
              <a:t> Historically you capped this to preserve order — but</a:t>
            </a:r>
            <a:r>
              <a:rPr b="1"/>
              <a:t> idempotence</a:t>
            </a:r>
            <a:r>
              <a:t> (next slides) solves it</a:t>
            </a:r>
            <a:r>
              <a:t> cleanly</a:t>
            </a:r>
          </a:p>
          <a:p>
            <a:r>
              <a:rPr b="1"/>
              <a:t> Takeaway:</a:t>
            </a:r>
            <a:r>
              <a:t> don't disable retries to "keep order." Turn on idempotence instead.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Duplicate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subtle failure: the broker</a:t>
            </a:r>
            <a:r>
              <a:rPr b="1"/>
              <a:t> writes</a:t>
            </a:r>
            <a:r>
              <a:t> the record, then the</a:t>
            </a:r>
            <a:r>
              <a:rPr b="1"/>
              <a:t> ack is lost</a:t>
            </a:r>
            <a:r>
              <a:t> on the way</a:t>
            </a:r>
            <a:r>
              <a:t> back. The producer thinks it failed and</a:t>
            </a:r>
            <a:r>
              <a:rPr b="1"/>
              <a:t> retries</a:t>
            </a:r>
            <a:r>
              <a:t> → the record is written</a:t>
            </a:r>
            <a:r>
              <a:rPr b="1"/>
              <a:t> twice</a:t>
            </a:r>
            <a:r>
              <a:t> .</a:t>
            </a:r>
          </a:p>
          <a:p/>
          <a:p/>
          <a:p>
            <a:r>
              <a:t> With plain</a:t>
            </a:r>
            <a:r>
              <a:rPr>
                <a:latin typeface="Courier New"/>
              </a:rPr>
              <a:t> acks=all</a:t>
            </a:r>
            <a:r>
              <a:t> + retries, you get</a:t>
            </a:r>
            <a:r>
              <a:rPr b="1"/>
              <a:t> at-least-once</a:t>
            </a:r>
            <a:r>
              <a:t> : no loss, but possible duplicates</a:t>
            </a:r>
          </a:p>
          <a:p>
            <a:r>
              <a:t> For many pipelines duplicates are unacceptable (double charges, double counts)</a:t>
            </a:r>
          </a:p>
          <a:p>
            <a:r>
              <a:t> This is exactly what the</a:t>
            </a:r>
            <a:r>
              <a:rPr b="1"/>
              <a:t> idempotent producer</a:t>
            </a:r>
            <a:r>
              <a:t> fixes.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3124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Idempotent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Turn on idempotence and the broker will</a:t>
            </a:r>
            <a:r>
              <a:rPr b="1"/>
              <a:t> de-duplicate</a:t>
            </a:r>
            <a:r>
              <a:t> the producer's retries</a:t>
            </a:r>
            <a:r>
              <a:t> automatically.</a:t>
            </a:r>
          </a:p>
          <a:p/>
          <a:p>
            <a:r>
              <a:t> How it works, briefly:</a:t>
            </a:r>
          </a:p>
          <a:p>
            <a:r>
              <a:t> The producer gets a</a:t>
            </a:r>
            <a:r>
              <a:rPr b="1"/>
              <a:t> Producer ID (PID)</a:t>
            </a:r>
            <a:r>
              <a:t> and attaches a</a:t>
            </a:r>
            <a:r>
              <a:rPr b="1"/>
              <a:t> sequence number</a:t>
            </a:r>
            <a:r>
              <a:t> per partition</a:t>
            </a:r>
          </a:p>
          <a:p>
            <a:r>
              <a:t> The broker tracks the last sequence it accepted per (PID, partition)</a:t>
            </a:r>
          </a:p>
          <a:p>
            <a:r>
              <a:t> A</a:t>
            </a:r>
            <a:r>
              <a:rPr b="1"/>
              <a:t> retried</a:t>
            </a:r>
            <a:r>
              <a:t> record has the same sequence → the broker</a:t>
            </a:r>
            <a:r>
              <a:rPr b="1"/>
              <a:t> discards the duplicate</a:t>
            </a:r>
          </a:p>
          <a:p>
            <a:r>
              <a:t> Result:</a:t>
            </a:r>
            <a:r>
              <a:rPr b="1"/>
              <a:t> exactly-once delivery from producer to broker</a:t>
            </a:r>
            <a:r>
              <a:t> , even across retries. Cheap</a:t>
            </a:r>
            <a:r>
              <a:t> enough to be a default — and since Kafka 3.0 it</a:t>
            </a:r>
            <a:r>
              <a:rPr b="1"/>
              <a:t> is</a:t>
            </a:r>
            <a:r>
              <a:t> the default (</a:t>
            </a:r>
            <a:r>
              <a:rPr>
                <a:latin typeface="Courier New"/>
              </a:rPr>
              <a:t> enable.idempotence=true</a:t>
            </a:r>
            <a:r>
              <a:t> ),</a:t>
            </a:r>
            <a:r>
              <a:t> so on Kafka 4 you get it unless you turn it 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4765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Idempotence Does and Doesn't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 precise about the guarantee — it's a common interview and production trap.</a:t>
            </a:r>
          </a:p>
          <a:p>
            <a:r>
              <a:t> ✅ De-dupes</a:t>
            </a:r>
            <a:r>
              <a:rPr b="1"/>
              <a:t> this producer's retries</a:t>
            </a:r>
            <a:r>
              <a:t> to a partition → no duplicates from resend</a:t>
            </a:r>
          </a:p>
          <a:p>
            <a:r>
              <a:t> ✅ Preserves</a:t>
            </a:r>
            <a:r>
              <a:rPr b="1"/>
              <a:t> ordering</a:t>
            </a:r>
            <a:r>
              <a:t> even with retries and multiple in-flight batches</a:t>
            </a:r>
          </a:p>
          <a:p>
            <a:r>
              <a:t> ❌ Does</a:t>
            </a:r>
            <a:r>
              <a:rPr b="1"/>
              <a:t> not</a:t>
            </a:r>
            <a:r>
              <a:t> de-dupe if</a:t>
            </a:r>
            <a:r>
              <a:rPr i="1"/>
              <a:t> your application</a:t>
            </a:r>
            <a:r>
              <a:t> calls</a:t>
            </a:r>
            <a:r>
              <a:rPr>
                <a:latin typeface="Courier New"/>
              </a:rPr>
              <a:t> send()</a:t>
            </a:r>
            <a:r>
              <a:t> twice for the same event</a:t>
            </a:r>
          </a:p>
          <a:p>
            <a:r>
              <a:t> ❌ Does</a:t>
            </a:r>
            <a:r>
              <a:rPr b="1"/>
              <a:t> not</a:t>
            </a:r>
            <a:r>
              <a:t> span</a:t>
            </a:r>
            <a:r>
              <a:rPr b="1"/>
              <a:t> multiple partitions or a consume-process-produce loop</a:t>
            </a:r>
            <a:r>
              <a:t> — that needs</a:t>
            </a:r>
            <a:r>
              <a:rPr b="1"/>
              <a:t> transactions</a:t>
            </a:r>
            <a:r>
              <a:t> (Module 7 / Delivery Semantics)</a:t>
            </a:r>
          </a:p>
          <a:p>
            <a:r>
              <a:rPr b="1"/>
              <a:t> Idempotence = exactly-once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Tuned Producer, End to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Putting the pipeline together — a sensible production baseline: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27550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producer pipeline:</a:t>
            </a:r>
            <a:r>
              <a:rPr b="1"/>
              <a:t> serialize → partition → batch → send → ack → callback</a:t>
            </a:r>
          </a:p>
          <a:p>
            <a:r>
              <a:rPr b="1"/>
              <a:t> Keys</a:t>
            </a:r>
            <a:r>
              <a:t> drive partitioning and per-partition</a:t>
            </a:r>
            <a:r>
              <a:rPr b="1"/>
              <a:t> ordering</a:t>
            </a:r>
            <a:r>
              <a:t> — the key</a:t>
            </a:r>
            <a:r>
              <a:rPr i="1"/>
              <a:t> is</a:t>
            </a:r>
            <a:r>
              <a:t> the ordering contract</a:t>
            </a:r>
          </a:p>
          <a:p>
            <a:r>
              <a:rPr i="1" b="1"/>
              <a:t> linger.ms</a:t>
            </a:r>
          </a:p>
          <a:p>
            <a:r>
              <a:t> trade a little latency for large throughput gains</a:t>
            </a:r>
          </a:p>
          <a:p>
            <a:r>
              <a:rPr i="1" b="1"/>
              <a:t> acks=all</a:t>
            </a:r>
          </a:p>
          <a:p>
            <a:r>
              <a:t> (with</a:t>
            </a:r>
            <a:r>
              <a:rPr>
                <a:latin typeface="Courier New"/>
              </a:rPr>
              <a:t> min.insync.replicas</a:t>
            </a:r>
            <a:r>
              <a:t> ) is the durability baseline for real data</a:t>
            </a:r>
          </a:p>
          <a:p>
            <a:r>
              <a:t> Plain retries give</a:t>
            </a:r>
            <a:r>
              <a:rPr b="1"/>
              <a:t> at-least-once</a:t>
            </a:r>
            <a:r>
              <a:t> (possible duplicates);</a:t>
            </a:r>
          </a:p>
          <a:p>
            <a:r>
              <a:rPr i="1" b="1"/>
              <a:t> enable.idempotence</a:t>
            </a:r>
            <a:r>
              <a:t> upgrades</a:t>
            </a:r>
            <a:r>
              <a:t> that to</a:t>
            </a:r>
            <a:r>
              <a:rPr b="1"/>
              <a:t> exactly-once to the broker</a:t>
            </a:r>
            <a:r>
              <a:t> and preserves order</a:t>
            </a:r>
          </a:p>
          <a:p>
            <a:r>
              <a:t> End-to-end exactly-once across a processing step needs</a:t>
            </a:r>
            <a:r>
              <a:rPr b="1"/>
              <a:t> transactions</a:t>
            </a:r>
            <a:r>
              <a:t> — coming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