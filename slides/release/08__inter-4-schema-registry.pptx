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15"/>
  </p:notesMasterIdLst>
  <p:handoutMasterIdLst>
    <p:handoutMasterId r:id="rId16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959" autoAdjust="0"/>
    <p:restoredTop sz="86027" autoAdjust="0"/>
  </p:normalViewPr>
  <p:slideViewPr>
    <p:cSldViewPr>
      <p:cViewPr varScale="1">
        <p:scale>
          <a:sx n="90" d="100"/>
          <a:sy n="90" d="100"/>
        </p:scale>
        <p:origin x="3312" y="192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Tie this straight to their world — multiple systems sharing appointment/claim events. Informal agreement breaks the first time one team changes a field.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The magic is that "schema management" becomes two config lines plus a serde. Students should see it's not extra plumbing they maintain.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Callback to Intro 2 retention: the log holds mixed versions. This is exactly the SSA "when do we upgrade" question — it's really "which compatibility mode."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The "who upgrades first" column is the practical takeaway. Match the mode to your rollout order — this directly answers their upgrade-timing concern.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This slide is the "why leadership cares" framing — decoupled deploys and no coordinated outages map directly to their current pain of scheduling upgrade windows.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Intermediate 4 — Serialization &amp; Schema Registry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Message formats: JSON, Avro, Protobuf</a:t>
            </a:r>
          </a:p>
          <a:p>
            <a:r>
              <a:t> The Schema Registry: registering schemas, schema IDs, serdes</a:t>
            </a:r>
          </a:p>
          <a:p>
            <a:r>
              <a:t> Schema evolution and compatibility (BACKWARD / FORWARD / FULL)</a:t>
            </a:r>
          </a:p>
          <a:p>
            <a:r>
              <a:t> Data contracts as a governance practice</a:t>
            </a:r>
          </a:p>
          <a:p>
            <a:r>
              <a:t> Hands-on: produce/consume Avro with the Schema Registry; evolve a schema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Stores Bytes — Someone Must Agree on Meaning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From the producer module: Kafka moves</a:t>
            </a:r>
            <a:r>
              <a:rPr b="1" dirty="0"/>
              <a:t> bytes</a:t>
            </a:r>
            <a:r>
              <a:rPr dirty="0"/>
              <a:t> . The producer serializes; the consumer deserializes. Nothing in the broker enforces what those bytes</a:t>
            </a:r>
            <a:r>
              <a:rPr i="1" dirty="0"/>
              <a:t> mean</a:t>
            </a:r>
            <a:r>
              <a:rPr dirty="0"/>
              <a:t> .</a:t>
            </a:r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If producer and consumer disagree on the shape, the consumer reads</a:t>
            </a:r>
            <a:r>
              <a:rPr b="1" dirty="0"/>
              <a:t> garbage</a:t>
            </a:r>
            <a:r>
              <a:rPr dirty="0"/>
              <a:t> — or crashes</a:t>
            </a:r>
          </a:p>
          <a:p>
            <a:r>
              <a:rPr dirty="0"/>
              <a:t> With</a:t>
            </a:r>
            <a:r>
              <a:rPr b="1" dirty="0"/>
              <a:t> several systems</a:t>
            </a:r>
            <a:r>
              <a:rPr dirty="0"/>
              <a:t> producing and consuming the same topics, "just agree informally" doesn't scale</a:t>
            </a:r>
          </a:p>
          <a:p>
            <a:r>
              <a:rPr dirty="0"/>
              <a:t> You need a</a:t>
            </a:r>
            <a:r>
              <a:rPr b="1" dirty="0"/>
              <a:t> contract</a:t>
            </a:r>
            <a:r>
              <a:rPr dirty="0"/>
              <a:t> on the data's shape — enforced, versioned, shared</a:t>
            </a:r>
          </a:p>
          <a:p>
            <a:r>
              <a:rPr dirty="0"/>
              <a:t> That contract is a</a:t>
            </a:r>
            <a:r>
              <a:rPr b="1" dirty="0"/>
              <a:t> schema</a:t>
            </a:r>
            <a:r>
              <a:rPr dirty="0"/>
              <a:t> , and the Schema Registry is where it lives.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950" y="2472531"/>
            <a:ext cx="8915400" cy="55055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Message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Three common ways to structure event payloads:</a:t>
            </a:r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Plain JSON is easy but</a:t>
            </a:r>
            <a:r>
              <a:rPr b="1" dirty="0"/>
              <a:t> unenforced</a:t>
            </a:r>
            <a:r>
              <a:rPr dirty="0"/>
              <a:t> — every consumer hopes the fields are there</a:t>
            </a:r>
          </a:p>
          <a:p>
            <a:r>
              <a:rPr b="1" dirty="0"/>
              <a:t> Avro / </a:t>
            </a:r>
            <a:r>
              <a:rPr b="1" dirty="0" err="1"/>
              <a:t>Protobuf</a:t>
            </a:r>
            <a:r>
              <a:rPr dirty="0"/>
              <a:t> carry a real schema, are compact on the wire, and support</a:t>
            </a:r>
            <a:r>
              <a:rPr b="1" dirty="0"/>
              <a:t> safe evolution</a:t>
            </a:r>
          </a:p>
          <a:p>
            <a:r>
              <a:rPr dirty="0"/>
              <a:t> This course uses</a:t>
            </a:r>
            <a:r>
              <a:rPr b="1" dirty="0"/>
              <a:t> Avro</a:t>
            </a:r>
            <a:r>
              <a:rPr dirty="0"/>
              <a:t> with the Schema Registry — the mainstream Kafka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4517137"/>
              </p:ext>
            </p:extLst>
          </p:nvPr>
        </p:nvGraphicFramePr>
        <p:xfrm>
          <a:off x="571499" y="1693672"/>
          <a:ext cx="8581645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50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t>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Schema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JSON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none (or JSON Schema)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large (text)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human-readable, no enforcement by default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Avro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required (`.avsc`)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small (binary)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compact, strong evolution rules, Kafka's most common choice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Protobuf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required (`.proto`)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small (binary)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cross-language, popular for </a:t>
                      </a:r>
                      <a:r>
                        <a:rPr dirty="0" err="1"/>
                        <a:t>gRPC</a:t>
                      </a:r>
                      <a:r>
                        <a:rPr dirty="0"/>
                        <a:t> shops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Schema Registry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A standalone service (in our lab at</a:t>
            </a:r>
            <a:r>
              <a:rPr dirty="0">
                <a:latin typeface="Courier New"/>
              </a:rPr>
              <a:t> :8081</a:t>
            </a:r>
            <a:r>
              <a:rPr dirty="0"/>
              <a:t> ) that stores schemas and hands out IDs.</a:t>
            </a:r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The</a:t>
            </a:r>
            <a:r>
              <a:rPr b="1" dirty="0"/>
              <a:t> schema travels by ID</a:t>
            </a:r>
            <a:r>
              <a:rPr dirty="0"/>
              <a:t> , not inline — a few bytes, not the whole schema per message</a:t>
            </a:r>
          </a:p>
          <a:p>
            <a:r>
              <a:rPr dirty="0"/>
              <a:t> Producers</a:t>
            </a:r>
            <a:r>
              <a:rPr b="1" dirty="0"/>
              <a:t> auto-register</a:t>
            </a:r>
            <a:r>
              <a:rPr dirty="0"/>
              <a:t> schemas; consumers</a:t>
            </a:r>
            <a:r>
              <a:rPr b="1" dirty="0"/>
              <a:t> fetch by ID</a:t>
            </a:r>
            <a:r>
              <a:rPr dirty="0"/>
              <a:t> and cache them</a:t>
            </a:r>
          </a:p>
          <a:p>
            <a:r>
              <a:rPr dirty="0"/>
              <a:t> One source of truth for "what's in this topic," shared across all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50" y="2243931"/>
            <a:ext cx="8915400" cy="9461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Serdes: How Your Code Uses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You don't hand-code the wire format — a</a:t>
            </a:r>
            <a:r>
              <a:rPr b="1" dirty="0"/>
              <a:t> serializer/</a:t>
            </a:r>
            <a:r>
              <a:rPr b="1" dirty="0" err="1"/>
              <a:t>deserializer</a:t>
            </a:r>
            <a:r>
              <a:rPr b="1" dirty="0"/>
              <a:t> (</a:t>
            </a:r>
            <a:r>
              <a:rPr b="1" dirty="0" err="1"/>
              <a:t>serde</a:t>
            </a:r>
            <a:r>
              <a:rPr b="1" dirty="0"/>
              <a:t>)</a:t>
            </a:r>
            <a:r>
              <a:rPr dirty="0"/>
              <a:t> does it. In the Kafka</a:t>
            </a:r>
            <a:r>
              <a:rPr b="1" dirty="0"/>
              <a:t> Java</a:t>
            </a:r>
            <a:r>
              <a:rPr dirty="0"/>
              <a:t> client that's Confluent's Avro </a:t>
            </a:r>
            <a:r>
              <a:rPr dirty="0" err="1"/>
              <a:t>serde</a:t>
            </a:r>
            <a:r>
              <a:rPr dirty="0"/>
              <a:t>:</a:t>
            </a:r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endParaRPr dirty="0"/>
          </a:p>
          <a:p>
            <a:r>
              <a:rPr dirty="0"/>
              <a:t> The serializer registers the schema (if new) and prefixes the ID</a:t>
            </a:r>
          </a:p>
          <a:p>
            <a:r>
              <a:rPr dirty="0"/>
              <a:t> The </a:t>
            </a:r>
            <a:r>
              <a:rPr dirty="0" err="1"/>
              <a:t>deserializer</a:t>
            </a:r>
            <a:r>
              <a:rPr dirty="0"/>
              <a:t> reads the ID, fetches/caches the schema, and decodes</a:t>
            </a:r>
          </a:p>
          <a:p>
            <a:r>
              <a:rPr dirty="0"/>
              <a:t> Your business code sees</a:t>
            </a:r>
            <a:r>
              <a:rPr b="1" dirty="0"/>
              <a:t> objects</a:t>
            </a:r>
            <a:r>
              <a:rPr dirty="0"/>
              <a:t> , not bytes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50" y="2493128"/>
            <a:ext cx="8915400" cy="167564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Subjects and Versions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The registry organizes schemas into</a:t>
            </a:r>
            <a:r>
              <a:rPr b="1" dirty="0"/>
              <a:t> subjects</a:t>
            </a:r>
            <a:r>
              <a:rPr dirty="0"/>
              <a:t> , each with a version history.</a:t>
            </a:r>
          </a:p>
          <a:p>
            <a:r>
              <a:rPr dirty="0"/>
              <a:t> Default naming: a topic</a:t>
            </a:r>
            <a:r>
              <a:rPr dirty="0">
                <a:latin typeface="Courier New"/>
              </a:rPr>
              <a:t> claims</a:t>
            </a:r>
            <a:r>
              <a:rPr dirty="0"/>
              <a:t> has subjects</a:t>
            </a:r>
            <a:r>
              <a:rPr dirty="0">
                <a:latin typeface="Courier New"/>
              </a:rPr>
              <a:t> claims-value</a:t>
            </a:r>
            <a:r>
              <a:rPr dirty="0"/>
              <a:t> (and</a:t>
            </a:r>
            <a:r>
              <a:rPr dirty="0">
                <a:latin typeface="Courier New"/>
              </a:rPr>
              <a:t> claims-key</a:t>
            </a:r>
            <a:r>
              <a:rPr dirty="0"/>
              <a:t> if keyed)</a:t>
            </a:r>
          </a:p>
          <a:p>
            <a:r>
              <a:rPr dirty="0"/>
              <a:t> Each subject holds an ordered list of</a:t>
            </a:r>
            <a:r>
              <a:rPr b="1" dirty="0"/>
              <a:t> versions</a:t>
            </a:r>
            <a:r>
              <a:rPr dirty="0"/>
              <a:t> : v1, v2, v3, …</a:t>
            </a:r>
          </a:p>
          <a:p>
            <a:r>
              <a:rPr dirty="0"/>
              <a:t> A</a:t>
            </a:r>
            <a:r>
              <a:rPr b="1" dirty="0"/>
              <a:t> compatibility rule</a:t>
            </a:r>
            <a:r>
              <a:rPr dirty="0"/>
              <a:t> is attached per subject and governs which new versions are allowed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endParaRPr dirty="0"/>
          </a:p>
          <a:p>
            <a:r>
              <a:rPr dirty="0"/>
              <a:t> The registry</a:t>
            </a:r>
            <a:r>
              <a:rPr b="1" dirty="0"/>
              <a:t> rejects</a:t>
            </a:r>
            <a:r>
              <a:rPr dirty="0"/>
              <a:t> a new version that violates the subject's compatibility rule — that's the enforcement that keeps producers and consumers from breaking each other.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58625"/>
            <a:ext cx="9372600" cy="105951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Schema Evolution — The Real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Systems change independently. A producer adds a field; a consumer hasn't been updated yet — or vice versa.</a:t>
            </a:r>
            <a:r>
              <a:rPr b="1"/>
              <a:t> Evolution rules</a:t>
            </a:r>
            <a:r>
              <a:t> decide whether that's safe.</a:t>
            </a:r>
          </a:p>
          <a:p>
            <a:r>
              <a:t> Two directions to reason about:</a:t>
            </a:r>
          </a:p>
          <a:p>
            <a:r>
              <a:rPr b="1"/>
              <a:t> Can a NEW consumer read OLD data?</a:t>
            </a:r>
            <a:r>
              <a:t> (you upgraded the reader first)</a:t>
            </a:r>
          </a:p>
          <a:p>
            <a:r>
              <a:rPr b="1"/>
              <a:t> Can an OLD consumer read NEW data?</a:t>
            </a:r>
            <a:r>
              <a:t> (the writer changed first)</a:t>
            </a:r>
          </a:p>
          <a:p>
            <a:r>
              <a:t> Because Kafka</a:t>
            </a:r>
            <a:r>
              <a:rPr b="1"/>
              <a:t> retains</a:t>
            </a:r>
            <a:r>
              <a:t> the log, a topic can hold</a:t>
            </a:r>
            <a:r>
              <a:rPr b="1"/>
              <a:t> old and new versions at once</a:t>
            </a:r>
            <a:r>
              <a:t> — a consumer replaying history will meet both. So evolution isn't optional; it's the normal state.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Compatibility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The subject's mode defines what changes are allowed and who can upgrade first.</a:t>
            </a:r>
            <a:endParaRPr lang="en-US" dirty="0"/>
          </a:p>
          <a:p>
            <a:endParaRPr lang="en-US"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r>
              <a:rPr b="1" dirty="0"/>
              <a:t> BACKWARD</a:t>
            </a:r>
            <a:r>
              <a:rPr dirty="0"/>
              <a:t> is the default and most common: upgrade consumers, they still read the old log</a:t>
            </a:r>
          </a:p>
          <a:p>
            <a:r>
              <a:rPr b="1" dirty="0"/>
              <a:t> FORWARD</a:t>
            </a:r>
            <a:r>
              <a:rPr dirty="0"/>
              <a:t> when producers must move first and old consumers must tolerate new data</a:t>
            </a:r>
          </a:p>
          <a:p>
            <a:r>
              <a:rPr b="1" dirty="0"/>
              <a:t> FULL</a:t>
            </a:r>
            <a:r>
              <a:rPr dirty="0"/>
              <a:t> for the strictest cross-team contracts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5643704"/>
              </p:ext>
            </p:extLst>
          </p:nvPr>
        </p:nvGraphicFramePr>
        <p:xfrm>
          <a:off x="237744" y="2132584"/>
          <a:ext cx="89154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t>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Guarantees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New schema 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Upgrade first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BACKWARD</a:t>
                      </a:r>
                      <a:r>
                        <a:t> (default)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new consumer reads old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delete</a:t>
                      </a:r>
                      <a:r>
                        <a:t> fields, </a:t>
                      </a:r>
                      <a:r>
                        <a:rPr b="1"/>
                        <a:t>add optional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consumers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FORWARD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old consumer reads new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add</a:t>
                      </a:r>
                      <a:r>
                        <a:t> fields, </a:t>
                      </a:r>
                      <a:r>
                        <a:rPr b="1"/>
                        <a:t>delete optional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producers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FULL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both directions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add/remove </a:t>
                      </a:r>
                      <a:r>
                        <a:rPr b="1"/>
                        <a:t>optional</a:t>
                      </a:r>
                      <a:r>
                        <a:t>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either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 checks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anything (dangerous)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Golden Rule: Add With Defaults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The one habit that keeps evolution safe under BACKWARD/FULL:</a:t>
            </a:r>
          </a:p>
          <a:p>
            <a:r>
              <a:rPr b="1" dirty="0"/>
              <a:t> Adding a field?</a:t>
            </a:r>
            <a:r>
              <a:rPr dirty="0"/>
              <a:t> Give it a</a:t>
            </a:r>
            <a:r>
              <a:rPr b="1" dirty="0"/>
              <a:t> default value</a:t>
            </a:r>
            <a:r>
              <a:rPr dirty="0"/>
              <a:t> → old data (missing the field) still deserializes</a:t>
            </a:r>
          </a:p>
          <a:p>
            <a:r>
              <a:rPr b="1" dirty="0"/>
              <a:t> Removing a field?</a:t>
            </a:r>
            <a:r>
              <a:rPr dirty="0"/>
              <a:t> Only safe if it</a:t>
            </a:r>
            <a:r>
              <a:rPr b="1" dirty="0"/>
              <a:t> had a default</a:t>
            </a:r>
            <a:r>
              <a:rPr dirty="0"/>
              <a:t> → consumers expecting it fall back</a:t>
            </a:r>
          </a:p>
          <a:p>
            <a:r>
              <a:rPr b="1" dirty="0"/>
              <a:t> Renaming / changing a type?</a:t>
            </a:r>
            <a:r>
              <a:rPr dirty="0"/>
              <a:t> Usually</a:t>
            </a:r>
            <a:r>
              <a:rPr b="1" dirty="0"/>
              <a:t> breaking</a:t>
            </a:r>
            <a:r>
              <a:rPr dirty="0"/>
              <a:t> — use aliases or a new field instead</a:t>
            </a:r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A new consumer reading an old record with no</a:t>
            </a:r>
            <a:r>
              <a:rPr dirty="0">
                <a:latin typeface="Courier New"/>
              </a:rPr>
              <a:t> region</a:t>
            </a:r>
            <a:r>
              <a:rPr dirty="0"/>
              <a:t> gets</a:t>
            </a:r>
            <a:r>
              <a:rPr dirty="0">
                <a:latin typeface="Courier New"/>
              </a:rPr>
              <a:t> "UNKNOWN"</a:t>
            </a:r>
            <a:r>
              <a:rPr dirty="0"/>
              <a:t> — no crash</a:t>
            </a:r>
          </a:p>
          <a:p>
            <a:r>
              <a:rPr dirty="0"/>
              <a:t> This single discipline (defaults on new fields) covers the majority of real evolutions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29931"/>
            <a:ext cx="93726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Contracts as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The Schema Registry is a</a:t>
            </a:r>
            <a:r>
              <a:rPr b="1"/>
              <a:t> governance tool</a:t>
            </a:r>
            <a:r>
              <a:t> , not just a codec. For an organization with many systems sharing events, it's how teams stay coordinated</a:t>
            </a:r>
            <a:r>
              <a:rPr b="1"/>
              <a:t> without</a:t>
            </a:r>
            <a:r>
              <a:t> a change-control meeting.</a:t>
            </a:r>
          </a:p>
          <a:p>
            <a:r>
              <a:t> The schema</a:t>
            </a:r>
            <a:r>
              <a:rPr b="1"/>
              <a:t> is the contract</a:t>
            </a:r>
            <a:r>
              <a:t> between producing and consuming systems</a:t>
            </a:r>
          </a:p>
          <a:p>
            <a:r>
              <a:t> Compatibility rules let teams</a:t>
            </a:r>
            <a:r>
              <a:rPr b="1"/>
              <a:t> deploy independently</a:t>
            </a:r>
            <a:r>
              <a:t> — no lock-step, coordinated-outage upgrades</a:t>
            </a:r>
          </a:p>
          <a:p>
            <a:r>
              <a:t> Breaking changes are</a:t>
            </a:r>
            <a:r>
              <a:rPr b="1"/>
              <a:t> caught at registration</a:t>
            </a:r>
            <a:r>
              <a:t> , in CI, not in production at 2 AM</a:t>
            </a:r>
          </a:p>
          <a:p>
            <a:r>
              <a:t> New consumers can be added anytime — they read the schema and understand the topic</a:t>
            </a:r>
          </a:p>
          <a:p>
            <a:r>
              <a:rPr b="1"/>
              <a:t> Business value:</a:t>
            </a:r>
            <a:r>
              <a:t> independent teams, safe change, no big-bang upgrade windows.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05 — What You'll Do (Java)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Define an</a:t>
            </a:r>
            <a:r>
              <a:rPr b="1"/>
              <a:t> Avro schema</a:t>
            </a:r>
            <a:r>
              <a:t> and produce records with</a:t>
            </a:r>
            <a:r>
              <a:rPr>
                <a:latin typeface="Courier New"/>
              </a:rPr>
              <a:t> KafkaAvroSerializer</a:t>
            </a:r>
          </a:p>
          <a:p>
            <a:r>
              <a:t> Inspect the registered schema via the</a:t>
            </a:r>
            <a:r>
              <a:rPr b="1"/>
              <a:t> registry REST API</a:t>
            </a:r>
            <a:r>
              <a:t> (</a:t>
            </a:r>
            <a:r>
              <a:rPr>
                <a:latin typeface="Courier New"/>
              </a:rPr>
              <a:t> :8081</a:t>
            </a:r>
            <a:r>
              <a:t> )</a:t>
            </a:r>
          </a:p>
          <a:p>
            <a:r>
              <a:t> Consume with</a:t>
            </a:r>
            <a:r>
              <a:rPr>
                <a:latin typeface="Courier New"/>
              </a:rPr>
              <a:t> KafkaAvroDeserializer</a:t>
            </a:r>
          </a:p>
          <a:p>
            <a:r>
              <a:rPr b="1"/>
              <a:t> Evolve</a:t>
            </a:r>
            <a:r>
              <a:t> the schema (add a field with a default) under</a:t>
            </a:r>
            <a:r>
              <a:rPr b="1"/>
              <a:t> BACKWARD</a:t>
            </a:r>
            <a:r>
              <a:t> compatibility — prove old consumers still work</a:t>
            </a:r>
          </a:p>
          <a:p>
            <a:r>
              <a:t> Attempt an</a:t>
            </a:r>
            <a:r>
              <a:rPr b="1"/>
              <a:t> incompatible</a:t>
            </a:r>
            <a:r>
              <a:t> change and watch the registry</a:t>
            </a:r>
            <a:r>
              <a:rPr b="1"/>
              <a:t> reject</a:t>
            </a:r>
            <a:r>
              <a:t> it</a:t>
            </a:r>
          </a:p>
          <a:p>
            <a:r>
              <a:rPr i="1"/>
              <a:t> 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Kafka moves bytes; a</a:t>
            </a:r>
            <a:r>
              <a:rPr b="1"/>
              <a:t> schema</a:t>
            </a:r>
            <a:r>
              <a:t> is the enforced contract on their meaning</a:t>
            </a:r>
          </a:p>
          <a:p>
            <a:r>
              <a:rPr b="1"/>
              <a:t> Avro + Schema Registry</a:t>
            </a:r>
            <a:r>
              <a:t> is the mainstream pattern: schemas travel</a:t>
            </a:r>
            <a:r>
              <a:rPr b="1"/>
              <a:t> by ID</a:t>
            </a:r>
            <a:r>
              <a:t> , serdes do the work</a:t>
            </a:r>
          </a:p>
          <a:p>
            <a:r>
              <a:t> Schemas live as</a:t>
            </a:r>
            <a:r>
              <a:rPr b="1"/>
              <a:t> subjects</a:t>
            </a:r>
            <a:r>
              <a:t> with</a:t>
            </a:r>
            <a:r>
              <a:rPr b="1"/>
              <a:t> versions</a:t>
            </a:r>
            <a:r>
              <a:t> and a</a:t>
            </a:r>
            <a:r>
              <a:rPr b="1"/>
              <a:t> compatibility rule</a:t>
            </a:r>
            <a:r>
              <a:t> that the registry enforces</a:t>
            </a:r>
          </a:p>
          <a:p>
            <a:r>
              <a:rPr b="1"/>
              <a:t> BACKWARD / FORWARD / FULL</a:t>
            </a:r>
            <a:r>
              <a:t> decide what changes are legal and</a:t>
            </a:r>
            <a:r>
              <a:rPr b="1"/>
              <a:t> who upgrades first</a:t>
            </a:r>
          </a:p>
          <a:p>
            <a:r>
              <a:rPr b="1"/>
              <a:t> Add fields with defaults</a:t>
            </a:r>
            <a:r>
              <a:t> — the golden rule for safe evolution</a:t>
            </a:r>
          </a:p>
          <a:p>
            <a:r>
              <a:t> The registry is</a:t>
            </a:r>
            <a:r>
              <a:rPr b="1"/>
              <a:t> governance</a:t>
            </a:r>
            <a:r>
              <a:t> : independent deploys, safe change, no coordinated-outage upgrades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378294</TotalTime>
  <Words>1387</Words>
  <Application>Microsoft Macintosh PowerPoint</Application>
  <PresentationFormat>Custom</PresentationFormat>
  <Paragraphs>167</Paragraphs>
  <Slides>13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Arial</vt:lpstr>
      <vt:lpstr>Arial Bold</vt:lpstr>
      <vt:lpstr>Courier New</vt:lpstr>
      <vt:lpstr>Garamond</vt:lpstr>
      <vt:lpstr>Monotype Sorts</vt:lpstr>
      <vt:lpstr>Times New Roman</vt:lpstr>
      <vt:lpstr>Verdana</vt:lpstr>
      <vt:lpstr>Wingdings</vt:lpstr>
      <vt:lpstr>LPc_New</vt:lpstr>
      <vt:lpstr>Intermediate 4 — Serialization &amp; Schema Registry</vt:lpstr>
      <vt:lpstr>Agenda</vt:lpstr>
      <vt:lpstr>Kafka Stores Bytes — Someone Must Agree on Meaning</vt:lpstr>
      <vt:lpstr>Message Formats</vt:lpstr>
      <vt:lpstr>The Schema Registry</vt:lpstr>
      <vt:lpstr>Serdes: How Your Code Uses It</vt:lpstr>
      <vt:lpstr>Subjects and Versions</vt:lpstr>
      <vt:lpstr>Schema Evolution — The Real Problem</vt:lpstr>
      <vt:lpstr>Compatibility Modes</vt:lpstr>
      <vt:lpstr>The Golden Rule: Add With Defaults</vt:lpstr>
      <vt:lpstr>Data Contracts as Governance</vt:lpstr>
      <vt:lpstr>Lab 05 — What You'll Do (Java)</vt:lpstr>
      <vt:lpstr>Summary</vt:lpstr>
    </vt:vector>
  </TitlesOfParts>
  <Company>Elephant Scale LLC &amp; LearningPatterns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Warren Crawford</cp:lastModifiedBy>
  <cp:revision>4136</cp:revision>
  <cp:lastPrinted>2010-01-03T02:41:41Z</cp:lastPrinted>
  <dcterms:created xsi:type="dcterms:W3CDTF">2010-07-13T15:22:01Z</dcterms:created>
  <dcterms:modified xsi:type="dcterms:W3CDTF">2026-08-06T01:38:32Z</dcterms:modified>
</cp:coreProperties>
</file>