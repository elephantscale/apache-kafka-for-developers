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If students remember only one thing today, it's "topic = append-only log." Partitions, offsets, and consumer groups all follow from this.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mechanism behind replay — seek a consumer back to an earlier offset and it re-reads history. We'll do exactly that in the labs.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slide saves an hour of confusion later. "Partition = shard" and "offset = cursor" are the two that unlock the most — developers already own both concepts, they just don't recognize them under Kafka's names. Invite the room to name the equivalent in whatever they use today (JMS, MQ, SQS, a database read cursor).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This is the heart of Kafka's scaling model on the read side. The next slide shows the limit and what "different groups" means.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Keep this conceptual in the intro. Module 11 (Reliability) is where acks, min.insync.replicas, and the durability trade-offs get hands-on.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5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 Compaction underpins Kafka Streams' KTables and Connect's offset storage. Introduce the idea here; it returns in the stream-processing module.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Intro 2 — 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Topics, partitions, and offsets — the log abstraction</a:t>
            </a:r>
          </a:p>
          <a:p>
            <a:r>
              <a:t> Producers, consumers, brokers — and translating Kafka's vocabulary</a:t>
            </a:r>
          </a:p>
          <a:p>
            <a:r>
              <a:t> Consumer groups and parallelism</a:t>
            </a:r>
          </a:p>
          <a:p>
            <a:r>
              <a:t> Replication, leaders, and fault tolerance (ISR) at a high level</a:t>
            </a:r>
          </a:p>
          <a:p>
            <a:r>
              <a:t> Retention: time, size, and log compaction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One Idea: A Topic Is a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Everything in Kafka is built on one data structure: an</a:t>
            </a:r>
            <a:r>
              <a:rPr b="1"/>
              <a:t> append-only log</a:t>
            </a:r>
            <a:r>
              <a:t> .</a:t>
            </a:r>
          </a:p>
          <a:p>
            <a:r>
              <a:t> A</a:t>
            </a:r>
            <a:r>
              <a:rPr b="1"/>
              <a:t> topic</a:t>
            </a:r>
            <a:r>
              <a:t> is a named log — e.g.</a:t>
            </a:r>
            <a:r>
              <a:rPr>
                <a:latin typeface="Courier New"/>
              </a:rPr>
              <a:t> orders</a:t>
            </a:r>
            <a:r>
              <a:t> ,</a:t>
            </a:r>
            <a:r>
              <a:rPr>
                <a:latin typeface="Courier New"/>
              </a:rPr>
              <a:t> clicks</a:t>
            </a:r>
            <a:r>
              <a:t> ,</a:t>
            </a:r>
            <a:r>
              <a:rPr>
                <a:latin typeface="Courier New"/>
              </a:rPr>
              <a:t> payments</a:t>
            </a:r>
          </a:p>
          <a:p>
            <a:r>
              <a:t> Producers</a:t>
            </a:r>
            <a:r>
              <a:rPr b="1"/>
              <a:t> append</a:t>
            </a:r>
            <a:r>
              <a:t> events to the end; consumers</a:t>
            </a:r>
            <a:r>
              <a:rPr b="1"/>
              <a:t> read</a:t>
            </a:r>
            <a:r>
              <a:t> forward from any position</a:t>
            </a:r>
          </a:p>
          <a:p>
            <a:r>
              <a:t> Events are</a:t>
            </a:r>
            <a:r>
              <a:rPr b="1"/>
              <a:t> immutable</a:t>
            </a:r>
            <a:r>
              <a:t> — once written, never changed</a:t>
            </a:r>
          </a:p>
          <a:p>
            <a:r>
              <a:t> Reads don't remove data — many consumers read the same log independently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56437"/>
            <a:ext cx="9372600" cy="1660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Partitions — Splitting the Log for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single log on one machine can't scale. So Kafka splits each topic into</a:t>
            </a:r>
            <a:r>
              <a:rPr b="1" dirty="0"/>
              <a:t> partitions</a:t>
            </a:r>
            <a:r>
              <a:rPr dirty="0"/>
              <a:t> , and spreads them across brokers.</a:t>
            </a:r>
          </a:p>
          <a:p>
            <a:r>
              <a:rPr dirty="0"/>
              <a:t> A topic has</a:t>
            </a:r>
            <a:r>
              <a:rPr b="1" dirty="0"/>
              <a:t> N partitions</a:t>
            </a:r>
            <a:r>
              <a:rPr dirty="0"/>
              <a:t> , chosen when you create it</a:t>
            </a:r>
          </a:p>
          <a:p>
            <a:r>
              <a:rPr dirty="0"/>
              <a:t> Each partition is its</a:t>
            </a:r>
            <a:r>
              <a:rPr b="1" dirty="0"/>
              <a:t> own ordered log</a:t>
            </a:r>
            <a:r>
              <a:rPr dirty="0"/>
              <a:t> , on some broker</a:t>
            </a:r>
          </a:p>
          <a:p>
            <a:r>
              <a:rPr dirty="0"/>
              <a:t> Partitions give Kafka its</a:t>
            </a:r>
            <a:r>
              <a:rPr b="1" dirty="0"/>
              <a:t> parallelism</a:t>
            </a:r>
            <a:r>
              <a:rPr dirty="0"/>
              <a:t> and</a:t>
            </a:r>
            <a:r>
              <a:rPr b="1" dirty="0"/>
              <a:t> capacity</a:t>
            </a:r>
            <a:r>
              <a:rPr dirty="0"/>
              <a:t> — more partitions, more throughput</a:t>
            </a:r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endParaRPr dirty="0"/>
          </a:p>
          <a:p>
            <a:r>
              <a:rPr b="1" dirty="0"/>
              <a:t> Key trade-off:</a:t>
            </a:r>
            <a:r>
              <a:rPr dirty="0"/>
              <a:t> ordering is guaranteed</a:t>
            </a:r>
            <a:r>
              <a:rPr b="1" dirty="0"/>
              <a:t> within a partition</a:t>
            </a:r>
            <a:r>
              <a:rPr dirty="0"/>
              <a:t> , never across partitions.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582560"/>
            <a:ext cx="5588000" cy="292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Offsets — A Message's Address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Within a partition, every event gets a monotonically increasing</a:t>
            </a:r>
            <a:r>
              <a:rPr b="1"/>
              <a:t> offset</a:t>
            </a:r>
            <a:r>
              <a:t> : 0, 1, 2, 3, …</a:t>
            </a:r>
          </a:p>
          <a:p>
            <a:r>
              <a:t> An offset is</a:t>
            </a:r>
            <a:r>
              <a:rPr b="1"/>
              <a:t> per-partition</a:t>
            </a:r>
            <a:r>
              <a:t> — partition 0's offset 5 is unrelated to partition 1's offset 5</a:t>
            </a:r>
          </a:p>
          <a:p>
            <a:r>
              <a:t> A message is uniquely identified by</a:t>
            </a:r>
            <a:r>
              <a:rPr b="1"/>
              <a:t> (topic, partition, offset)</a:t>
            </a:r>
          </a:p>
          <a:p>
            <a:r>
              <a:t> Offsets never go backward and are never reused within a partition</a:t>
            </a:r>
          </a:p>
          <a:p>
            <a:r>
              <a:t> A consumer's</a:t>
            </a:r>
            <a:r>
              <a:rPr b="1"/>
              <a:t> position</a:t>
            </a:r>
            <a:r>
              <a:t> is just "the next offset I will read"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99" y="4606131"/>
            <a:ext cx="7751411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Keys and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How does a producer decide which partition an event goes to? By the</a:t>
            </a:r>
            <a:r>
              <a:rPr b="1" dirty="0"/>
              <a:t> message key</a:t>
            </a:r>
            <a:r>
              <a:rPr dirty="0"/>
              <a:t> .</a:t>
            </a:r>
          </a:p>
          <a:p>
            <a:r>
              <a:rPr b="1" dirty="0"/>
              <a:t> With a key</a:t>
            </a:r>
            <a:r>
              <a:rPr dirty="0"/>
              <a:t> — Kafka hashes the key; the same key always lands in the same partition</a:t>
            </a:r>
          </a:p>
          <a:p>
            <a:pPr lvl="1"/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order_id</a:t>
            </a:r>
            <a:r>
              <a:rPr dirty="0">
                <a:latin typeface="Courier New"/>
              </a:rPr>
              <a:t>=1234</a:t>
            </a:r>
            <a:r>
              <a:rPr dirty="0"/>
              <a:t> → always partition 2 → all events for that order stay</a:t>
            </a:r>
            <a:r>
              <a:rPr b="1" dirty="0"/>
              <a:t> ordered</a:t>
            </a:r>
          </a:p>
          <a:p>
            <a:r>
              <a:rPr b="1" dirty="0"/>
              <a:t> Without a key</a:t>
            </a:r>
            <a:r>
              <a:rPr dirty="0"/>
              <a:t> — events are spread across partitions (round-robin-</a:t>
            </a:r>
            <a:r>
              <a:rPr dirty="0" err="1"/>
              <a:t>ish</a:t>
            </a:r>
            <a:r>
              <a:rPr dirty="0"/>
              <a:t>) for balance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This is the central design decision for a producer:</a:t>
            </a:r>
            <a:r>
              <a:rPr dirty="0"/>
              <a:t> pick a key when you need per-entity ordering (per user, per order, per device); go keyless when you just want even spread.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8" y="4631967"/>
            <a:ext cx="9176512" cy="952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Producers, Consumers, Brokers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Three roles make up the system:</a:t>
            </a:r>
          </a:p>
          <a:p>
            <a:r>
              <a:rPr b="1" dirty="0"/>
              <a:t> Broker</a:t>
            </a:r>
            <a:r>
              <a:rPr dirty="0"/>
              <a:t> — a Kafka server. It stores partitions on disk and serves reads/writes. A</a:t>
            </a:r>
            <a:r>
              <a:rPr b="1" dirty="0"/>
              <a:t> cluster</a:t>
            </a:r>
            <a:r>
              <a:rPr dirty="0"/>
              <a:t> is several brokers working together.</a:t>
            </a:r>
          </a:p>
          <a:p>
            <a:r>
              <a:rPr b="1" dirty="0"/>
              <a:t> Producer</a:t>
            </a:r>
            <a:r>
              <a:rPr dirty="0"/>
              <a:t> — a client that</a:t>
            </a:r>
            <a:r>
              <a:rPr b="1" dirty="0"/>
              <a:t> appends</a:t>
            </a:r>
            <a:r>
              <a:rPr dirty="0"/>
              <a:t> events to topic partitions.</a:t>
            </a:r>
          </a:p>
          <a:p>
            <a:r>
              <a:rPr b="1" dirty="0"/>
              <a:t> Consumer</a:t>
            </a:r>
            <a:r>
              <a:rPr dirty="0"/>
              <a:t> — a client that</a:t>
            </a:r>
            <a:r>
              <a:rPr b="1" dirty="0"/>
              <a:t> reads</a:t>
            </a:r>
            <a:r>
              <a:rPr dirty="0"/>
              <a:t> events forward from partitions.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Producers and consumers are</a:t>
            </a:r>
            <a:r>
              <a:rPr b="1" dirty="0"/>
              <a:t> your code</a:t>
            </a:r>
            <a:r>
              <a:rPr dirty="0"/>
              <a:t> (Java in this course). Brokers are the Kafka cluster — for us, three Docker containers.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4148931"/>
            <a:ext cx="8912352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Kafka Were Named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Kafka's vocabulary is from 2010 and predates today's streaming and database conventions. If you come from other systems, this translation makes it click faster: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615860"/>
              </p:ext>
            </p:extLst>
          </p:nvPr>
        </p:nvGraphicFramePr>
        <p:xfrm>
          <a:off x="237744" y="2548731"/>
          <a:ext cx="8915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605">
                <a:tc>
                  <a:txBody>
                    <a:bodyPr/>
                    <a:lstStyle/>
                    <a:p>
                      <a:r>
                        <a:t>Kafka says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Everyone else says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Server, or 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Producer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Publisher, or Writer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Consumer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Subscriber, or Reader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Stream, or Channel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Partition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Shard</a:t>
                      </a:r>
                      <a:r>
                        <a:t> — a horizontal slice, exactly the database idea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Cursor</a:t>
                      </a:r>
                      <a:r>
                        <a:t> — your position in the log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Consumer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Subscription, or a worker pool sharing the 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Groups — Scaling Consumption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consumer may not keep up with a busy topic. A</a:t>
            </a:r>
            <a:r>
              <a:rPr b="1"/>
              <a:t> consumer group</a:t>
            </a:r>
            <a:r>
              <a:t> lets several consumers share the work.</a:t>
            </a:r>
          </a:p>
          <a:p>
            <a:r>
              <a:t> Consumers that share a</a:t>
            </a:r>
            <a:r>
              <a:rPr>
                <a:latin typeface="Courier New"/>
              </a:rPr>
              <a:t> group.id</a:t>
            </a:r>
            <a:r>
              <a:t> form</a:t>
            </a:r>
            <a:r>
              <a:rPr b="1"/>
              <a:t> one group</a:t>
            </a:r>
          </a:p>
          <a:p>
            <a:r>
              <a:t> Kafka</a:t>
            </a:r>
            <a:r>
              <a:rPr b="1"/>
              <a:t> assigns each partition to exactly one consumer</a:t>
            </a:r>
            <a:r>
              <a:t> in the group</a:t>
            </a:r>
          </a:p>
          <a:p>
            <a:r>
              <a:t> Add consumers → each handles fewer partitions → more throughput</a:t>
            </a:r>
          </a:p>
          <a:p>
            <a:r>
              <a:t> The group tracks its progress via</a:t>
            </a:r>
            <a:r>
              <a:rPr b="1"/>
              <a:t> committed offsets</a:t>
            </a:r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82331"/>
            <a:ext cx="8178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Parallelism: Partitions Are the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The number of</a:t>
            </a:r>
            <a:r>
              <a:rPr b="1" dirty="0"/>
              <a:t> partitions</a:t>
            </a:r>
            <a:r>
              <a:rPr dirty="0"/>
              <a:t> caps the parallelism of a single consumer group.</a:t>
            </a:r>
          </a:p>
          <a:p>
            <a:r>
              <a:rPr dirty="0"/>
              <a:t> 3 partitions → at most</a:t>
            </a:r>
            <a:r>
              <a:rPr b="1" dirty="0"/>
              <a:t> 3 active consumers</a:t>
            </a:r>
            <a:r>
              <a:rPr dirty="0"/>
              <a:t> in a group; a 4th sits</a:t>
            </a:r>
            <a:r>
              <a:rPr b="1" dirty="0"/>
              <a:t> idle</a:t>
            </a:r>
          </a:p>
          <a:p>
            <a:r>
              <a:rPr dirty="0"/>
              <a:t> More consumers than partitions doesn't help — one consumer per partition is the max</a:t>
            </a:r>
          </a:p>
          <a:p>
            <a:r>
              <a:rPr dirty="0"/>
              <a:t> So</a:t>
            </a:r>
            <a:r>
              <a:rPr b="1" dirty="0"/>
              <a:t> partition count is a scaling decision</a:t>
            </a:r>
            <a:r>
              <a:rPr dirty="0"/>
              <a:t> you make up front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Rule of thumb:</a:t>
            </a:r>
            <a:r>
              <a:rPr dirty="0"/>
              <a:t> choose partition count for the parallelism you'll eventually need — it's easy to add partitions, awkward to remove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4111624"/>
            <a:ext cx="8636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Same Data, Many Consumers: Different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 partition goes to one consumer</a:t>
            </a:r>
            <a:r>
              <a:rPr b="1" dirty="0"/>
              <a:t> within a group</a:t>
            </a:r>
            <a:r>
              <a:rPr dirty="0"/>
              <a:t> — but</a:t>
            </a:r>
            <a:r>
              <a:rPr b="1" dirty="0"/>
              <a:t> every group reads the</a:t>
            </a:r>
            <a:r>
              <a:rPr dirty="0"/>
              <a:t> .</a:t>
            </a:r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This is</a:t>
            </a:r>
            <a:r>
              <a:rPr b="1" dirty="0"/>
              <a:t> pub/sub</a:t>
            </a:r>
            <a:r>
              <a:rPr dirty="0"/>
              <a:t> : add a new group and it sees the full stream, with</a:t>
            </a:r>
            <a:r>
              <a:rPr b="1" dirty="0"/>
              <a:t> zero producer changes</a:t>
            </a:r>
          </a:p>
          <a:p>
            <a:r>
              <a:rPr dirty="0"/>
              <a:t> Each group's progress (offsets) is completely separate</a:t>
            </a:r>
          </a:p>
          <a:p>
            <a:r>
              <a:rPr dirty="0"/>
              <a:t> One team's slow consumer never affects another team's group</a:t>
            </a:r>
          </a:p>
          <a:p>
            <a:r>
              <a:rPr dirty="0"/>
              <a:t> This is how one topic feeds many independent applications at 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2413513"/>
            <a:ext cx="9137650" cy="10750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Replication — Surviving Broker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Each partition is</a:t>
            </a:r>
            <a:r>
              <a:rPr b="1"/>
              <a:t> replicated</a:t>
            </a:r>
            <a:r>
              <a:t> across brokers so no single failure loses data.</a:t>
            </a:r>
          </a:p>
          <a:p>
            <a:r>
              <a:rPr b="1"/>
              <a:t> Replication factor</a:t>
            </a:r>
            <a:r>
              <a:t> = number of copies (e.g. RF=3 → 3 copies on 3 brokers)</a:t>
            </a:r>
          </a:p>
          <a:p>
            <a:r>
              <a:t> One replica is the</a:t>
            </a:r>
            <a:r>
              <a:rPr b="1"/>
              <a:t> leader</a:t>
            </a:r>
            <a:r>
              <a:t> — all reads and writes go through it</a:t>
            </a:r>
          </a:p>
          <a:p>
            <a:r>
              <a:t> The others are</a:t>
            </a:r>
            <a:r>
              <a:rPr b="1"/>
              <a:t> followers</a:t>
            </a:r>
            <a:r>
              <a:t> — they copy the leader's log</a:t>
            </a:r>
          </a:p>
          <a:p>
            <a:r>
              <a:t> If the leader's broker dies, a follower is</a:t>
            </a:r>
            <a:r>
              <a:rPr b="1"/>
              <a:t> promoted</a:t>
            </a:r>
            <a:r>
              <a:t> to leader automatically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50" y="4758531"/>
            <a:ext cx="9398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ISR — In-Sync Replicas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</a:t>
            </a:r>
            <a:r>
              <a:rPr b="1"/>
              <a:t> ISR</a:t>
            </a:r>
            <a:r>
              <a:t> is the set of replicas that are</a:t>
            </a:r>
            <a:r>
              <a:rPr b="1"/>
              <a:t> caught up</a:t>
            </a:r>
            <a:r>
              <a:t> with the leader.</a:t>
            </a:r>
          </a:p>
          <a:p>
            <a:r>
              <a:t> A follower that keeps up is</a:t>
            </a:r>
            <a:r>
              <a:rPr b="1"/>
              <a:t> in-sync</a:t>
            </a:r>
            <a:r>
              <a:t> ; one that falls behind drops out of the ISR</a:t>
            </a:r>
          </a:p>
          <a:p>
            <a:r>
              <a:t> Only an in-sync replica is eligible to become leader — so no acknowledged data is lost</a:t>
            </a:r>
          </a:p>
          <a:p>
            <a:r>
              <a:t> Producers can require a write to reach a minimum number of in-sync replicas before it's considered durable (we'll tune</a:t>
            </a:r>
            <a:r>
              <a:rPr>
                <a:latin typeface="Courier New"/>
              </a:rPr>
              <a:t> acks</a:t>
            </a:r>
            <a:r>
              <a:t> and</a:t>
            </a:r>
            <a:r>
              <a:rPr>
                <a:latin typeface="Courier New"/>
              </a:rPr>
              <a:t> min.insync.replicas</a:t>
            </a:r>
            <a:r>
              <a:t> later)</a:t>
            </a:r>
          </a:p>
          <a:p>
            <a:r>
              <a:rPr b="1"/>
              <a:t> High-level takeaway for now:</a:t>
            </a:r>
            <a:r>
              <a:t> replication + ISR is</a:t>
            </a:r>
            <a:r>
              <a:rPr i="1"/>
              <a:t> why</a:t>
            </a:r>
            <a:r>
              <a:t> Kafka can lose a broker and keep running without losing your data. The knobs come in the intermediate days.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— How Long Events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is storage, not just a pipe — but not infinite storage.</a:t>
            </a:r>
            <a:r>
              <a:rPr b="1"/>
              <a:t> Retention</a:t>
            </a:r>
            <a:r>
              <a:t> decides how long events stay before deletion.</a:t>
            </a:r>
          </a:p>
          <a:p>
            <a:r>
              <a:rPr b="1"/>
              <a:t> Time-based</a:t>
            </a:r>
            <a:r>
              <a:t> — keep events for N hours/days (e.g.</a:t>
            </a:r>
            <a:r>
              <a:rPr>
                <a:latin typeface="Courier New"/>
              </a:rPr>
              <a:t> retention.ms=7 days</a:t>
            </a:r>
            <a:r>
              <a:t> )</a:t>
            </a:r>
          </a:p>
          <a:p>
            <a:r>
              <a:rPr b="1"/>
              <a:t> Size-based</a:t>
            </a:r>
            <a:r>
              <a:t> — keep up to N bytes per partition, then drop the oldest</a:t>
            </a:r>
          </a:p>
          <a:p>
            <a:r>
              <a:t> Retention is</a:t>
            </a:r>
            <a:r>
              <a:rPr b="1"/>
              <a:t> per topic</a:t>
            </a:r>
            <a:r>
              <a:t> — a short-lived clickstream and a long-lived audit log can differ</a:t>
            </a:r>
          </a:p>
          <a:p>
            <a:r>
              <a:t> Consumers can re-read anything still within retention — that's</a:t>
            </a:r>
            <a:r>
              <a:rPr b="1"/>
              <a:t> replay</a:t>
            </a:r>
          </a:p>
          <a:p>
            <a:endParaRPr b="1"/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5562967"/>
            <a:ext cx="93980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 Compaction — Keep the Latest per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second retention mode: instead of deleting by age,</a:t>
            </a:r>
            <a:r>
              <a:rPr b="1"/>
              <a:t> keep the latest value for</a:t>
            </a:r>
            <a:r>
              <a:t> .</a:t>
            </a:r>
          </a:p>
          <a:p>
            <a:r>
              <a:t> For</a:t>
            </a:r>
            <a:r>
              <a:rPr b="1"/>
              <a:t> keyed</a:t>
            </a:r>
            <a:r>
              <a:t> topics that represent</a:t>
            </a:r>
            <a:r>
              <a:rPr i="1"/>
              <a:t> current state</a:t>
            </a:r>
            <a:r>
              <a:t> — "the latest address for each user"</a:t>
            </a:r>
          </a:p>
          <a:p>
            <a:r>
              <a:t> Compaction removes</a:t>
            </a:r>
            <a:r>
              <a:rPr b="1"/>
              <a:t> superseded</a:t>
            </a:r>
            <a:r>
              <a:t> values, keeping at least the most recent per key</a:t>
            </a:r>
          </a:p>
          <a:p>
            <a:r>
              <a:t> Perfect for</a:t>
            </a:r>
            <a:r>
              <a:rPr b="1"/>
              <a:t> changelog / state</a:t>
            </a:r>
            <a:r>
              <a:t> topics; a new consumer can rebuild current state from the log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4834731"/>
            <a:ext cx="8915400" cy="783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</a:t>
            </a:r>
            <a:r>
              <a:rPr b="1"/>
              <a:t> topic</a:t>
            </a:r>
            <a:r>
              <a:t> is an append-only</a:t>
            </a:r>
            <a:r>
              <a:rPr b="1"/>
              <a:t> log</a:t>
            </a:r>
            <a:r>
              <a:t> , split into</a:t>
            </a:r>
            <a:r>
              <a:rPr b="1"/>
              <a:t> partitions</a:t>
            </a:r>
            <a:r>
              <a:t> for scale</a:t>
            </a:r>
          </a:p>
          <a:p>
            <a:r>
              <a:t> Every event has an</a:t>
            </a:r>
            <a:r>
              <a:rPr b="1"/>
              <a:t> offset</a:t>
            </a:r>
            <a:r>
              <a:t> ; a message key decides its</a:t>
            </a:r>
            <a:r>
              <a:rPr b="1"/>
              <a:t> partition</a:t>
            </a:r>
            <a:r>
              <a:t> and preserves per-key order</a:t>
            </a:r>
          </a:p>
          <a:p>
            <a:r>
              <a:rPr b="1"/>
              <a:t> Producers</a:t>
            </a:r>
            <a:r>
              <a:t> append,</a:t>
            </a:r>
            <a:r>
              <a:rPr b="1"/>
              <a:t> consumers</a:t>
            </a:r>
            <a:r>
              <a:t> read,</a:t>
            </a:r>
            <a:r>
              <a:rPr b="1"/>
              <a:t> brokers</a:t>
            </a:r>
            <a:r>
              <a:t> store — a</a:t>
            </a:r>
            <a:r>
              <a:rPr b="1"/>
              <a:t> consumer group</a:t>
            </a:r>
            <a:r>
              <a:t> shares the work</a:t>
            </a:r>
          </a:p>
          <a:p>
            <a:r>
              <a:rPr b="1"/>
              <a:t> Partition count</a:t>
            </a:r>
            <a:r>
              <a:t> sets the parallelism ceiling;</a:t>
            </a:r>
            <a:r>
              <a:rPr b="1"/>
              <a:t> different groups</a:t>
            </a:r>
            <a:r>
              <a:t> each read the whole topic</a:t>
            </a:r>
          </a:p>
          <a:p>
            <a:r>
              <a:rPr b="1"/>
              <a:t> Replication + ISR</a:t>
            </a:r>
            <a:r>
              <a:t> keep data safe across broker failures</a:t>
            </a:r>
          </a:p>
          <a:p>
            <a:r>
              <a:rPr b="1"/>
              <a:t> Retention</a:t>
            </a:r>
            <a:r>
              <a:t> and</a:t>
            </a:r>
            <a:r>
              <a:rPr b="1"/>
              <a:t> compaction</a:t>
            </a:r>
            <a:r>
              <a:t> decide how long — or in what form — events live</a:t>
            </a:r>
          </a:p>
          <a:p>
            <a:r>
              <a:t> Next module: how these pieces are arranged into a</a:t>
            </a:r>
            <a:r>
              <a:rPr b="1"/>
              <a:t> Kafka 4 cluster</a:t>
            </a:r>
            <a:r>
              <a:t> , and how</a:t>
            </a:r>
            <a:r>
              <a:rPr b="1"/>
              <a:t> KRaft</a:t>
            </a:r>
            <a:r>
              <a:t> replaced ZooKeeper.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topic = log</a:t>
            </a:r>
            <a:r>
              <a:t> ,</a:t>
            </a:r>
            <a:r>
              <a:rPr b="1"/>
              <a:t> partition = ordered shard</a:t>
            </a:r>
            <a:r>
              <a:t> ,</a:t>
            </a:r>
            <a:r>
              <a:rPr b="1"/>
              <a:t> offset = position</a:t>
            </a:r>
          </a:p>
          <a:p>
            <a:r>
              <a:rPr b="1"/>
              <a:t> key → partition</a:t>
            </a:r>
            <a:r>
              <a:t> , and ordering holds</a:t>
            </a:r>
            <a:r>
              <a:rPr b="1"/>
              <a:t> within a partition</a:t>
            </a:r>
          </a:p>
          <a:p>
            <a:r>
              <a:rPr b="1"/>
              <a:t> consumer group</a:t>
            </a:r>
            <a:r>
              <a:t> scales reads;</a:t>
            </a:r>
            <a:r>
              <a:rPr b="1"/>
              <a:t> partitions cap</a:t>
            </a:r>
            <a:r>
              <a:t> the parallelism</a:t>
            </a:r>
          </a:p>
          <a:p>
            <a:r>
              <a:rPr b="1"/>
              <a:t> replication + ISR</a:t>
            </a:r>
            <a:r>
              <a:t> provide fault tolerance</a:t>
            </a:r>
          </a:p>
          <a:p>
            <a:r>
              <a:rPr b="1"/>
              <a:t> retention</a:t>
            </a:r>
            <a:r>
              <a:t> (time/size) and</a:t>
            </a:r>
            <a:r>
              <a:rPr b="1"/>
              <a:t> compaction</a:t>
            </a:r>
            <a:r>
              <a:t> (latest-per-key) govern the log's lifetime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378300</TotalTime>
  <Words>1743</Words>
  <Application>Microsoft Macintosh PowerPoint</Application>
  <PresentationFormat>Custom</PresentationFormat>
  <Paragraphs>171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Intro 2 — Core Concepts</vt:lpstr>
      <vt:lpstr>Agenda</vt:lpstr>
      <vt:lpstr>The One Idea: A Topic Is a Log</vt:lpstr>
      <vt:lpstr>Partitions — Splitting the Log for Scale</vt:lpstr>
      <vt:lpstr>Offsets — A Message's Address</vt:lpstr>
      <vt:lpstr>Keys and Partitioning</vt:lpstr>
      <vt:lpstr>Producers, Consumers, Brokers</vt:lpstr>
      <vt:lpstr>If Kafka Were Named Today</vt:lpstr>
      <vt:lpstr>Consumer Groups — Scaling Consumption</vt:lpstr>
      <vt:lpstr>Parallelism: Partitions Are the Unit</vt:lpstr>
      <vt:lpstr>Same Data, Many Consumers: Different Groups</vt:lpstr>
      <vt:lpstr>Replication — Surviving Broker Failure</vt:lpstr>
      <vt:lpstr>ISR — In-Sync Replicas</vt:lpstr>
      <vt:lpstr>Retention — How Long Events Live</vt:lpstr>
      <vt:lpstr>Log Compaction — Keep the Latest per Key</vt:lpstr>
      <vt:lpstr>Putting It Together</vt:lpstr>
      <vt:lpstr>Summary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4137</cp:revision>
  <cp:lastPrinted>2010-01-03T02:41:41Z</cp:lastPrinted>
  <dcterms:created xsi:type="dcterms:W3CDTF">2010-07-13T15:22:01Z</dcterms:created>
  <dcterms:modified xsi:type="dcterms:W3CDTF">2026-08-03T04:28:52Z</dcterms:modified>
</cp:coreProperties>
</file>