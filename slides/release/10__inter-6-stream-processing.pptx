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module is where SSA's "real-time reporting/analytics" and "did that person call?"</a:t>
            </a:r>
            <a:r>
              <a:t> correlation actually get built. Frame it as the payoff of the whole course.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Tie back to Intro 2 log compaction — a KTable is the programmatic face of a compacted</a:t>
            </a:r>
            <a:r>
              <a:t> "latest-per-key" topic.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Windowing is the heart of real-time reporting. SSA's "claims per hour/region" is a</a:t>
            </a:r>
            <a:r>
              <a:t> tumbling-window count.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slide is the SSA correlation use case. A bare consumer can't do this cheaply; a</a:t>
            </a:r>
            <a:r>
              <a:t> stream processor's windowed join is built for it.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is Lab 07's spine — source table, filter, windowed count, and INSERT INTO a sink,</a:t>
            </a:r>
            <a:r>
              <a:t> all in SQL. It maps 1:1 to their real-time reporting goal.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Intermediate 6 — Stream Processing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Streams:</a:t>
            </a:r>
            <a:r>
              <a:rPr>
                <a:latin typeface="Courier New"/>
              </a:rPr>
              <a:t> KStream</a:t>
            </a:r>
            <a:r>
              <a:t> /</a:t>
            </a:r>
            <a:r>
              <a:rPr>
                <a:latin typeface="Courier New"/>
              </a:rPr>
              <a:t> KTable</a:t>
            </a:r>
            <a:r>
              <a:t> , stateless vs. stateful operations</a:t>
            </a:r>
          </a:p>
          <a:p>
            <a:r>
              <a:t> Joins, aggregations, windowing, and state stores</a:t>
            </a:r>
          </a:p>
          <a:p>
            <a:r>
              <a:t> Exactly-once processing in Streams</a:t>
            </a:r>
          </a:p>
          <a:p>
            <a:r>
              <a:t> Flink SQL — declarative continuous queries (the modern successor to ksqlDB)</a:t>
            </a:r>
          </a:p>
          <a:p>
            <a:r>
              <a:t> Hands-on: build a stateful streaming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Produce/Consume: Processing In Flight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 far: producers write, consumers read, Connect moves data.</a:t>
            </a:r>
            <a:r>
              <a:rPr b="1"/>
              <a:t> Stream processing</a:t>
            </a:r>
            <a:r>
              <a:t> transforms</a:t>
            </a:r>
            <a:r>
              <a:t> the data</a:t>
            </a:r>
            <a:r>
              <a:rPr b="1"/>
              <a:t> as it flows</a:t>
            </a:r>
            <a:r>
              <a:t> — filter, enrich, aggregate, join — continuously.</a:t>
            </a:r>
          </a:p>
          <a:p/>
          <a:p>
            <a:r>
              <a:t> A consumer that just filters is fine — but joins, windowed aggregations, and stateful counts</a:t>
            </a:r>
            <a:r>
              <a:t> are hard to hand-roll correctly (state, fault tolerance, exactly-once)</a:t>
            </a:r>
          </a:p>
          <a:p>
            <a:r>
              <a:t> Stream processors give you those as</a:t>
            </a:r>
            <a:r>
              <a:rPr b="1"/>
              <a:t> operators</a:t>
            </a:r>
            <a:r>
              <a:t> , with state and recovery handled for you</a:t>
            </a:r>
          </a:p>
          <a:p>
            <a:r>
              <a:t> This is exactly what real-time</a:t>
            </a:r>
            <a:r>
              <a:rPr b="1"/>
              <a:t> reporting and analytics</a:t>
            </a:r>
            <a:r>
              <a:t> need — compute metrics as events</a:t>
            </a:r>
            <a:r>
              <a:t> arrive, not in a nightly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07696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Tools, One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We'll look at two ways to process Kafka streams:</a:t>
            </a:r>
          </a:p>
          <a:p>
            <a:r>
              <a:rPr b="1"/>
              <a:t> Kafka Streams</a:t>
            </a:r>
            <a:r>
              <a:t> — a</a:t>
            </a:r>
            <a:r>
              <a:rPr b="1"/>
              <a:t> Java library</a:t>
            </a:r>
            <a:r>
              <a:t> you embed in your application. No separate cluster; your</a:t>
            </a:r>
            <a:r>
              <a:t> app</a:t>
            </a:r>
            <a:r>
              <a:rPr i="1"/>
              <a:t> is</a:t>
            </a:r>
            <a:r>
              <a:t> the processor. Great when the logic lives inside a Java service.</a:t>
            </a:r>
          </a:p>
          <a:p>
            <a:r>
              <a:rPr b="1"/>
              <a:t> Flink SQL</a:t>
            </a:r>
            <a:r>
              <a:t> — a powerful stream processor where you write</a:t>
            </a:r>
            <a:r>
              <a:rPr b="1"/>
              <a:t> SQL</a:t>
            </a:r>
            <a:r>
              <a:t> . Declarative, language-</a:t>
            </a:r>
            <a:r>
              <a:t> neutral, runs on a Flink cluster. The modern successor to KSQL/ksqlDB.</a:t>
            </a:r>
          </a:p>
          <a:p/>
          <a:p/>
          <a:p/>
          <a:p/>
          <a:p/>
          <a:p>
            <a:r>
              <a:t> Both read Kafka, process continuously, and write results back to Kafka.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3547872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Kafka Streams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Flink SQL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Java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 on a Flink cluster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inside your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submit to Flink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logic embedded in a Java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analysts/engineers writing declarative queries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Streams: KStream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</a:p>
          <a:p>
            <a:r>
              <a:rPr i="1" b="1"/>
              <a:t> KStream</a:t>
            </a:r>
            <a:r>
              <a:t> models an unbounded</a:t>
            </a:r>
            <a:r>
              <a:rPr b="1"/>
              <a:t> stream of events</a:t>
            </a:r>
            <a:r>
              <a:t> — every record is an independent fact.</a:t>
            </a:r>
          </a:p>
          <a:p/>
          <a:p/>
          <a:p/>
          <a:p>
            <a:r>
              <a:t> Each record flows through the topology independently</a:t>
            </a:r>
          </a:p>
          <a:p>
            <a:r>
              <a:rPr b="1"/>
              <a:t> Stateless</a:t>
            </a:r>
            <a:r>
              <a:t> operations —</a:t>
            </a:r>
            <a:r>
              <a:rPr>
                <a:latin typeface="Courier New"/>
              </a:rPr>
              <a:t> filter</a:t>
            </a:r>
            <a:r>
              <a:t> ,</a:t>
            </a:r>
            <a:r>
              <a:rPr>
                <a:latin typeface="Courier New"/>
              </a:rPr>
              <a:t> map</a:t>
            </a:r>
            <a:r>
              <a:t> ,</a:t>
            </a:r>
            <a:r>
              <a:rPr>
                <a:latin typeface="Courier New"/>
              </a:rPr>
              <a:t> mapValues</a:t>
            </a:r>
            <a:r>
              <a:t> ,</a:t>
            </a:r>
            <a:r>
              <a:rPr>
                <a:latin typeface="Courier New"/>
              </a:rPr>
              <a:t> flatMap</a:t>
            </a:r>
            <a:r>
              <a:t> ,</a:t>
            </a:r>
            <a:r>
              <a:rPr>
                <a:latin typeface="Courier New"/>
              </a:rPr>
              <a:t> branch</a:t>
            </a:r>
            <a:r>
              <a:t> — need no memory</a:t>
            </a:r>
            <a:r>
              <a:t> of past records</a:t>
            </a:r>
          </a:p>
          <a:p>
            <a:r>
              <a:t> This is the easy half: record in, record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2268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KStream vs. KTable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key distinction in Kafka Streams:</a:t>
            </a:r>
          </a:p>
          <a:p>
            <a:r>
              <a:rPr i="1" b="1"/>
              <a:t> KStream</a:t>
            </a:r>
          </a:p>
          <a:p>
            <a:r>
              <a:t> = a stream of</a:t>
            </a:r>
            <a:r>
              <a:rPr b="1"/>
              <a:t> events</a:t>
            </a:r>
            <a:r>
              <a:t> (append) — "order 5 was placed", "order 5 was placed</a:t>
            </a:r>
            <a:r>
              <a:t> again" are two facts</a:t>
            </a:r>
          </a:p>
          <a:p>
            <a:r>
              <a:rPr i="1" b="1"/>
              <a:t> KTable</a:t>
            </a:r>
          </a:p>
          <a:p>
            <a:r>
              <a:t> = a</a:t>
            </a:r>
            <a:r>
              <a:rPr b="1"/>
              <a:t> changelog</a:t>
            </a:r>
            <a:r>
              <a:t> of</a:t>
            </a:r>
            <a:r>
              <a:rPr b="1"/>
              <a:t> state</a:t>
            </a:r>
            <a:r>
              <a:t> (upsert by key) — "the latest status of order 5" —</a:t>
            </a:r>
            <a:r>
              <a:t> a new record for a key</a:t>
            </a:r>
            <a:r>
              <a:rPr b="1"/>
              <a:t> replaces</a:t>
            </a:r>
            <a:r>
              <a:t> the old</a:t>
            </a:r>
          </a:p>
          <a:p/>
          <a:p/>
          <a:p>
            <a:r>
              <a:t> Use a</a:t>
            </a:r>
            <a:r>
              <a:rPr b="1"/>
              <a:t> KStream</a:t>
            </a:r>
            <a:r>
              <a:t> for events/facts; a</a:t>
            </a:r>
            <a:r>
              <a:rPr b="1"/>
              <a:t> KTable</a:t>
            </a:r>
            <a:r>
              <a:t> for current state / lookups</a:t>
            </a:r>
          </a:p>
          <a:p>
            <a:r>
              <a:t> A compacted topic + a KTable = "materialized current state," rebuildable from the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8915400" cy="665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Stateful Operations: Aggregations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Aggregations</a:t>
            </a:r>
            <a:r>
              <a:rPr b="1"/>
              <a:t> remember</a:t>
            </a:r>
            <a:r>
              <a:t> — counts, sums, running metrics per key. That memory is</a:t>
            </a:r>
            <a:r>
              <a:rPr b="1"/>
              <a:t> state</a:t>
            </a:r>
            <a:r>
              <a:t> .</a:t>
            </a:r>
          </a:p>
          <a:p/>
          <a:p/>
          <a:p/>
          <a:p>
            <a:r>
              <a:rPr>
                <a:latin typeface="Courier New"/>
              </a:rPr>
              <a:t> count</a:t>
            </a:r>
            <a:r>
              <a:t> ,</a:t>
            </a:r>
            <a:r>
              <a:rPr>
                <a:latin typeface="Courier New"/>
              </a:rPr>
              <a:t> reduce</a:t>
            </a:r>
            <a:r>
              <a:t> ,</a:t>
            </a:r>
            <a:r>
              <a:rPr>
                <a:latin typeface="Courier New"/>
              </a:rPr>
              <a:t> aggregate</a:t>
            </a:r>
            <a:r>
              <a:t> maintain a running result</a:t>
            </a:r>
            <a:r>
              <a:rPr b="1"/>
              <a:t> per key</a:t>
            </a:r>
          </a:p>
          <a:p>
            <a:r>
              <a:t> The result is a</a:t>
            </a:r>
            <a:r>
              <a:rPr b="1"/>
              <a:t> KTable</a:t>
            </a:r>
            <a:r>
              <a:t> (the current aggregate), backed by a</a:t>
            </a:r>
            <a:r>
              <a:rPr b="1"/>
              <a:t> state store</a:t>
            </a:r>
          </a:p>
          <a:p>
            <a:r>
              <a:t> "Claims per region," "orders per customer," "no-show rate per office" — all aggregations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15008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Stores and Fault 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does that state live, and what happens if the app crashes?</a:t>
            </a:r>
          </a:p>
          <a:p>
            <a:r>
              <a:t> Aggregations keep state in a local</a:t>
            </a:r>
            <a:r>
              <a:rPr b="1"/>
              <a:t> state store</a:t>
            </a:r>
            <a:r>
              <a:t> (RocksDB on disk, by default)</a:t>
            </a:r>
          </a:p>
          <a:p>
            <a:r>
              <a:t> Every update is also written to a</a:t>
            </a:r>
            <a:r>
              <a:rPr b="1"/>
              <a:t> changelog topic</a:t>
            </a:r>
            <a:r>
              <a:t> in Kafka</a:t>
            </a:r>
          </a:p>
          <a:p>
            <a:r>
              <a:t> On restart or reassignment, the state store is</a:t>
            </a:r>
            <a:r>
              <a:rPr b="1"/>
              <a:t> rebuilt from the changelog</a:t>
            </a:r>
            <a:r>
              <a:t> — no lost counts</a:t>
            </a:r>
          </a:p>
          <a:p/>
          <a:p>
            <a:r>
              <a:rPr b="1"/>
              <a:t> Takeaway:</a:t>
            </a:r>
            <a:r>
              <a:t> the stream processor gives you durable, recoverable state — the hard part you'd</a:t>
            </a:r>
            <a:r>
              <a:t> otherwise hand-build.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8915400" cy="5781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Aggregating "since the beginning of time" is rarely what you want.</a:t>
            </a:r>
            <a:r>
              <a:rPr b="1"/>
              <a:t> Windows</a:t>
            </a:r>
            <a:r>
              <a:t> bucket events by</a:t>
            </a:r>
            <a:r>
              <a:t> time — the basis of real-time metrics.</a:t>
            </a:r>
          </a:p>
          <a:p>
            <a:r>
              <a:rPr b="1"/>
              <a:t> Tumbling</a:t>
            </a:r>
            <a:r>
              <a:t> — fixed, non-overlapping (e.g. count per 1-minute bucket)</a:t>
            </a:r>
          </a:p>
          <a:p>
            <a:r>
              <a:rPr b="1"/>
              <a:t> Hopping</a:t>
            </a:r>
            <a:r>
              <a:t> — fixed size, overlapping (every 30s, count the last 1 min)</a:t>
            </a:r>
          </a:p>
          <a:p>
            <a:r>
              <a:rPr b="1"/>
              <a:t> Session</a:t>
            </a:r>
            <a:r>
              <a:t> — grouped by activity gaps (a user's burst of clicks)</a:t>
            </a:r>
          </a:p>
          <a:p/>
          <a:p>
            <a:r>
              <a:t> "Claims per hour," "appointments per office per 15 minutes" — windowed aggregations</a:t>
            </a:r>
          </a:p>
          <a:p>
            <a:r>
              <a:t> Windows need a notion of</a:t>
            </a:r>
            <a:r>
              <a:rPr b="1"/>
              <a:t> event time</a:t>
            </a:r>
            <a:r>
              <a:t> and handling for</a:t>
            </a:r>
            <a:r>
              <a:rPr b="1"/>
              <a:t> late</a:t>
            </a:r>
            <a:r>
              <a:t> events (watermarks)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6783"/>
            <a:ext cx="8636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Joins</a:t>
            </a:r>
            <a:r>
              <a:t> correlate two streams/tables by key — combining related events.</a:t>
            </a:r>
          </a:p>
          <a:p>
            <a:r>
              <a:rPr b="1"/>
              <a:t> Stream–Table</a:t>
            </a:r>
            <a:r>
              <a:t> — enrich each event with current state (event ⋈ lookup table)</a:t>
            </a:r>
          </a:p>
          <a:p>
            <a:r>
              <a:rPr b="1"/>
              <a:t> Stream–Stream</a:t>
            </a:r>
            <a:r>
              <a:t> — correlate two event streams</a:t>
            </a:r>
            <a:r>
              <a:rPr b="1"/>
              <a:t> within a time window</a:t>
            </a:r>
          </a:p>
          <a:p>
            <a:r>
              <a:rPr b="1"/>
              <a:t> Table–Table</a:t>
            </a:r>
            <a:r>
              <a:t> — keep a joined materialized view up to date</a:t>
            </a:r>
          </a:p>
          <a:p/>
          <a:p>
            <a:r>
              <a:t> Stream–stream joins are</a:t>
            </a:r>
            <a:r>
              <a:rPr b="1"/>
              <a:t> windowed</a:t>
            </a:r>
            <a:r>
              <a:t> (you can't wait forever for a match)</a:t>
            </a:r>
          </a:p>
          <a:p>
            <a:r>
              <a:t> This is exactly the "did that person call?" correlation — join the claim and contact streams</a:t>
            </a:r>
            <a:r>
              <a:t> by person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10922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Exactly-Once in Kafka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Everything from Module 7 (transactions) is available in Streams — with</a:t>
            </a:r>
            <a:r>
              <a:rPr b="1"/>
              <a:t> one config line</a:t>
            </a:r>
            <a:r>
              <a:t> .</a:t>
            </a:r>
          </a:p>
          <a:p/>
          <a:p>
            <a:r>
              <a:t> Streams uses transactions under the hood: input offsets, state-store changelog, and output</a:t>
            </a:r>
            <a:r>
              <a:t> records all commit</a:t>
            </a:r>
            <a:r>
              <a:rPr b="1"/>
              <a:t> atomically</a:t>
            </a:r>
          </a:p>
          <a:p>
            <a:r>
              <a:t> A crash mid-processing leaves</a:t>
            </a:r>
            <a:r>
              <a:rPr b="1"/>
              <a:t> no</a:t>
            </a:r>
            <a:r>
              <a:t> partial output and</a:t>
            </a:r>
            <a:r>
              <a:rPr b="1"/>
              <a:t> no</a:t>
            </a:r>
            <a:r>
              <a:t> double-counting</a:t>
            </a:r>
          </a:p>
          <a:p>
            <a:r>
              <a:t> You get exactly-once</a:t>
            </a:r>
            <a:r>
              <a:rPr b="1"/>
              <a:t> stateful</a:t>
            </a:r>
            <a:r>
              <a:t> processing without writing the transaction code yourself</a:t>
            </a:r>
          </a:p>
          <a:p>
            <a:r>
              <a:rPr b="1"/>
              <a:t> This is the big win:</a:t>
            </a:r>
            <a:r>
              <a:t> the hardest correctness problem in streaming, reduced to a setting.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3435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Flink SQL: Streams as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Flink treats a Kafka topic as a</a:t>
            </a:r>
            <a:r>
              <a:rPr b="1"/>
              <a:t> table</a:t>
            </a:r>
            <a:r>
              <a:t> you query with SQL — but the query runs</a:t>
            </a:r>
            <a:r>
              <a:rPr b="1"/>
              <a:t> forever</a:t>
            </a:r>
            <a:r>
              <a:t> ,</a:t>
            </a:r>
            <a:r>
              <a:t> emitting results as new data arrives.</a:t>
            </a:r>
          </a:p>
          <a:p/>
          <a:p/>
          <a:p/>
          <a:p/>
          <a:p/>
          <a:p>
            <a:r>
              <a:t> No Java to compile — analysts and engineers write</a:t>
            </a:r>
            <a:r>
              <a:rPr b="1"/>
              <a:t> SQL</a:t>
            </a:r>
          </a:p>
          <a:p>
            <a:r>
              <a:t> The same concepts (filter, aggregate, window, join) as declarative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1600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Flink SQL: Windows and Sinks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Real-time analytics in a few lines of SQL.</a:t>
            </a:r>
          </a:p>
          <a:p/>
          <a:p/>
          <a:p/>
          <a:p>
            <a:r>
              <a:rPr>
                <a:latin typeface="Courier New"/>
              </a:rPr>
              <a:t> INSERT INTO</a:t>
            </a:r>
            <a:r>
              <a:t> a Kafka-backed table = a running pipeline that keeps the sink topic current</a:t>
            </a:r>
          </a:p>
          <a:p>
            <a:r>
              <a:t> This is how a dashboard stays live — Flink writes the aggregate topic, the dashboard reads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17085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Choosing: Streams or Flink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Both are right in different places.</a:t>
            </a:r>
          </a:p>
          <a:p>
            <a:r>
              <a:rPr b="1"/>
              <a:t> Kafka Streams</a:t>
            </a:r>
            <a:r>
              <a:t> when the processing logic belongs</a:t>
            </a:r>
            <a:r>
              <a:rPr b="1"/>
              <a:t> inside a Java service</a:t>
            </a:r>
            <a:r>
              <a:t> you already run —</a:t>
            </a:r>
            <a:r>
              <a:t> no extra cluster, tight integration with app code</a:t>
            </a:r>
          </a:p>
          <a:p>
            <a:r>
              <a:rPr b="1"/>
              <a:t> Flink SQL</a:t>
            </a:r>
            <a:r>
              <a:t> when you want</a:t>
            </a:r>
            <a:r>
              <a:rPr b="1"/>
              <a:t> declarative</a:t>
            </a:r>
            <a:r>
              <a:t> analytics, a shared query language for a team, or a</a:t>
            </a:r>
            <a:r>
              <a:t> dedicated processing platform separate from the apps</a:t>
            </a:r>
          </a:p>
          <a:p>
            <a:r>
              <a:t> They coexist: services embed Streams for operational logic; Flink SQL powers analytics/reporting</a:t>
            </a:r>
          </a:p>
          <a:p>
            <a:r>
              <a:rPr b="1"/>
              <a:t> For real-time reporting and analytics, Flink SQL is often the faster path</a:t>
            </a:r>
            <a:r>
              <a:t> — which is why the</a:t>
            </a:r>
            <a:r>
              <a:t> lab uses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Stream processing transforms data</a:t>
            </a:r>
            <a:r>
              <a:rPr b="1"/>
              <a:t> in flight</a:t>
            </a:r>
            <a:r>
              <a:t> — filter, enrich, aggregate, join — continuously</a:t>
            </a:r>
          </a:p>
          <a:p>
            <a:r>
              <a:rPr b="1"/>
              <a:t> Kafka Streams</a:t>
            </a:r>
            <a:r>
              <a:t> (Java library):</a:t>
            </a:r>
            <a:r>
              <a:rPr>
                <a:latin typeface="Courier New"/>
              </a:rPr>
              <a:t> KStream</a:t>
            </a:r>
            <a:r>
              <a:t> (events) vs</a:t>
            </a:r>
            <a:r>
              <a:rPr>
                <a:latin typeface="Courier New"/>
              </a:rPr>
              <a:t> KTable</a:t>
            </a:r>
            <a:r>
              <a:t> (state); stateless ops vs</a:t>
            </a:r>
            <a:r>
              <a:rPr b="1"/>
              <a:t> stateful</a:t>
            </a:r>
            <a:r>
              <a:t> aggregations backed by fault-tolerant</a:t>
            </a:r>
            <a:r>
              <a:rPr b="1"/>
              <a:t> state stores</a:t>
            </a:r>
          </a:p>
          <a:p>
            <a:r>
              <a:rPr b="1"/>
              <a:t> Windows</a:t>
            </a:r>
            <a:r>
              <a:t> (tumbling/hopping/session) make real-time metrics;</a:t>
            </a:r>
            <a:r>
              <a:rPr b="1"/>
              <a:t> joins</a:t>
            </a:r>
            <a:r>
              <a:t> correlate streams</a:t>
            </a:r>
            <a:r>
              <a:t> (the "did they call?" case)</a:t>
            </a:r>
          </a:p>
          <a:p>
            <a:r>
              <a:rPr b="1"/>
              <a:t> Exactly-once</a:t>
            </a:r>
            <a:r>
              <a:t> stateful processing is one config line in Streams (</a:t>
            </a:r>
            <a:r>
              <a:rPr>
                <a:latin typeface="Courier New"/>
              </a:rPr>
              <a:t> EXACTLY_ONCE_V2</a:t>
            </a:r>
            <a:r>
              <a:t> )</a:t>
            </a:r>
          </a:p>
          <a:p>
            <a:r>
              <a:rPr b="1"/>
              <a:t> Flink SQL</a:t>
            </a:r>
            <a:r>
              <a:t> expresses the same ideas as</a:t>
            </a:r>
            <a:r>
              <a:rPr b="1"/>
              <a:t> continuous SQL</a:t>
            </a:r>
            <a:r>
              <a:t> — source tables, windows, and</a:t>
            </a:r>
            <a:r>
              <a:rPr>
                <a:latin typeface="Courier New"/>
              </a:rPr>
              <a:t> INSERT INTO</a:t>
            </a:r>
            <a:r>
              <a:t> sinks — the modern successor to ksqlDB and a fast path to real-time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